
<file path=[Content_Types].xml><?xml version="1.0" encoding="utf-8"?>
<Types xmlns="http://schemas.openxmlformats.org/package/2006/content-types">
  <Default Extension="emf" ContentType="image/x-emf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6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1084" r:id="rId3"/>
    <p:sldId id="1100" r:id="rId4"/>
    <p:sldId id="1101" r:id="rId5"/>
    <p:sldId id="1102" r:id="rId6"/>
    <p:sldId id="1099" r:id="rId7"/>
    <p:sldId id="930" r:id="rId8"/>
    <p:sldId id="1098" r:id="rId9"/>
    <p:sldId id="1103" r:id="rId10"/>
    <p:sldId id="1096" r:id="rId11"/>
    <p:sldId id="109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D050"/>
    <a:srgbClr val="FFFFFF"/>
    <a:srgbClr val="F15D4F"/>
    <a:srgbClr val="E25858"/>
    <a:srgbClr val="DE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947" autoAdjust="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customXml" Target="../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customXml" Target="../customXml/item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AAE2E-24C8-4902-9178-C2563D018DFB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8DCD1-54E7-4370-9DF7-A68A71593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812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an outdoor family, the places we love most are out in the woods and on the lake.</a:t>
            </a:r>
          </a:p>
          <a:p>
            <a:endParaRPr lang="en-US" dirty="0"/>
          </a:p>
          <a:p>
            <a:r>
              <a:rPr lang="en-US" dirty="0"/>
              <a:t>We live a very energy intensive lifestyle.</a:t>
            </a:r>
          </a:p>
          <a:p>
            <a:endParaRPr lang="en-US" dirty="0"/>
          </a:p>
          <a:p>
            <a:r>
              <a:rPr lang="en-US" dirty="0"/>
              <a:t>My greatest wish is that my kids and grandkids will be able to enjoy the same things I love and live in a similar level of comfort and security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53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is a precious resource- the prosperity of any society is directly correlated to how much energy they use </a:t>
            </a:r>
          </a:p>
          <a:p>
            <a:endParaRPr lang="en-US" dirty="0"/>
          </a:p>
          <a:p>
            <a:r>
              <a:rPr lang="en-US" dirty="0"/>
              <a:t>The conundrum is how to accommodate big energy use without having big environmental impacts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463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073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5607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41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BCEB5-8625-66A1-82DC-BE3A9F8A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218501-FFAA-E739-A123-7B92C943E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D21CF-DFBD-2656-697A-C655C66D4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C500A-148E-3294-4B81-F6414255A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527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66079-27E0-8C70-B440-5C46EE8F2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B7C85E-5ECD-904B-11F5-6300D18755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A3BCEF-B38D-E488-3531-B5CDD4080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87% in this case for a network in Canada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497DF-00E0-1A0C-9C91-9009C5219E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986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2F59-6533-ABF9-3888-F78CDC25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71664-F8AB-0591-A9B7-99611D9C1A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80178-0548-7376-46BB-577C871A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237CF-0D97-89C9-F0EB-34CFBCBEC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9052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5005-FF34-7D14-A9D1-19AE9FA05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BAE7-94EC-AAB1-8708-464C37930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5EF8F-5DBA-2644-196D-DA4336483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343F3-0206-ADC9-8783-FF86DCDD2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3959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642BF-9B5D-D058-E10E-7505518D5A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4A542B-6843-F0BD-DE21-8C441CC1BB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4D57A-58CE-0F0B-F0D4-54FC97351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F9FD7F-3445-499E-27CD-B64A01556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68F3D6-C26F-B2C5-D575-2969F403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175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6E8CC-7B39-5F09-D267-E1B7EFD6B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A7820-67C7-0318-1C50-504758A35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71A81-B389-EFCE-796C-DC948E1A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5D6A7-0D85-994C-7540-3A1992493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6EF3F-FE2B-B785-6043-95991DE5F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27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9F3EA-9923-A60A-D099-11E2DA407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1953F-A3A0-B008-745F-23ADA51569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7A1F4-7930-20B2-8ECD-7C78B21E9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43B50-2300-6286-8942-229B60BED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45B94-BDF6-A803-73BB-8DDADBBF4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855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948E-2D07-57E9-D1DA-9314C59F8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DD942-BA14-1AD6-B678-0073A4B7C6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4F9174-24D2-109A-35F9-287CED076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2E1D45-411B-CBAA-EB88-BE26D293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3E88AE-5D9D-D754-771F-51CAF725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241EA9-FD1D-F028-9176-88E2403DF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21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671EA-4CD8-1C76-465F-E0C4E549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79535-C9E1-3D10-E13B-F20A2A160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166485-AB3C-F072-6A9C-2B95BABF1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000FEC-DC1B-F1E6-98CA-A7D748BBE7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A5A414-BA8A-9B27-9D8F-FA8E3ACBB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F091C6-2792-3581-3CF9-CEFD5A51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AD4DCD-5E3F-837E-3ED1-727CD90BA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6491B4-1101-F4D4-DA71-77664BE5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019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0F01F-8EF0-3730-607B-11F8A0624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375FF-DF01-89F5-7E7F-6AB24A4E6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C6EB50-D613-552C-B94F-99EF319CB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65684E-EFF3-F70F-21DB-481C726B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656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924E4E-A248-B3B1-9282-C541B246C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38593A-D770-7641-F9ED-3FECC6FF4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EB8E5-59A7-E1DC-3506-C3E050E50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96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9CBDE-6A99-6B55-C98D-57DB49546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358FC-60FE-666A-8536-FDF17DB6A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6E7B-8A40-ABF3-E2BC-2205549AD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9D57D-5B83-CA86-072F-3F1F6BA3D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8C18A2-2487-8A38-0665-AF5CD8497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0E602-2BAF-FFED-07FE-8B1E60039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78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DD18B-ECE7-08AD-908A-122D7A3C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CE1243-6EFA-C72B-194F-5AEB8D05B4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E82AD-E575-6B80-CA5F-3085A5024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E8E86-58D2-A09E-1B24-5853217E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69C094-734A-66D1-9EDB-C2E0768FD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D898EB-5CD6-F897-6156-C8C99D787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951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7693E-A13E-9DF7-3D6A-9AE89D7B6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0C3EE-C94C-26AE-8C07-B4D050D9F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A9F681-EA03-FB3C-5C5E-DA514F7B6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7B3A5-072F-A40C-905B-B11380625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A671F-1D02-80BA-A2C2-6DCA670D3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920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DC6A7E-12F0-1E5F-36D2-226583BCEF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63DE5-A955-2E19-E4F1-CD8A49D6DA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46B88-DEBA-5A29-C45D-609A5B525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D0189-7355-D3BE-ED12-DA70AED36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AE19B-7330-C966-08BF-942207E14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75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9D930C-74BD-0811-B140-D87ED4DD6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40CC7-D6B1-E6C7-7F3A-BEBEAE47D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D3F60-B80C-28F6-5018-D249A078E9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CBC49B-6271-4DD8-BE09-F0232EA66663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07D29-1357-3289-D359-6EE39DBFDA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85A6F-DAE8-0AB1-7BE5-3D1B55BB2A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55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jf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8D935-7C67-149C-B299-5B2B39AEB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2869" y="2807561"/>
            <a:ext cx="11346262" cy="898839"/>
          </a:xfrm>
        </p:spPr>
        <p:txBody>
          <a:bodyPr>
            <a:no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Eras Bold ITC" panose="020B0907030504020204" pitchFamily="34" charset="0"/>
              </a:rPr>
              <a:t>Thermal Energy Networks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08FCE8-AD72-4657-0430-D7A6796184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2" t="9065" r="4549" b="34385"/>
          <a:stretch/>
        </p:blipFill>
        <p:spPr>
          <a:xfrm>
            <a:off x="3956779" y="1106420"/>
            <a:ext cx="4278441" cy="1528505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CEF9993E-AB48-AADF-E734-CBD8C77E7444}"/>
              </a:ext>
            </a:extLst>
          </p:cNvPr>
          <p:cNvSpPr txBox="1">
            <a:spLocks/>
          </p:cNvSpPr>
          <p:nvPr/>
        </p:nvSpPr>
        <p:spPr>
          <a:xfrm>
            <a:off x="422869" y="5485447"/>
            <a:ext cx="9144000" cy="12748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b="1" dirty="0">
                <a:latin typeface="Candara" panose="020E0502030303020204" pitchFamily="34" charset="0"/>
              </a:rPr>
              <a:t>Matt Garlick CEM, CCP, BEMP</a:t>
            </a:r>
          </a:p>
          <a:p>
            <a:pPr algn="l"/>
            <a:r>
              <a:rPr lang="en-US" sz="2000" b="1" dirty="0">
                <a:latin typeface="Candara" panose="020E0502030303020204" pitchFamily="34" charset="0"/>
              </a:rPr>
              <a:t>CEO, The GreyEdge Group</a:t>
            </a:r>
          </a:p>
          <a:p>
            <a:pPr algn="l"/>
            <a:r>
              <a:rPr lang="en-US" sz="2000" b="1" dirty="0">
                <a:latin typeface="Candara" panose="020E0502030303020204" pitchFamily="34" charset="0"/>
              </a:rPr>
              <a:t>mgarlick@greyedgegroup.com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DCC833A7-12B0-C743-A605-35AB1FB1072C}"/>
              </a:ext>
            </a:extLst>
          </p:cNvPr>
          <p:cNvSpPr txBox="1">
            <a:spLocks/>
          </p:cNvSpPr>
          <p:nvPr/>
        </p:nvSpPr>
        <p:spPr>
          <a:xfrm>
            <a:off x="1558351" y="3913640"/>
            <a:ext cx="9075295" cy="780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ndara" panose="020E0502030303020204" pitchFamily="34" charset="0"/>
              </a:rPr>
              <a:t>Friday June 6</a:t>
            </a:r>
            <a:r>
              <a:rPr lang="en-US" sz="2600" b="1" baseline="30000" dirty="0">
                <a:solidFill>
                  <a:schemeClr val="tx1">
                    <a:lumMod val="65000"/>
                    <a:lumOff val="35000"/>
                  </a:schemeClr>
                </a:solidFill>
                <a:latin typeface="Candara" panose="020E0502030303020204" pitchFamily="34" charset="0"/>
              </a:rPr>
              <a:t>th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ndara" panose="020E0502030303020204" pitchFamily="34" charset="0"/>
              </a:rPr>
              <a:t>,</a:t>
            </a:r>
            <a:r>
              <a:rPr lang="en-US" sz="2600" b="1" baseline="30000" dirty="0">
                <a:solidFill>
                  <a:schemeClr val="tx1">
                    <a:lumMod val="65000"/>
                    <a:lumOff val="35000"/>
                  </a:schemeClr>
                </a:solidFill>
                <a:latin typeface="Candara" panose="020E0502030303020204" pitchFamily="34" charset="0"/>
              </a:rPr>
              <a:t> 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ndara" panose="020E0502030303020204" pitchFamily="34" charset="0"/>
              </a:rPr>
              <a:t>2025</a:t>
            </a:r>
          </a:p>
          <a:p>
            <a:pPr algn="l"/>
            <a:endParaRPr lang="en-US" sz="2800" b="1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95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005CD49-6C50-59CD-A05A-EAB7F32B07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9" b="17165"/>
          <a:stretch>
            <a:fillRect/>
          </a:stretch>
        </p:blipFill>
        <p:spPr>
          <a:xfrm>
            <a:off x="6400730" y="912254"/>
            <a:ext cx="5604983" cy="30311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4074" y="203056"/>
            <a:ext cx="10547926" cy="102884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Start With Why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1FE1E1-0554-027C-B30E-A61A84461E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2" t="10403" r="5209" b="36801"/>
          <a:stretch/>
        </p:blipFill>
        <p:spPr>
          <a:xfrm>
            <a:off x="44441" y="6181182"/>
            <a:ext cx="1539250" cy="5189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A21F65-EFD3-4E9E-E078-4FBEC8F3FB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1" r="3460"/>
          <a:stretch>
            <a:fillRect/>
          </a:stretch>
        </p:blipFill>
        <p:spPr>
          <a:xfrm rot="5400000">
            <a:off x="1266445" y="1462255"/>
            <a:ext cx="5537971" cy="44379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7EC3859-70E8-36DC-0F98-C4E41CBC3CF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86" b="22814"/>
          <a:stretch>
            <a:fillRect/>
          </a:stretch>
        </p:blipFill>
        <p:spPr>
          <a:xfrm>
            <a:off x="6405745" y="4098239"/>
            <a:ext cx="5599968" cy="23519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747762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B8AF2-B750-0A7D-6AFD-FEB254C64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852BD3-6A26-BEA5-CA1A-1254A214F0C7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E92B0EFF-0CDF-6875-562A-3AEA97449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4074" y="203056"/>
            <a:ext cx="10547926" cy="102884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Understand the Challenge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6A7436-8E51-AA83-5BEF-23937ABF05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2" t="10403" r="5209" b="36801"/>
          <a:stretch/>
        </p:blipFill>
        <p:spPr>
          <a:xfrm>
            <a:off x="44441" y="6181182"/>
            <a:ext cx="1539250" cy="51894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507DE06-294C-F5F5-257F-4AE4D7E09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9178" y="914400"/>
            <a:ext cx="8203706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49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481772-9B8C-A70A-B999-25133E9AD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5DC7FB-7282-5B56-9D40-CE6BFA26AF3B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162C8153-E90D-4E17-7A99-5C7F285F5A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4074" y="203056"/>
            <a:ext cx="10547926" cy="102884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Thermal Energy Networks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7A42BD-C3C9-62CF-D2BB-E1E5C9F79F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24"/>
          <a:stretch/>
        </p:blipFill>
        <p:spPr>
          <a:xfrm>
            <a:off x="1952059" y="1001138"/>
            <a:ext cx="9756028" cy="52865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CD4A93B-501C-8AFF-FC0E-CD0E98633BC1}"/>
              </a:ext>
            </a:extLst>
          </p:cNvPr>
          <p:cNvSpPr/>
          <p:nvPr/>
        </p:nvSpPr>
        <p:spPr>
          <a:xfrm>
            <a:off x="8951152" y="1768372"/>
            <a:ext cx="2863272" cy="26161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447C88"/>
                </a:solidFill>
                <a:highlight>
                  <a:srgbClr val="FFFFFF"/>
                </a:highlight>
              </a:rPr>
              <a:t>Thermal Energy Networks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28B1CC-ED21-2317-71AE-3E778DDE08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2" t="10403" r="5209" b="36801"/>
          <a:stretch/>
        </p:blipFill>
        <p:spPr>
          <a:xfrm>
            <a:off x="44441" y="6181182"/>
            <a:ext cx="1539250" cy="51894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639581B-07DF-6797-BE1B-B29663A2BF6C}"/>
              </a:ext>
            </a:extLst>
          </p:cNvPr>
          <p:cNvSpPr txBox="1"/>
          <p:nvPr/>
        </p:nvSpPr>
        <p:spPr>
          <a:xfrm>
            <a:off x="6503374" y="6654944"/>
            <a:ext cx="2447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Image Credit: HEET</a:t>
            </a:r>
          </a:p>
        </p:txBody>
      </p:sp>
    </p:spTree>
    <p:extLst>
      <p:ext uri="{BB962C8B-B14F-4D97-AF65-F5344CB8AC3E}">
        <p14:creationId xmlns:p14="http://schemas.microsoft.com/office/powerpoint/2010/main" val="3044125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6B1305-9C8B-F849-C31E-BD97C13DE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48E10BF-61D8-66B2-BD97-80FA93404A0D}"/>
              </a:ext>
            </a:extLst>
          </p:cNvPr>
          <p:cNvSpPr/>
          <p:nvPr/>
        </p:nvSpPr>
        <p:spPr>
          <a:xfrm>
            <a:off x="10547927" y="0"/>
            <a:ext cx="1644073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61E9388-8632-3BE3-6AB1-905D31B223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9036" y="105142"/>
            <a:ext cx="10547926" cy="102884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Heat Pumps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17D7AC-09E6-C68E-4007-4FA05F6656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2" t="10403" r="5209" b="36801"/>
          <a:stretch/>
        </p:blipFill>
        <p:spPr>
          <a:xfrm>
            <a:off x="10652750" y="6233911"/>
            <a:ext cx="1539250" cy="5189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C1AB21-83DD-83F7-52E9-BFC0808B8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1569" y="679621"/>
            <a:ext cx="8017445" cy="58508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E6923E2-78C2-2A4F-1992-0171922A38A9}"/>
              </a:ext>
            </a:extLst>
          </p:cNvPr>
          <p:cNvSpPr txBox="1"/>
          <p:nvPr/>
        </p:nvSpPr>
        <p:spPr>
          <a:xfrm>
            <a:off x="3534033" y="6596390"/>
            <a:ext cx="53216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Image Credit: DOE Pathways to Commercial Liftoff: Geothermal Heating and Cooling</a:t>
            </a:r>
          </a:p>
        </p:txBody>
      </p:sp>
    </p:spTree>
    <p:extLst>
      <p:ext uri="{BB962C8B-B14F-4D97-AF65-F5344CB8AC3E}">
        <p14:creationId xmlns:p14="http://schemas.microsoft.com/office/powerpoint/2010/main" val="2633497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7B7093-B227-AC00-FE6C-F2E296A05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E0FB758B-F474-6249-A452-EC5C0025983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868" t="17732"/>
          <a:stretch/>
        </p:blipFill>
        <p:spPr>
          <a:xfrm>
            <a:off x="3543365" y="617061"/>
            <a:ext cx="4414386" cy="62346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6A78945-1BBA-284F-C2B2-A9FAE104BAA2}"/>
              </a:ext>
            </a:extLst>
          </p:cNvPr>
          <p:cNvSpPr/>
          <p:nvPr/>
        </p:nvSpPr>
        <p:spPr>
          <a:xfrm>
            <a:off x="10547927" y="0"/>
            <a:ext cx="1644073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CFD43EFF-7170-BDC3-BA9B-2DA0B7F85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9036" y="105142"/>
            <a:ext cx="10547926" cy="102884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Building Level Heat Trading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FCB4E4-107B-1121-93FB-354F1DCABE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2" t="10403" r="5209" b="36801"/>
          <a:stretch/>
        </p:blipFill>
        <p:spPr>
          <a:xfrm>
            <a:off x="10652750" y="6233911"/>
            <a:ext cx="1539250" cy="51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7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299505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0" y="198366"/>
            <a:ext cx="9144000" cy="125196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Ambient Temperature Loops (ATL)</a:t>
            </a:r>
          </a:p>
        </p:txBody>
      </p:sp>
      <p:pic>
        <p:nvPicPr>
          <p:cNvPr id="5" name="Picture 4" descr="A diagram of a modular heat energy management process&#10;&#10;Description automatically generated">
            <a:extLst>
              <a:ext uri="{FF2B5EF4-FFF2-40B4-BE49-F238E27FC236}">
                <a16:creationId xmlns:a16="http://schemas.microsoft.com/office/drawing/2014/main" id="{E3B798B8-5876-EFF7-76A2-6009DEEB67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451"/>
          <a:stretch/>
        </p:blipFill>
        <p:spPr>
          <a:xfrm>
            <a:off x="1861974" y="861134"/>
            <a:ext cx="10030521" cy="581430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792B07A-CCF8-CCF6-2341-33189F598864}"/>
              </a:ext>
            </a:extLst>
          </p:cNvPr>
          <p:cNvSpPr/>
          <p:nvPr/>
        </p:nvSpPr>
        <p:spPr>
          <a:xfrm>
            <a:off x="2133600" y="1287251"/>
            <a:ext cx="2491666" cy="4666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72EEBB-1AA4-F2DC-7A02-4FF4479665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72" b="28912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674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4E5C88-ABF9-CE6C-6BD2-DC8F52284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5A8473-A54B-3319-CAEB-0BE641269EBE}"/>
              </a:ext>
            </a:extLst>
          </p:cNvPr>
          <p:cNvSpPr/>
          <p:nvPr/>
        </p:nvSpPr>
        <p:spPr>
          <a:xfrm>
            <a:off x="0" y="0"/>
            <a:ext cx="301752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43F221B-A4B2-311F-D290-6CAA08D192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ATL </a:t>
            </a:r>
            <a:r>
              <a:rPr lang="en-US" sz="3600" dirty="0" err="1">
                <a:latin typeface="Eras Bold ITC" panose="020B0907030504020204" pitchFamily="34" charset="0"/>
              </a:rPr>
              <a:t>MicroGrids</a:t>
            </a:r>
            <a:endParaRPr lang="en-US" sz="3600" dirty="0">
              <a:latin typeface="Eras Bold ITC" panose="020B0907030504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025C28-E6C5-E337-13F9-DF87BC0E6D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72" b="28912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74A5B1-EE3B-592C-7EC3-D1FA4E7615C0}"/>
              </a:ext>
            </a:extLst>
          </p:cNvPr>
          <p:cNvSpPr/>
          <p:nvPr/>
        </p:nvSpPr>
        <p:spPr>
          <a:xfrm>
            <a:off x="7573992" y="5287712"/>
            <a:ext cx="1500996" cy="888801"/>
          </a:xfrm>
          <a:custGeom>
            <a:avLst/>
            <a:gdLst>
              <a:gd name="connsiteX0" fmla="*/ 776378 w 1500996"/>
              <a:gd name="connsiteY0" fmla="*/ 17533 h 888801"/>
              <a:gd name="connsiteX1" fmla="*/ 569344 w 1500996"/>
              <a:gd name="connsiteY1" fmla="*/ 198688 h 888801"/>
              <a:gd name="connsiteX2" fmla="*/ 396815 w 1500996"/>
              <a:gd name="connsiteY2" fmla="*/ 319458 h 888801"/>
              <a:gd name="connsiteX3" fmla="*/ 362310 w 1500996"/>
              <a:gd name="connsiteY3" fmla="*/ 336711 h 888801"/>
              <a:gd name="connsiteX4" fmla="*/ 319178 w 1500996"/>
              <a:gd name="connsiteY4" fmla="*/ 362590 h 888801"/>
              <a:gd name="connsiteX5" fmla="*/ 267419 w 1500996"/>
              <a:gd name="connsiteY5" fmla="*/ 379843 h 888801"/>
              <a:gd name="connsiteX6" fmla="*/ 181155 w 1500996"/>
              <a:gd name="connsiteY6" fmla="*/ 414348 h 888801"/>
              <a:gd name="connsiteX7" fmla="*/ 155276 w 1500996"/>
              <a:gd name="connsiteY7" fmla="*/ 440228 h 888801"/>
              <a:gd name="connsiteX8" fmla="*/ 77638 w 1500996"/>
              <a:gd name="connsiteY8" fmla="*/ 509239 h 888801"/>
              <a:gd name="connsiteX9" fmla="*/ 43132 w 1500996"/>
              <a:gd name="connsiteY9" fmla="*/ 569624 h 888801"/>
              <a:gd name="connsiteX10" fmla="*/ 17253 w 1500996"/>
              <a:gd name="connsiteY10" fmla="*/ 690394 h 888801"/>
              <a:gd name="connsiteX11" fmla="*/ 0 w 1500996"/>
              <a:gd name="connsiteY11" fmla="*/ 793911 h 888801"/>
              <a:gd name="connsiteX12" fmla="*/ 8627 w 1500996"/>
              <a:gd name="connsiteY12" fmla="*/ 845669 h 888801"/>
              <a:gd name="connsiteX13" fmla="*/ 241540 w 1500996"/>
              <a:gd name="connsiteY13" fmla="*/ 888801 h 888801"/>
              <a:gd name="connsiteX14" fmla="*/ 1155940 w 1500996"/>
              <a:gd name="connsiteY14" fmla="*/ 854296 h 888801"/>
              <a:gd name="connsiteX15" fmla="*/ 1319842 w 1500996"/>
              <a:gd name="connsiteY15" fmla="*/ 793911 h 888801"/>
              <a:gd name="connsiteX16" fmla="*/ 1354347 w 1500996"/>
              <a:gd name="connsiteY16" fmla="*/ 768031 h 888801"/>
              <a:gd name="connsiteX17" fmla="*/ 1397479 w 1500996"/>
              <a:gd name="connsiteY17" fmla="*/ 759405 h 888801"/>
              <a:gd name="connsiteX18" fmla="*/ 1431985 w 1500996"/>
              <a:gd name="connsiteY18" fmla="*/ 750779 h 888801"/>
              <a:gd name="connsiteX19" fmla="*/ 1483744 w 1500996"/>
              <a:gd name="connsiteY19" fmla="*/ 724899 h 888801"/>
              <a:gd name="connsiteX20" fmla="*/ 1457864 w 1500996"/>
              <a:gd name="connsiteY20" fmla="*/ 457480 h 888801"/>
              <a:gd name="connsiteX21" fmla="*/ 1423359 w 1500996"/>
              <a:gd name="connsiteY21" fmla="*/ 276326 h 888801"/>
              <a:gd name="connsiteX22" fmla="*/ 1406106 w 1500996"/>
              <a:gd name="connsiteY22" fmla="*/ 224567 h 888801"/>
              <a:gd name="connsiteX23" fmla="*/ 1345721 w 1500996"/>
              <a:gd name="connsiteY23" fmla="*/ 164182 h 888801"/>
              <a:gd name="connsiteX24" fmla="*/ 1311215 w 1500996"/>
              <a:gd name="connsiteY24" fmla="*/ 146930 h 888801"/>
              <a:gd name="connsiteX25" fmla="*/ 1199072 w 1500996"/>
              <a:gd name="connsiteY25" fmla="*/ 129677 h 888801"/>
              <a:gd name="connsiteX26" fmla="*/ 974785 w 1500996"/>
              <a:gd name="connsiteY26" fmla="*/ 121050 h 888801"/>
              <a:gd name="connsiteX27" fmla="*/ 888521 w 1500996"/>
              <a:gd name="connsiteY27" fmla="*/ 77918 h 888801"/>
              <a:gd name="connsiteX28" fmla="*/ 828136 w 1500996"/>
              <a:gd name="connsiteY28" fmla="*/ 8907 h 888801"/>
              <a:gd name="connsiteX29" fmla="*/ 776378 w 1500996"/>
              <a:gd name="connsiteY29" fmla="*/ 17533 h 8888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500996" h="888801">
                <a:moveTo>
                  <a:pt x="776378" y="17533"/>
                </a:moveTo>
                <a:cubicBezTo>
                  <a:pt x="733246" y="49163"/>
                  <a:pt x="762908" y="52047"/>
                  <a:pt x="569344" y="198688"/>
                </a:cubicBezTo>
                <a:cubicBezTo>
                  <a:pt x="489708" y="259018"/>
                  <a:pt x="473734" y="274588"/>
                  <a:pt x="396815" y="319458"/>
                </a:cubicBezTo>
                <a:cubicBezTo>
                  <a:pt x="385707" y="325937"/>
                  <a:pt x="373551" y="330466"/>
                  <a:pt x="362310" y="336711"/>
                </a:cubicBezTo>
                <a:cubicBezTo>
                  <a:pt x="347653" y="344854"/>
                  <a:pt x="334442" y="355652"/>
                  <a:pt x="319178" y="362590"/>
                </a:cubicBezTo>
                <a:cubicBezTo>
                  <a:pt x="302622" y="370115"/>
                  <a:pt x="284447" y="373457"/>
                  <a:pt x="267419" y="379843"/>
                </a:cubicBezTo>
                <a:cubicBezTo>
                  <a:pt x="238421" y="390717"/>
                  <a:pt x="181155" y="414348"/>
                  <a:pt x="181155" y="414348"/>
                </a:cubicBezTo>
                <a:cubicBezTo>
                  <a:pt x="172529" y="422975"/>
                  <a:pt x="164648" y="432418"/>
                  <a:pt x="155276" y="440228"/>
                </a:cubicBezTo>
                <a:cubicBezTo>
                  <a:pt x="116375" y="472645"/>
                  <a:pt x="119592" y="446310"/>
                  <a:pt x="77638" y="509239"/>
                </a:cubicBezTo>
                <a:cubicBezTo>
                  <a:pt x="65016" y="528171"/>
                  <a:pt x="50429" y="547733"/>
                  <a:pt x="43132" y="569624"/>
                </a:cubicBezTo>
                <a:cubicBezTo>
                  <a:pt x="26838" y="618506"/>
                  <a:pt x="25940" y="642611"/>
                  <a:pt x="17253" y="690394"/>
                </a:cubicBezTo>
                <a:cubicBezTo>
                  <a:pt x="433" y="782911"/>
                  <a:pt x="16535" y="678175"/>
                  <a:pt x="0" y="793911"/>
                </a:cubicBezTo>
                <a:cubicBezTo>
                  <a:pt x="2876" y="811164"/>
                  <a:pt x="-3741" y="833301"/>
                  <a:pt x="8627" y="845669"/>
                </a:cubicBezTo>
                <a:cubicBezTo>
                  <a:pt x="44939" y="881981"/>
                  <a:pt x="241342" y="888780"/>
                  <a:pt x="241540" y="888801"/>
                </a:cubicBezTo>
                <a:cubicBezTo>
                  <a:pt x="546340" y="877299"/>
                  <a:pt x="851610" y="874755"/>
                  <a:pt x="1155940" y="854296"/>
                </a:cubicBezTo>
                <a:cubicBezTo>
                  <a:pt x="1194567" y="851699"/>
                  <a:pt x="1278453" y="818745"/>
                  <a:pt x="1319842" y="793911"/>
                </a:cubicBezTo>
                <a:cubicBezTo>
                  <a:pt x="1332170" y="786514"/>
                  <a:pt x="1341209" y="773870"/>
                  <a:pt x="1354347" y="768031"/>
                </a:cubicBezTo>
                <a:cubicBezTo>
                  <a:pt x="1367745" y="762076"/>
                  <a:pt x="1383166" y="762585"/>
                  <a:pt x="1397479" y="759405"/>
                </a:cubicBezTo>
                <a:cubicBezTo>
                  <a:pt x="1409053" y="756833"/>
                  <a:pt x="1420483" y="753654"/>
                  <a:pt x="1431985" y="750779"/>
                </a:cubicBezTo>
                <a:cubicBezTo>
                  <a:pt x="1449238" y="742152"/>
                  <a:pt x="1472399" y="740499"/>
                  <a:pt x="1483744" y="724899"/>
                </a:cubicBezTo>
                <a:cubicBezTo>
                  <a:pt x="1532416" y="657974"/>
                  <a:pt x="1463201" y="485689"/>
                  <a:pt x="1457864" y="457480"/>
                </a:cubicBezTo>
                <a:cubicBezTo>
                  <a:pt x="1427410" y="296504"/>
                  <a:pt x="1457056" y="385841"/>
                  <a:pt x="1423359" y="276326"/>
                </a:cubicBezTo>
                <a:cubicBezTo>
                  <a:pt x="1418011" y="258944"/>
                  <a:pt x="1414815" y="240533"/>
                  <a:pt x="1406106" y="224567"/>
                </a:cubicBezTo>
                <a:cubicBezTo>
                  <a:pt x="1389592" y="194291"/>
                  <a:pt x="1373142" y="179851"/>
                  <a:pt x="1345721" y="164182"/>
                </a:cubicBezTo>
                <a:cubicBezTo>
                  <a:pt x="1334556" y="157802"/>
                  <a:pt x="1323733" y="149875"/>
                  <a:pt x="1311215" y="146930"/>
                </a:cubicBezTo>
                <a:cubicBezTo>
                  <a:pt x="1274400" y="138268"/>
                  <a:pt x="1236781" y="132578"/>
                  <a:pt x="1199072" y="129677"/>
                </a:cubicBezTo>
                <a:cubicBezTo>
                  <a:pt x="1124475" y="123939"/>
                  <a:pt x="1049547" y="123926"/>
                  <a:pt x="974785" y="121050"/>
                </a:cubicBezTo>
                <a:cubicBezTo>
                  <a:pt x="946030" y="106673"/>
                  <a:pt x="906354" y="104667"/>
                  <a:pt x="888521" y="77918"/>
                </a:cubicBezTo>
                <a:cubicBezTo>
                  <a:pt x="872912" y="54505"/>
                  <a:pt x="858944" y="19176"/>
                  <a:pt x="828136" y="8907"/>
                </a:cubicBezTo>
                <a:cubicBezTo>
                  <a:pt x="819952" y="6179"/>
                  <a:pt x="819510" y="-14097"/>
                  <a:pt x="776378" y="17533"/>
                </a:cubicBezTo>
                <a:close/>
              </a:path>
            </a:pathLst>
          </a:cu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27F52152-C965-99D3-94E6-32DBC18CD47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7449" t="-3881" r="-505" b="1988"/>
          <a:stretch/>
        </p:blipFill>
        <p:spPr>
          <a:xfrm>
            <a:off x="3883816" y="903380"/>
            <a:ext cx="5622524" cy="55290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3175C54-D0F7-56F4-FF54-7240BA4F36D6}"/>
              </a:ext>
            </a:extLst>
          </p:cNvPr>
          <p:cNvSpPr/>
          <p:nvPr/>
        </p:nvSpPr>
        <p:spPr>
          <a:xfrm>
            <a:off x="3766930" y="6281530"/>
            <a:ext cx="2047461" cy="232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981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19BCB5-5C53-3973-65F3-53A91B9B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99DFE1-F848-5BB0-CB8A-619DE9602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55" y="828943"/>
            <a:ext cx="10429102" cy="52001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1F9C741-812D-CA26-A87F-D8A866112490}"/>
              </a:ext>
            </a:extLst>
          </p:cNvPr>
          <p:cNvSpPr/>
          <p:nvPr/>
        </p:nvSpPr>
        <p:spPr>
          <a:xfrm>
            <a:off x="0" y="0"/>
            <a:ext cx="301752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E099B455-F878-E09E-1AE0-3A7B613C6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Hybrid Systems and the 50/90 Rule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9676D7-F6CC-877B-9F8A-A52F6D74EC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72" b="28912"/>
          <a:stretch/>
        </p:blipFill>
        <p:spPr>
          <a:xfrm>
            <a:off x="9937692" y="6026774"/>
            <a:ext cx="2254308" cy="85110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77D629E-B239-0AD0-5A43-5D0BA629A8F1}"/>
              </a:ext>
            </a:extLst>
          </p:cNvPr>
          <p:cNvSpPr/>
          <p:nvPr/>
        </p:nvSpPr>
        <p:spPr>
          <a:xfrm>
            <a:off x="2038866" y="1655806"/>
            <a:ext cx="4238368" cy="4028303"/>
          </a:xfrm>
          <a:prstGeom prst="rect">
            <a:avLst/>
          </a:prstGeom>
          <a:noFill/>
          <a:ln w="3810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324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A3426C-FFD1-D01E-859E-D6B3F33A4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C4F5FE-9222-1ADA-E979-D3ECFF48889E}"/>
              </a:ext>
            </a:extLst>
          </p:cNvPr>
          <p:cNvSpPr/>
          <p:nvPr/>
        </p:nvSpPr>
        <p:spPr>
          <a:xfrm>
            <a:off x="0" y="0"/>
            <a:ext cx="301752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75D8AD3-3381-1E52-6AA9-51762A476C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Load Diversity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175E6D-AA1B-9732-7992-A0812646C8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72" b="28912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41617-2CBF-635B-65E8-6AE38344658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54" t="33088" r="654" b="431"/>
          <a:stretch/>
        </p:blipFill>
        <p:spPr>
          <a:xfrm>
            <a:off x="772363" y="1236265"/>
            <a:ext cx="10647273" cy="465473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574C97D-B2F9-1ED0-A20A-B5A136239EB7}"/>
              </a:ext>
            </a:extLst>
          </p:cNvPr>
          <p:cNvSpPr/>
          <p:nvPr/>
        </p:nvSpPr>
        <p:spPr>
          <a:xfrm>
            <a:off x="5673968" y="4589191"/>
            <a:ext cx="1695450" cy="10684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4CF322-337C-0574-FA1C-03C9ACE3FA82}"/>
              </a:ext>
            </a:extLst>
          </p:cNvPr>
          <p:cNvSpPr txBox="1"/>
          <p:nvPr/>
        </p:nvSpPr>
        <p:spPr>
          <a:xfrm>
            <a:off x="5101281" y="6532444"/>
            <a:ext cx="4166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 Credit: burohappold.com</a:t>
            </a:r>
          </a:p>
        </p:txBody>
      </p:sp>
    </p:spTree>
    <p:extLst>
      <p:ext uri="{BB962C8B-B14F-4D97-AF65-F5344CB8AC3E}">
        <p14:creationId xmlns:p14="http://schemas.microsoft.com/office/powerpoint/2010/main" val="4220128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307704-9ACD-A12C-4A76-E1BD47EF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7334FC0-E068-2237-8A6E-F9104D4FFD47}"/>
              </a:ext>
            </a:extLst>
          </p:cNvPr>
          <p:cNvSpPr/>
          <p:nvPr/>
        </p:nvSpPr>
        <p:spPr>
          <a:xfrm>
            <a:off x="0" y="0"/>
            <a:ext cx="301752" cy="6858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8D025A23-1AAC-0430-1F7C-55AAAAC7DE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The Paradigm Shift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0A2498-0581-D446-46CB-288DBAE385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72" b="28912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5601EC-B85A-34BA-4A5E-7C26D5947176}"/>
              </a:ext>
            </a:extLst>
          </p:cNvPr>
          <p:cNvSpPr txBox="1"/>
          <p:nvPr/>
        </p:nvSpPr>
        <p:spPr>
          <a:xfrm>
            <a:off x="678673" y="1393712"/>
            <a:ext cx="11970200" cy="44884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2">
              <a:lnSpc>
                <a:spcPct val="150000"/>
              </a:lnSpc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4000" b="1" dirty="0">
                <a:solidFill>
                  <a:srgbClr val="92D050"/>
                </a:solidFill>
              </a:rPr>
              <a:t>Thermal Energy Networks are Awesome!</a:t>
            </a:r>
          </a:p>
          <a:p>
            <a:pPr marL="1828800" lvl="3" indent="-457200"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US" sz="3200" dirty="0"/>
              <a:t>The most efficient heating and cooling system available</a:t>
            </a:r>
          </a:p>
          <a:p>
            <a:pPr marL="1828800" lvl="3" indent="-457200"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US" sz="3200" dirty="0"/>
              <a:t>An effective demand response tool </a:t>
            </a:r>
          </a:p>
          <a:p>
            <a:pPr marL="1828800" lvl="3" indent="-457200"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US" sz="3200" dirty="0"/>
              <a:t>Converts thermal liabilities into assets</a:t>
            </a:r>
          </a:p>
          <a:p>
            <a:pPr marL="1828800" lvl="3" indent="-457200"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US" sz="3200" dirty="0"/>
              <a:t>Modular and expandable by nature</a:t>
            </a:r>
          </a:p>
          <a:p>
            <a:pPr marL="1828800" lvl="3" indent="-457200"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US" sz="3200" dirty="0"/>
              <a:t>Mature and ready to be deployed</a:t>
            </a:r>
            <a:endParaRPr lang="en-US" sz="36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4276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0AE5EE057BC9F43B26E08BE3C93F443" ma:contentTypeVersion="14" ma:contentTypeDescription="Create a new document." ma:contentTypeScope="" ma:versionID="4bc4c357b05fc27a2c4fd2ed5f0caf66">
  <xsd:schema xmlns:xsd="http://www.w3.org/2001/XMLSchema" xmlns:xs="http://www.w3.org/2001/XMLSchema" xmlns:p="http://schemas.microsoft.com/office/2006/metadata/properties" xmlns:ns2="f63aac96-6c22-4acb-bcd1-d671912bd8aa" xmlns:ns3="ab10ce27-33c4-4ede-8105-a3cd7fc3dcd0" targetNamespace="http://schemas.microsoft.com/office/2006/metadata/properties" ma:root="true" ma:fieldsID="39b62f2764437405437cdea7525b1e45" ns2:_="" ns3:_="">
    <xsd:import namespace="f63aac96-6c22-4acb-bcd1-d671912bd8aa"/>
    <xsd:import namespace="ab10ce27-33c4-4ede-8105-a3cd7fc3dc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Date_x002d_Tim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3aac96-6c22-4acb-bcd1-d671912bd8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f13e8058-98c7-47b1-9de9-5c0c3ae81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Date_x002d_Time" ma:index="20" nillable="true" ma:displayName="Date-Time" ma:format="DateTime" ma:internalName="Date_x002d_Time">
      <xsd:simpleType>
        <xsd:restriction base="dms:DateTim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0ce27-33c4-4ede-8105-a3cd7fc3dcd0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118888e-c2cf-453c-b2ee-45c9ded50370}" ma:internalName="TaxCatchAll" ma:showField="CatchAllData" ma:web="ab10ce27-33c4-4ede-8105-a3cd7fc3dcd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te_x002d_Time xmlns="f63aac96-6c22-4acb-bcd1-d671912bd8aa" xsi:nil="true"/>
    <lcf76f155ced4ddcb4097134ff3c332f xmlns="f63aac96-6c22-4acb-bcd1-d671912bd8aa">
      <Terms xmlns="http://schemas.microsoft.com/office/infopath/2007/PartnerControls"/>
    </lcf76f155ced4ddcb4097134ff3c332f>
    <TaxCatchAll xmlns="ab10ce27-33c4-4ede-8105-a3cd7fc3dcd0" xsi:nil="true"/>
  </documentManagement>
</p:properties>
</file>

<file path=customXml/itemProps1.xml><?xml version="1.0" encoding="utf-8"?>
<ds:datastoreItem xmlns:ds="http://schemas.openxmlformats.org/officeDocument/2006/customXml" ds:itemID="{485DB106-D7D3-4098-8E3B-102299AE83BF}"/>
</file>

<file path=customXml/itemProps2.xml><?xml version="1.0" encoding="utf-8"?>
<ds:datastoreItem xmlns:ds="http://schemas.openxmlformats.org/officeDocument/2006/customXml" ds:itemID="{23CC89F7-2A9A-44E6-9464-E8D42E6DE052}"/>
</file>

<file path=customXml/itemProps3.xml><?xml version="1.0" encoding="utf-8"?>
<ds:datastoreItem xmlns:ds="http://schemas.openxmlformats.org/officeDocument/2006/customXml" ds:itemID="{C402D6A4-4384-4151-9CDF-3354093FAFED}"/>
</file>

<file path=docProps/app.xml><?xml version="1.0" encoding="utf-8"?>
<Properties xmlns="http://schemas.openxmlformats.org/officeDocument/2006/extended-properties" xmlns:vt="http://schemas.openxmlformats.org/officeDocument/2006/docPropsVTypes">
  <TotalTime>1681</TotalTime>
  <Words>230</Words>
  <Application>Microsoft Office PowerPoint</Application>
  <PresentationFormat>Widescreen</PresentationFormat>
  <Paragraphs>43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Candara</vt:lpstr>
      <vt:lpstr>Eras Bold ITC</vt:lpstr>
      <vt:lpstr>Office Theme</vt:lpstr>
      <vt:lpstr>Thermal Energy Networks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Ambient Temperature Loops</dc:title>
  <dc:creator>Matt Garlick</dc:creator>
  <cp:lastModifiedBy>Matt Garlick</cp:lastModifiedBy>
  <cp:revision>28</cp:revision>
  <dcterms:created xsi:type="dcterms:W3CDTF">2023-05-05T21:55:56Z</dcterms:created>
  <dcterms:modified xsi:type="dcterms:W3CDTF">2025-06-03T21:00:15Z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0x01010020AE5EE057BC9F43B26E08BE3C93F443</vt:lpwstr>
  </property>
</Properties>
</file>