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notesSlides/notesSlide1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comments/modernComment_101_FF7179F6.xml" ContentType="application/vnd.ms-powerpoint.comments+xml"/>
  <Override PartName="/ppt/authors.xml" ContentType="application/vnd.ms-powerpoi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259" r:id="rId3"/>
    <p:sldId id="260" r:id="rId4"/>
    <p:sldId id="281" r:id="rId5"/>
    <p:sldId id="275" r:id="rId6"/>
    <p:sldId id="262" r:id="rId7"/>
    <p:sldId id="263" r:id="rId8"/>
    <p:sldId id="276" r:id="rId9"/>
    <p:sldId id="282" r:id="rId10"/>
    <p:sldId id="283" r:id="rId11"/>
    <p:sldId id="266" r:id="rId12"/>
    <p:sldId id="258" r:id="rId13"/>
    <p:sldId id="265" r:id="rId14"/>
    <p:sldId id="267" r:id="rId15"/>
    <p:sldId id="279" r:id="rId16"/>
    <p:sldId id="269" r:id="rId17"/>
    <p:sldId id="270" r:id="rId18"/>
    <p:sldId id="273"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73E8A2-370B-6DE6-33C8-1A2C328F7DD9}" name="Matt Garlick" initials="MG" userId="ec82958daeebdd5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447C88"/>
    <a:srgbClr val="FFFFFF"/>
    <a:srgbClr val="0A764A"/>
    <a:srgbClr val="01534D"/>
    <a:srgbClr val="A128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2"/>
    <p:restoredTop sz="94694"/>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1.xml"/></Relationships>
</file>

<file path=ppt/comments/modernComment_101_FF7179F6.xml><?xml version="1.0" encoding="utf-8"?>
<p188:cmLst xmlns:a="http://schemas.openxmlformats.org/drawingml/2006/main" xmlns:r="http://schemas.openxmlformats.org/officeDocument/2006/relationships" xmlns:p188="http://schemas.microsoft.com/office/powerpoint/2018/8/main">
  <p188:cm id="{7725B285-6393-4517-96E6-33EBFDCC5E96}" authorId="{B973E8A2-370B-6DE6-33C8-1A2C328F7DD9}" created="2025-01-23T21:27:52.762">
    <ac:txMkLst xmlns:ac="http://schemas.microsoft.com/office/drawing/2013/main/command">
      <pc:docMk xmlns:pc="http://schemas.microsoft.com/office/powerpoint/2013/main/command"/>
      <pc:sldMk xmlns:pc="http://schemas.microsoft.com/office/powerpoint/2013/main/command" cId="4285626870" sldId="257"/>
      <ac:spMk id="2" creationId="{CB09A71C-226C-6696-B262-CE8FCFBB1A55}"/>
      <ac:txMk cp="0" len="25">
        <ac:context len="78" hash="4214819829"/>
      </ac:txMk>
    </ac:txMkLst>
    <p188:pos x="5961707" y="275810"/>
    <p188:txBody>
      <a:bodyPr/>
      <a:lstStyle/>
      <a:p>
        <a:r>
          <a:rPr lang="en-US"/>
          <a:t>Feel free to alter this, just suggesting a new title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AA53F-EE2C-0E4D-BDE7-86FCFD26C453}"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7A9D35-06E8-EB4D-9DFC-75DA46293E24}" type="slidenum">
              <a:rPr lang="en-US" smtClean="0"/>
              <a:t>‹#›</a:t>
            </a:fld>
            <a:endParaRPr lang="en-US"/>
          </a:p>
        </p:txBody>
      </p:sp>
    </p:spTree>
    <p:extLst>
      <p:ext uri="{BB962C8B-B14F-4D97-AF65-F5344CB8AC3E}">
        <p14:creationId xmlns:p14="http://schemas.microsoft.com/office/powerpoint/2010/main" val="305785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7A9D35-06E8-EB4D-9DFC-75DA46293E24}" type="slidenum">
              <a:rPr lang="en-US" smtClean="0"/>
              <a:t>1</a:t>
            </a:fld>
            <a:endParaRPr lang="en-US"/>
          </a:p>
        </p:txBody>
      </p:sp>
    </p:spTree>
    <p:extLst>
      <p:ext uri="{BB962C8B-B14F-4D97-AF65-F5344CB8AC3E}">
        <p14:creationId xmlns:p14="http://schemas.microsoft.com/office/powerpoint/2010/main" val="723823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ATL 101: Heat pumps to Heat Pump Buildings Heat Trading enabled. Can be connected to air, water, or ground. </a:t>
            </a:r>
          </a:p>
          <a:p>
            <a:r>
              <a:rPr lang="en-US"/>
              <a:t>Networked buildings (the TEN)</a:t>
            </a:r>
          </a:p>
          <a:p>
            <a:r>
              <a:rPr lang="en-US"/>
              <a:t>Move heat from lab to classroom, from civic buildings to residential</a:t>
            </a:r>
          </a:p>
          <a:p>
            <a:pPr lvl="2"/>
            <a:r>
              <a:rPr lang="en-US"/>
              <a:t>(insert graphic)</a:t>
            </a:r>
          </a:p>
          <a:p>
            <a:pPr lvl="2"/>
            <a:r>
              <a:rPr lang="en-US" b="1"/>
              <a:t>3 components</a:t>
            </a:r>
          </a:p>
          <a:p>
            <a:pPr lvl="2"/>
            <a:r>
              <a:rPr lang="en-US"/>
              <a:t>Buildings</a:t>
            </a:r>
          </a:p>
          <a:p>
            <a:pPr lvl="2"/>
            <a:r>
              <a:rPr lang="en-US"/>
              <a:t>Loop</a:t>
            </a:r>
          </a:p>
          <a:p>
            <a:pPr lvl="2"/>
            <a:r>
              <a:rPr lang="en-US"/>
              <a:t>Thermal management devices</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3</a:t>
            </a:fld>
            <a:endParaRPr lang="en-US"/>
          </a:p>
        </p:txBody>
      </p:sp>
    </p:spTree>
    <p:extLst>
      <p:ext uri="{BB962C8B-B14F-4D97-AF65-F5344CB8AC3E}">
        <p14:creationId xmlns:p14="http://schemas.microsoft.com/office/powerpoint/2010/main" val="3485875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a:t>System expansion and growth over time.  Modularity of system is a huge benefit. Increased resiliency comes with expansion and diversity</a:t>
            </a:r>
          </a:p>
          <a:p>
            <a:br>
              <a:rPr lang="en-US" sz="2400"/>
            </a:br>
            <a:endParaRPr lang="en-US" sz="2400"/>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4</a:t>
            </a:fld>
            <a:endParaRPr lang="en-US"/>
          </a:p>
        </p:txBody>
      </p:sp>
    </p:spTree>
    <p:extLst>
      <p:ext uri="{BB962C8B-B14F-4D97-AF65-F5344CB8AC3E}">
        <p14:creationId xmlns:p14="http://schemas.microsoft.com/office/powerpoint/2010/main" val="116154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Networked Buildings</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Shared Loads and Assets</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Liabilities can become Assets</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5</a:t>
            </a:fld>
            <a:endParaRPr lang="en-US"/>
          </a:p>
        </p:txBody>
      </p:sp>
    </p:spTree>
    <p:extLst>
      <p:ext uri="{BB962C8B-B14F-4D97-AF65-F5344CB8AC3E}">
        <p14:creationId xmlns:p14="http://schemas.microsoft.com/office/powerpoint/2010/main" val="972123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a:t>System expansion and growth over time.  Modularity of system is a huge benefit. Increased resiliency comes with expansion and diversity</a:t>
            </a:r>
          </a:p>
          <a:p>
            <a:br>
              <a:rPr lang="en-US" sz="2400"/>
            </a:br>
            <a:endParaRPr lang="en-US" sz="2400"/>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6</a:t>
            </a:fld>
            <a:endParaRPr lang="en-US"/>
          </a:p>
        </p:txBody>
      </p:sp>
    </p:spTree>
    <p:extLst>
      <p:ext uri="{BB962C8B-B14F-4D97-AF65-F5344CB8AC3E}">
        <p14:creationId xmlns:p14="http://schemas.microsoft.com/office/powerpoint/2010/main" val="141921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7</a:t>
            </a:fld>
            <a:endParaRPr lang="en-US"/>
          </a:p>
        </p:txBody>
      </p:sp>
    </p:spTree>
    <p:extLst>
      <p:ext uri="{BB962C8B-B14F-4D97-AF65-F5344CB8AC3E}">
        <p14:creationId xmlns:p14="http://schemas.microsoft.com/office/powerpoint/2010/main" val="2494629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7A9D35-06E8-EB4D-9DFC-75DA46293E24}" type="slidenum">
              <a:rPr lang="en-US" smtClean="0"/>
              <a:t>8</a:t>
            </a:fld>
            <a:endParaRPr lang="en-US"/>
          </a:p>
        </p:txBody>
      </p:sp>
    </p:spTree>
    <p:extLst>
      <p:ext uri="{BB962C8B-B14F-4D97-AF65-F5344CB8AC3E}">
        <p14:creationId xmlns:p14="http://schemas.microsoft.com/office/powerpoint/2010/main" val="3351435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7A9D35-06E8-EB4D-9DFC-75DA46293E24}" type="slidenum">
              <a:rPr lang="en-US" smtClean="0"/>
              <a:t>9</a:t>
            </a:fld>
            <a:endParaRPr lang="en-US"/>
          </a:p>
        </p:txBody>
      </p:sp>
    </p:spTree>
    <p:extLst>
      <p:ext uri="{BB962C8B-B14F-4D97-AF65-F5344CB8AC3E}">
        <p14:creationId xmlns:p14="http://schemas.microsoft.com/office/powerpoint/2010/main" val="3970071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7A9D35-06E8-EB4D-9DFC-75DA46293E24}" type="slidenum">
              <a:rPr lang="en-US" smtClean="0"/>
              <a:t>10</a:t>
            </a:fld>
            <a:endParaRPr lang="en-US"/>
          </a:p>
        </p:txBody>
      </p:sp>
    </p:spTree>
    <p:extLst>
      <p:ext uri="{BB962C8B-B14F-4D97-AF65-F5344CB8AC3E}">
        <p14:creationId xmlns:p14="http://schemas.microsoft.com/office/powerpoint/2010/main" val="3704479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(Vail snowmelt system map graphic)</a:t>
            </a:r>
          </a:p>
          <a:p>
            <a:r>
              <a:rPr lang="en-US"/>
              <a:t>Biggest snowmelt in north America (12 acres), 7megawatts of equivalent electrical energy (size of snowmelt plant</a:t>
            </a:r>
          </a:p>
          <a:p>
            <a:r>
              <a:rPr lang="en-US"/>
              <a:t>(insert pic)</a:t>
            </a:r>
          </a:p>
          <a:p>
            <a:r>
              <a:rPr lang="en-US"/>
              <a:t>Existing system serves town in many ways (slip and falls, snow storage and removal, cater to demographic that expects dry pavers (high-heel grade), risks for litigation</a:t>
            </a:r>
          </a:p>
          <a:p>
            <a:r>
              <a:rPr lang="en-US"/>
              <a:t>Covers Vail Village and </a:t>
            </a:r>
            <a:r>
              <a:rPr lang="en-US" err="1"/>
              <a:t>Lionshead</a:t>
            </a:r>
            <a:endParaRPr lang="en-US"/>
          </a:p>
          <a:p>
            <a:r>
              <a:rPr lang="en-US"/>
              <a:t>Runs hot, was recently retro-commissioned (we are making more efficient)</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11</a:t>
            </a:fld>
            <a:endParaRPr lang="en-US"/>
          </a:p>
        </p:txBody>
      </p:sp>
    </p:spTree>
    <p:extLst>
      <p:ext uri="{BB962C8B-B14F-4D97-AF65-F5344CB8AC3E}">
        <p14:creationId xmlns:p14="http://schemas.microsoft.com/office/powerpoint/2010/main" val="2839114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a:t>Also: </a:t>
            </a:r>
            <a:r>
              <a:rPr lang="en-US" sz="1200"/>
              <a:t> Ease peak load demand</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Turn liabilities into assets</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Create new business models around energy</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1200"/>
              <a:t> Shift paradigms about how energy is created, transferred, and shared</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12</a:t>
            </a:fld>
            <a:endParaRPr lang="en-US"/>
          </a:p>
        </p:txBody>
      </p:sp>
    </p:spTree>
    <p:extLst>
      <p:ext uri="{BB962C8B-B14F-4D97-AF65-F5344CB8AC3E}">
        <p14:creationId xmlns:p14="http://schemas.microsoft.com/office/powerpoint/2010/main" val="1546111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Vail is pursuing efficiency to reduce emissions, but to achieve goals we must reconsider the energy system type itself (equipment, fuel source, holistic opportunities).  Benefit of efficiency is smaller alternative.  Vail is pursuing both/and/all-of-the-above solutions.</a:t>
            </a:r>
          </a:p>
        </p:txBody>
      </p:sp>
      <p:sp>
        <p:nvSpPr>
          <p:cNvPr id="4" name="Slide Number Placeholder 3"/>
          <p:cNvSpPr>
            <a:spLocks noGrp="1"/>
          </p:cNvSpPr>
          <p:nvPr>
            <p:ph type="sldNum" sz="quarter" idx="5"/>
          </p:nvPr>
        </p:nvSpPr>
        <p:spPr/>
        <p:txBody>
          <a:bodyPr/>
          <a:lstStyle/>
          <a:p>
            <a:fld id="{527A9D35-06E8-EB4D-9DFC-75DA46293E24}" type="slidenum">
              <a:rPr lang="en-US" smtClean="0"/>
              <a:t>13</a:t>
            </a:fld>
            <a:endParaRPr lang="en-US"/>
          </a:p>
        </p:txBody>
      </p:sp>
    </p:spTree>
    <p:extLst>
      <p:ext uri="{BB962C8B-B14F-4D97-AF65-F5344CB8AC3E}">
        <p14:creationId xmlns:p14="http://schemas.microsoft.com/office/powerpoint/2010/main" val="4007840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a:t>We conducted an advanced thermal conductivity test which involves pulsing heat into the ground and observing the rate of dissipation.  This helps us understand the thermal battery potential of our geology (how quick to charge and discharge, and how long to store heat).  (ability to transfer and store heat easily)</a:t>
            </a:r>
          </a:p>
          <a:p>
            <a:pPr lvl="1"/>
            <a:r>
              <a:rPr lang="en-US"/>
              <a:t>Similar conditions throughout valley floor</a:t>
            </a:r>
          </a:p>
          <a:p>
            <a:pPr lvl="1"/>
            <a:endParaRPr lang="en-US"/>
          </a:p>
          <a:p>
            <a:pPr lvl="1"/>
            <a:r>
              <a:rPr lang="en-US"/>
              <a:t>Evaluation of sources of thermal energy</a:t>
            </a:r>
          </a:p>
          <a:p>
            <a:r>
              <a:rPr lang="en-US"/>
              <a:t>ATL 101: Heat pumps to Heat Pump Buildings</a:t>
            </a:r>
          </a:p>
          <a:p>
            <a:pPr lvl="1"/>
            <a:r>
              <a:rPr lang="en-US"/>
              <a:t>Heat Trading enabled</a:t>
            </a:r>
          </a:p>
          <a:p>
            <a:pPr lvl="1"/>
            <a:r>
              <a:rPr lang="en-US"/>
              <a:t>Can be connected to air, water, or ground</a:t>
            </a:r>
          </a:p>
          <a:p>
            <a:pPr lvl="1"/>
            <a:r>
              <a:rPr lang="en-US"/>
              <a:t>Networked buildings (the TEN)</a:t>
            </a:r>
          </a:p>
          <a:p>
            <a:pPr lvl="2"/>
            <a:r>
              <a:rPr lang="en-US"/>
              <a:t>Move heat from lab to classroom, from civic buildings to residential</a:t>
            </a:r>
          </a:p>
          <a:p>
            <a:pPr lvl="2"/>
            <a:r>
              <a:rPr lang="en-US"/>
              <a:t>(insert graphic)</a:t>
            </a:r>
          </a:p>
          <a:p>
            <a:pPr lvl="2"/>
            <a:r>
              <a:rPr lang="en-US" b="1"/>
              <a:t>3 components</a:t>
            </a:r>
          </a:p>
          <a:p>
            <a:pPr lvl="2"/>
            <a:r>
              <a:rPr lang="en-US"/>
              <a:t>Buildings</a:t>
            </a:r>
          </a:p>
          <a:p>
            <a:pPr lvl="2"/>
            <a:r>
              <a:rPr lang="en-US"/>
              <a:t>Loop</a:t>
            </a:r>
          </a:p>
          <a:p>
            <a:pPr lvl="2"/>
            <a:r>
              <a:rPr lang="en-US"/>
              <a:t>Thermal management devices</a:t>
            </a:r>
          </a:p>
          <a:p>
            <a:pPr lvl="1"/>
            <a:endParaRPr lang="en-US"/>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14</a:t>
            </a:fld>
            <a:endParaRPr lang="en-US"/>
          </a:p>
        </p:txBody>
      </p:sp>
    </p:spTree>
    <p:extLst>
      <p:ext uri="{BB962C8B-B14F-4D97-AF65-F5344CB8AC3E}">
        <p14:creationId xmlns:p14="http://schemas.microsoft.com/office/powerpoint/2010/main" val="3559511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Partnership w/VR, ERWSD, Arrabelle has a 900 </a:t>
            </a:r>
            <a:r>
              <a:rPr lang="en-US" err="1">
                <a:latin typeface="Calibri"/>
                <a:ea typeface="Calibri"/>
                <a:cs typeface="Calibri"/>
              </a:rPr>
              <a:t>gpm</a:t>
            </a:r>
            <a:r>
              <a:rPr lang="en-US">
                <a:latin typeface="Calibri"/>
                <a:ea typeface="Calibri"/>
                <a:cs typeface="Calibri"/>
              </a:rPr>
              <a:t> dewatering system that could be a source of heat for the system.  ERWSD treats up to 4million gallons daily and needs to reduce their temps under new state regulation.  Creative solutions to heating involve taking advantage of existing waste heat opportunities (non-traditional waste-heat opportunities that can be </a:t>
            </a:r>
            <a:r>
              <a:rPr lang="en-US" err="1">
                <a:latin typeface="Calibri"/>
                <a:ea typeface="Calibri"/>
                <a:cs typeface="Calibri"/>
              </a:rPr>
              <a:t>capitizalized</a:t>
            </a:r>
            <a:r>
              <a:rPr lang="en-US">
                <a:latin typeface="Calibri"/>
                <a:ea typeface="Calibri"/>
                <a:cs typeface="Calibri"/>
              </a:rPr>
              <a:t> on with an TEN/ATL).  (We will circle back to this on the paradigm shift slide).  Are possible because of the nature of the TEN.</a:t>
            </a:r>
          </a:p>
        </p:txBody>
      </p:sp>
      <p:sp>
        <p:nvSpPr>
          <p:cNvPr id="4" name="Slide Number Placeholder 3"/>
          <p:cNvSpPr>
            <a:spLocks noGrp="1"/>
          </p:cNvSpPr>
          <p:nvPr>
            <p:ph type="sldNum" sz="quarter" idx="5"/>
          </p:nvPr>
        </p:nvSpPr>
        <p:spPr/>
        <p:txBody>
          <a:bodyPr/>
          <a:lstStyle/>
          <a:p>
            <a:fld id="{527A9D35-06E8-EB4D-9DFC-75DA46293E24}" type="slidenum">
              <a:rPr lang="en-US" smtClean="0"/>
              <a:t>15</a:t>
            </a:fld>
            <a:endParaRPr lang="en-US"/>
          </a:p>
        </p:txBody>
      </p:sp>
    </p:spTree>
    <p:extLst>
      <p:ext uri="{BB962C8B-B14F-4D97-AF65-F5344CB8AC3E}">
        <p14:creationId xmlns:p14="http://schemas.microsoft.com/office/powerpoint/2010/main" val="3220656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Grant will </a:t>
            </a:r>
            <a:r>
              <a:rPr lang="en-US" err="1"/>
              <a:t>eneable</a:t>
            </a:r>
            <a:r>
              <a:rPr lang="en-US"/>
              <a:t> work:  Beginning</a:t>
            </a:r>
            <a:r>
              <a:rPr lang="en-US" sz="1200"/>
              <a:t> work on: MEP Design, Civic planning, risk Mitigation, IRA implications, Business model</a:t>
            </a:r>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16</a:t>
            </a:fld>
            <a:endParaRPr lang="en-US"/>
          </a:p>
        </p:txBody>
      </p:sp>
    </p:spTree>
    <p:extLst>
      <p:ext uri="{BB962C8B-B14F-4D97-AF65-F5344CB8AC3E}">
        <p14:creationId xmlns:p14="http://schemas.microsoft.com/office/powerpoint/2010/main" val="25897670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90000"/>
              </a:lnSpc>
              <a:spcBef>
                <a:spcPts val="1000"/>
              </a:spcBef>
              <a:buFont typeface="Wingdings,Sans-Serif"/>
              <a:buChar char="v"/>
            </a:pPr>
            <a:r>
              <a:rPr lang="en-US" dirty="0"/>
              <a:t>Reliability of service</a:t>
            </a:r>
          </a:p>
          <a:p>
            <a:pPr marL="171450" indent="-171450">
              <a:lnSpc>
                <a:spcPct val="90000"/>
              </a:lnSpc>
              <a:spcBef>
                <a:spcPts val="1000"/>
              </a:spcBef>
              <a:buFont typeface="Wingdings,Sans-Serif"/>
              <a:buChar char="v"/>
            </a:pPr>
            <a:r>
              <a:rPr lang="en-US" dirty="0"/>
              <a:t>Cost-effectiveness (affordability for rate payers)</a:t>
            </a:r>
          </a:p>
          <a:p>
            <a:pPr marL="171450" indent="-171450">
              <a:lnSpc>
                <a:spcPct val="90000"/>
              </a:lnSpc>
              <a:spcBef>
                <a:spcPts val="1000"/>
              </a:spcBef>
              <a:buFont typeface="Wingdings,Sans-Serif"/>
              <a:buChar char="v"/>
            </a:pPr>
            <a:r>
              <a:rPr lang="en-US" dirty="0"/>
              <a:t>Falcon-curve (concept of smoothing out seasonal and daily demand patterns</a:t>
            </a:r>
          </a:p>
          <a:p>
            <a:pPr marL="171450" indent="-171450">
              <a:lnSpc>
                <a:spcPct val="90000"/>
              </a:lnSpc>
              <a:spcBef>
                <a:spcPts val="1000"/>
              </a:spcBef>
              <a:buFont typeface="Wingdings,Sans-Serif"/>
              <a:buChar char="v"/>
            </a:pPr>
            <a:r>
              <a:rPr lang="en-US" dirty="0"/>
              <a:t>Buffering variability</a:t>
            </a:r>
          </a:p>
          <a:p>
            <a:pPr marL="171450" indent="-171450">
              <a:lnSpc>
                <a:spcPct val="90000"/>
              </a:lnSpc>
              <a:spcBef>
                <a:spcPts val="1000"/>
              </a:spcBef>
              <a:buFont typeface="Wingdings,Sans-Serif"/>
              <a:buChar char="v"/>
            </a:pPr>
            <a:r>
              <a:rPr lang="en-US" dirty="0"/>
              <a:t>Sustainability and decarbonization</a:t>
            </a:r>
          </a:p>
          <a:p>
            <a:pPr marL="171450" indent="-171450">
              <a:lnSpc>
                <a:spcPct val="90000"/>
              </a:lnSpc>
              <a:spcBef>
                <a:spcPts val="1000"/>
              </a:spcBef>
              <a:buFont typeface="Wingdings,Sans-Serif"/>
              <a:buChar char="v"/>
            </a:pPr>
            <a:r>
              <a:rPr lang="en-US" dirty="0"/>
              <a:t>Opportunity to expand business (electric and gas service territories, this is the gold rush for clean, affordable, reliable heating and cooling)</a:t>
            </a:r>
          </a:p>
        </p:txBody>
      </p:sp>
      <p:sp>
        <p:nvSpPr>
          <p:cNvPr id="4" name="Slide Number Placeholder 3"/>
          <p:cNvSpPr>
            <a:spLocks noGrp="1"/>
          </p:cNvSpPr>
          <p:nvPr>
            <p:ph type="sldNum" sz="quarter" idx="5"/>
          </p:nvPr>
        </p:nvSpPr>
        <p:spPr/>
        <p:txBody>
          <a:bodyPr/>
          <a:lstStyle/>
          <a:p>
            <a:fld id="{527A9D35-06E8-EB4D-9DFC-75DA46293E24}" type="slidenum">
              <a:rPr lang="en-US" smtClean="0"/>
              <a:t>17</a:t>
            </a:fld>
            <a:endParaRPr lang="en-US"/>
          </a:p>
        </p:txBody>
      </p:sp>
    </p:spTree>
    <p:extLst>
      <p:ext uri="{BB962C8B-B14F-4D97-AF65-F5344CB8AC3E}">
        <p14:creationId xmlns:p14="http://schemas.microsoft.com/office/powerpoint/2010/main" val="23068398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Reiterate problem (evolving demands on electric grid + need to decarbonize thermal loads) – i.e. </a:t>
            </a:r>
            <a:r>
              <a:rPr lang="en-US" b="1" i="1"/>
              <a:t>beneficial electrification</a:t>
            </a:r>
          </a:p>
          <a:p>
            <a:r>
              <a:rPr lang="en-US"/>
              <a:t>Decarbonizing 90%, </a:t>
            </a:r>
            <a:r>
              <a:rPr lang="en-US" b="1" i="1"/>
              <a:t>last 10% is most difficult</a:t>
            </a:r>
          </a:p>
          <a:p>
            <a:r>
              <a:rPr lang="en-US"/>
              <a:t>A TEN is a holistic tool to manage the challenge of electrifying thermal loads at scale w/high penetration of renewables in energy supply</a:t>
            </a:r>
          </a:p>
          <a:p>
            <a:r>
              <a:rPr lang="en-US"/>
              <a:t>It is an interactive grid for heating and cooling</a:t>
            </a:r>
          </a:p>
          <a:p>
            <a:r>
              <a:rPr lang="en-US"/>
              <a:t>From liabilities to assets</a:t>
            </a:r>
          </a:p>
          <a:p>
            <a:r>
              <a:rPr lang="en-US"/>
              <a:t>Smoothing out demand curve</a:t>
            </a:r>
          </a:p>
          <a:p>
            <a:r>
              <a:rPr lang="en-US"/>
              <a:t>Higher COP for heat pumps</a:t>
            </a:r>
          </a:p>
          <a:p>
            <a:pPr lvl="1"/>
            <a:r>
              <a:rPr lang="en-US"/>
              <a:t>Higher efficiency</a:t>
            </a:r>
          </a:p>
          <a:p>
            <a:r>
              <a:rPr lang="en-US"/>
              <a:t>Stability</a:t>
            </a:r>
          </a:p>
          <a:p>
            <a:pPr lvl="1"/>
            <a:r>
              <a:rPr lang="en-US"/>
              <a:t>Coasting through demand events w/thermal mass</a:t>
            </a:r>
          </a:p>
          <a:p>
            <a:endParaRPr lang="en-US"/>
          </a:p>
          <a:p>
            <a:endParaRPr lang="en-US"/>
          </a:p>
          <a:p>
            <a:r>
              <a:rPr lang="en-US"/>
              <a:t>Reiterate problem (evolving demands on electric grid + need to decarbonize thermal loads) – i.e. </a:t>
            </a:r>
            <a:r>
              <a:rPr lang="en-US" b="1" i="1"/>
              <a:t>beneficial electrification</a:t>
            </a:r>
          </a:p>
          <a:p>
            <a:r>
              <a:rPr lang="en-US"/>
              <a:t>Decarbonizing 90%, </a:t>
            </a:r>
            <a:r>
              <a:rPr lang="en-US" b="1" i="1"/>
              <a:t>last 10% is most difficult</a:t>
            </a:r>
          </a:p>
          <a:p>
            <a:r>
              <a:rPr lang="en-US"/>
              <a:t>A TEN is a holistic tool to manage the challenge of electrifying thermal loads at scale w/high penetration of renewables in energy supply</a:t>
            </a:r>
          </a:p>
          <a:p>
            <a:r>
              <a:rPr lang="en-US"/>
              <a:t>It is an interactive grid for heating and cooling</a:t>
            </a:r>
          </a:p>
          <a:p>
            <a:r>
              <a:rPr lang="en-US"/>
              <a:t>From liabilities to assets</a:t>
            </a:r>
          </a:p>
          <a:p>
            <a:r>
              <a:rPr lang="en-US"/>
              <a:t>Smoothing out demand curve</a:t>
            </a:r>
          </a:p>
          <a:p>
            <a:r>
              <a:rPr lang="en-US"/>
              <a:t>Higher COP for heat pumps</a:t>
            </a:r>
          </a:p>
          <a:p>
            <a:pPr lvl="1"/>
            <a:r>
              <a:rPr lang="en-US"/>
              <a:t>Higher efficiency</a:t>
            </a:r>
          </a:p>
          <a:p>
            <a:r>
              <a:rPr lang="en-US"/>
              <a:t>Stability</a:t>
            </a:r>
          </a:p>
          <a:p>
            <a:pPr lvl="1"/>
            <a:r>
              <a:rPr lang="en-US"/>
              <a:t>Coasting through demand events w/thermal mass</a:t>
            </a:r>
          </a:p>
          <a:p>
            <a:r>
              <a:rPr lang="en-US"/>
              <a:t>Reiterate problem (evolving demands on electric grid + need to decarbonize thermal loads) – i.e. </a:t>
            </a:r>
            <a:r>
              <a:rPr lang="en-US" b="1" i="1"/>
              <a:t>beneficial electrification</a:t>
            </a:r>
          </a:p>
          <a:p>
            <a:r>
              <a:rPr lang="en-US"/>
              <a:t>Decarbonizing 90%, </a:t>
            </a:r>
            <a:r>
              <a:rPr lang="en-US" b="1" i="1"/>
              <a:t>last 10% is most difficult</a:t>
            </a:r>
          </a:p>
          <a:p>
            <a:r>
              <a:rPr lang="en-US"/>
              <a:t>A TEN is a holistic tool to manage the challenge of electrifying thermal loads at scale w/high penetration of renewables in energy supply</a:t>
            </a:r>
          </a:p>
          <a:p>
            <a:r>
              <a:rPr lang="en-US"/>
              <a:t>It is an interactive grid for heating and cooling</a:t>
            </a:r>
          </a:p>
          <a:p>
            <a:r>
              <a:rPr lang="en-US"/>
              <a:t>From liabilities to assets</a:t>
            </a:r>
          </a:p>
          <a:p>
            <a:r>
              <a:rPr lang="en-US"/>
              <a:t>Smoothing out demand curve</a:t>
            </a:r>
          </a:p>
          <a:p>
            <a:r>
              <a:rPr lang="en-US"/>
              <a:t>Higher COP for heat pumps</a:t>
            </a:r>
          </a:p>
          <a:p>
            <a:pPr lvl="1"/>
            <a:r>
              <a:rPr lang="en-US"/>
              <a:t>Higher efficiency</a:t>
            </a:r>
          </a:p>
          <a:p>
            <a:r>
              <a:rPr lang="en-US"/>
              <a:t>Stability</a:t>
            </a:r>
          </a:p>
          <a:p>
            <a:pPr lvl="1"/>
            <a:r>
              <a:rPr lang="en-US"/>
              <a:t>Coasting through demand events w/thermal mass</a:t>
            </a:r>
          </a:p>
          <a:p>
            <a:endParaRPr lang="en-US"/>
          </a:p>
          <a:p>
            <a:endParaRPr lang="en-US"/>
          </a:p>
          <a:p>
            <a:endParaRPr lang="en-US"/>
          </a:p>
        </p:txBody>
      </p:sp>
      <p:sp>
        <p:nvSpPr>
          <p:cNvPr id="4" name="Slide Number Placeholder 3"/>
          <p:cNvSpPr>
            <a:spLocks noGrp="1"/>
          </p:cNvSpPr>
          <p:nvPr>
            <p:ph type="sldNum" sz="quarter" idx="5"/>
          </p:nvPr>
        </p:nvSpPr>
        <p:spPr/>
        <p:txBody>
          <a:bodyPr/>
          <a:lstStyle/>
          <a:p>
            <a:fld id="{527A9D35-06E8-EB4D-9DFC-75DA46293E24}" type="slidenum">
              <a:rPr lang="en-US" smtClean="0"/>
              <a:t>18</a:t>
            </a:fld>
            <a:endParaRPr lang="en-US"/>
          </a:p>
        </p:txBody>
      </p:sp>
    </p:spTree>
    <p:extLst>
      <p:ext uri="{BB962C8B-B14F-4D97-AF65-F5344CB8AC3E}">
        <p14:creationId xmlns:p14="http://schemas.microsoft.com/office/powerpoint/2010/main" val="3342679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01126"/>
            <a:ext cx="10363200" cy="2387600"/>
          </a:xfrm>
          <a:prstGeom prst="rect">
            <a:avLst/>
          </a:prstGeom>
        </p:spPr>
        <p:txBody>
          <a:bodyPr anchor="b"/>
          <a:lstStyle>
            <a:lvl1pPr algn="ctr">
              <a:defRPr sz="6000" b="1"/>
            </a:lvl1pPr>
          </a:lstStyle>
          <a:p>
            <a:r>
              <a:rPr lang="en-US"/>
              <a:t>Click to edit Master title style</a:t>
            </a:r>
          </a:p>
        </p:txBody>
      </p:sp>
      <p:sp>
        <p:nvSpPr>
          <p:cNvPr id="3" name="Subtitle 2"/>
          <p:cNvSpPr>
            <a:spLocks noGrp="1"/>
          </p:cNvSpPr>
          <p:nvPr>
            <p:ph type="subTitle" idx="1"/>
          </p:nvPr>
        </p:nvSpPr>
        <p:spPr>
          <a:xfrm>
            <a:off x="1524000" y="3801112"/>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418253" y="6264912"/>
            <a:ext cx="2743200" cy="278129"/>
          </a:xfrm>
          <a:prstGeom prst="rect">
            <a:avLst/>
          </a:prstGeom>
        </p:spPr>
        <p:txBody>
          <a:bodyPr/>
          <a:lstStyle/>
          <a:p>
            <a:fld id="{897A04EF-FE05-4FB1-A200-1E41E7BFE3F9}" type="datetimeFigureOut">
              <a:rPr lang="en-US" smtClean="0"/>
              <a:t>1/23/2025</a:t>
            </a:fld>
            <a:endParaRPr lang="en-US"/>
          </a:p>
        </p:txBody>
      </p:sp>
      <p:sp>
        <p:nvSpPr>
          <p:cNvPr id="5" name="Footer Placeholder 4"/>
          <p:cNvSpPr>
            <a:spLocks noGrp="1"/>
          </p:cNvSpPr>
          <p:nvPr>
            <p:ph type="ftr" sz="quarter" idx="11"/>
          </p:nvPr>
        </p:nvSpPr>
        <p:spPr>
          <a:xfrm>
            <a:off x="4038600" y="6264912"/>
            <a:ext cx="4114800" cy="278129"/>
          </a:xfrm>
          <a:prstGeom prst="rect">
            <a:avLst/>
          </a:prstGeom>
        </p:spPr>
        <p:txBody>
          <a:bodyPr/>
          <a:lstStyle/>
          <a:p>
            <a:endParaRPr lang="en-US"/>
          </a:p>
        </p:txBody>
      </p:sp>
      <p:sp>
        <p:nvSpPr>
          <p:cNvPr id="6" name="Slide Number Placeholder 5"/>
          <p:cNvSpPr>
            <a:spLocks noGrp="1"/>
          </p:cNvSpPr>
          <p:nvPr>
            <p:ph type="sldNum" sz="quarter" idx="12"/>
          </p:nvPr>
        </p:nvSpPr>
        <p:spPr>
          <a:xfrm>
            <a:off x="9030547" y="6264912"/>
            <a:ext cx="2743200" cy="278129"/>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699460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8254" y="1331843"/>
            <a:ext cx="11355493" cy="655981"/>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18254" y="1987825"/>
            <a:ext cx="11355493" cy="4258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1/23/2025</a:t>
            </a:fld>
            <a:endParaRPr lang="en-US"/>
          </a:p>
        </p:txBody>
      </p:sp>
      <p:sp>
        <p:nvSpPr>
          <p:cNvPr id="5" name="Footer Placeholder 4"/>
          <p:cNvSpPr>
            <a:spLocks noGrp="1"/>
          </p:cNvSpPr>
          <p:nvPr>
            <p:ph type="ftr" sz="quarter" idx="11"/>
          </p:nvPr>
        </p:nvSpPr>
        <p:spPr>
          <a:xfrm>
            <a:off x="4038600" y="626491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1393646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18254" y="1709740"/>
            <a:ext cx="11355493"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418254" y="4589465"/>
            <a:ext cx="11355493"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1/23/2025</a:t>
            </a:fld>
            <a:endParaRPr lang="en-US"/>
          </a:p>
        </p:txBody>
      </p:sp>
      <p:sp>
        <p:nvSpPr>
          <p:cNvPr id="5" name="Footer Placeholder 4"/>
          <p:cNvSpPr>
            <a:spLocks noGrp="1"/>
          </p:cNvSpPr>
          <p:nvPr>
            <p:ph type="ftr" sz="quarter" idx="11"/>
          </p:nvPr>
        </p:nvSpPr>
        <p:spPr>
          <a:xfrm>
            <a:off x="4038600" y="626491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1520439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18254" y="1371599"/>
            <a:ext cx="11355493" cy="607787"/>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18253" y="2067339"/>
            <a:ext cx="5601547" cy="41096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067337"/>
            <a:ext cx="5601547" cy="41096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1/23/2025</a:t>
            </a:fld>
            <a:endParaRPr lang="en-US"/>
          </a:p>
        </p:txBody>
      </p:sp>
      <p:sp>
        <p:nvSpPr>
          <p:cNvPr id="6" name="Footer Placeholder 5"/>
          <p:cNvSpPr>
            <a:spLocks noGrp="1"/>
          </p:cNvSpPr>
          <p:nvPr>
            <p:ph type="ftr" sz="quarter" idx="11"/>
          </p:nvPr>
        </p:nvSpPr>
        <p:spPr>
          <a:xfrm>
            <a:off x="4038600" y="626491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626204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18253" y="1219512"/>
            <a:ext cx="11355493" cy="847827"/>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418253" y="2229482"/>
            <a:ext cx="5579323" cy="60515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18253" y="2909889"/>
            <a:ext cx="5579323" cy="327977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199" y="2229481"/>
            <a:ext cx="5601547" cy="605156"/>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09887"/>
            <a:ext cx="5601547" cy="32797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1/23/2025</a:t>
            </a:fld>
            <a:endParaRPr lang="en-US"/>
          </a:p>
        </p:txBody>
      </p:sp>
      <p:sp>
        <p:nvSpPr>
          <p:cNvPr id="8" name="Footer Placeholder 7"/>
          <p:cNvSpPr>
            <a:spLocks noGrp="1"/>
          </p:cNvSpPr>
          <p:nvPr>
            <p:ph type="ftr" sz="quarter" idx="11"/>
          </p:nvPr>
        </p:nvSpPr>
        <p:spPr>
          <a:xfrm>
            <a:off x="4038600" y="6264912"/>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421637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18253" y="1339751"/>
            <a:ext cx="11355493" cy="745809"/>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1/23/2025</a:t>
            </a:fld>
            <a:endParaRPr lang="en-US"/>
          </a:p>
        </p:txBody>
      </p:sp>
      <p:sp>
        <p:nvSpPr>
          <p:cNvPr id="4" name="Footer Placeholder 3"/>
          <p:cNvSpPr>
            <a:spLocks noGrp="1"/>
          </p:cNvSpPr>
          <p:nvPr>
            <p:ph type="ftr" sz="quarter" idx="11"/>
          </p:nvPr>
        </p:nvSpPr>
        <p:spPr>
          <a:xfrm>
            <a:off x="4038600" y="6264912"/>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2964661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1/23/2025</a:t>
            </a:fld>
            <a:endParaRPr lang="en-US"/>
          </a:p>
        </p:txBody>
      </p:sp>
      <p:sp>
        <p:nvSpPr>
          <p:cNvPr id="3" name="Footer Placeholder 2"/>
          <p:cNvSpPr>
            <a:spLocks noGrp="1"/>
          </p:cNvSpPr>
          <p:nvPr>
            <p:ph type="ftr" sz="quarter" idx="11"/>
          </p:nvPr>
        </p:nvSpPr>
        <p:spPr>
          <a:xfrm>
            <a:off x="4038600" y="6264912"/>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3845456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8254" y="1192696"/>
            <a:ext cx="4353772" cy="1260944"/>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7" y="1192696"/>
            <a:ext cx="6590559" cy="5064596"/>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18254" y="2453640"/>
            <a:ext cx="435377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1/23/2025</a:t>
            </a:fld>
            <a:endParaRPr lang="en-US"/>
          </a:p>
        </p:txBody>
      </p:sp>
      <p:sp>
        <p:nvSpPr>
          <p:cNvPr id="6" name="Footer Placeholder 5"/>
          <p:cNvSpPr>
            <a:spLocks noGrp="1"/>
          </p:cNvSpPr>
          <p:nvPr>
            <p:ph type="ftr" sz="quarter" idx="11"/>
          </p:nvPr>
        </p:nvSpPr>
        <p:spPr>
          <a:xfrm>
            <a:off x="4038600" y="626491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3320284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8251" y="1103242"/>
            <a:ext cx="4353775" cy="1292086"/>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7" y="1103242"/>
            <a:ext cx="6590559" cy="5161670"/>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418252" y="2395330"/>
            <a:ext cx="4353773" cy="386958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418253" y="6264912"/>
            <a:ext cx="2743200" cy="365125"/>
          </a:xfrm>
          <a:prstGeom prst="rect">
            <a:avLst/>
          </a:prstGeom>
        </p:spPr>
        <p:txBody>
          <a:bodyPr/>
          <a:lstStyle/>
          <a:p>
            <a:fld id="{897A04EF-FE05-4FB1-A200-1E41E7BFE3F9}" type="datetimeFigureOut">
              <a:rPr lang="en-US" smtClean="0"/>
              <a:t>1/23/2025</a:t>
            </a:fld>
            <a:endParaRPr lang="en-US"/>
          </a:p>
        </p:txBody>
      </p:sp>
      <p:sp>
        <p:nvSpPr>
          <p:cNvPr id="6" name="Footer Placeholder 5"/>
          <p:cNvSpPr>
            <a:spLocks noGrp="1"/>
          </p:cNvSpPr>
          <p:nvPr>
            <p:ph type="ftr" sz="quarter" idx="11"/>
          </p:nvPr>
        </p:nvSpPr>
        <p:spPr>
          <a:xfrm>
            <a:off x="4038600" y="626491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9030547" y="6264912"/>
            <a:ext cx="2743200" cy="365125"/>
          </a:xfrm>
          <a:prstGeom prst="rect">
            <a:avLst/>
          </a:prstGeom>
        </p:spPr>
        <p:txBody>
          <a:bodyPr/>
          <a:lstStyle/>
          <a:p>
            <a:fld id="{28FE263C-9D6C-41BB-94DC-8326AEA87129}" type="slidenum">
              <a:rPr lang="en-US" smtClean="0"/>
              <a:t>‹#›</a:t>
            </a:fld>
            <a:endParaRPr lang="en-US"/>
          </a:p>
        </p:txBody>
      </p:sp>
    </p:spTree>
    <p:extLst>
      <p:ext uri="{BB962C8B-B14F-4D97-AF65-F5344CB8AC3E}">
        <p14:creationId xmlns:p14="http://schemas.microsoft.com/office/powerpoint/2010/main" val="1770059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alphaModFix amt="30000"/>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4BF43AA-1294-20D3-B7A6-ACD918B431DA}"/>
              </a:ext>
            </a:extLst>
          </p:cNvPr>
          <p:cNvPicPr>
            <a:picLocks noChangeAspect="1"/>
          </p:cNvPicPr>
          <p:nvPr userDrawn="1"/>
        </p:nvPicPr>
        <p:blipFill>
          <a:blip r:embed="rId12">
            <a:extLst>
              <a:ext uri="{28A0092B-C50C-407E-A947-70E740481C1C}">
                <a14:useLocalDpi xmlns:a14="http://schemas.microsoft.com/office/drawing/2010/main" val="0"/>
              </a:ext>
            </a:extLst>
          </a:blip>
          <a:srcRect t="240" b="240"/>
          <a:stretch/>
        </p:blipFill>
        <p:spPr>
          <a:xfrm>
            <a:off x="0" y="1"/>
            <a:ext cx="12192000" cy="6858000"/>
          </a:xfrm>
          <a:prstGeom prst="rect">
            <a:avLst/>
          </a:prstGeom>
        </p:spPr>
      </p:pic>
    </p:spTree>
    <p:extLst>
      <p:ext uri="{BB962C8B-B14F-4D97-AF65-F5344CB8AC3E}">
        <p14:creationId xmlns:p14="http://schemas.microsoft.com/office/powerpoint/2010/main" val="41959999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defTabSz="914400" rtl="0" eaLnBrk="1" latinLnBrk="0" hangingPunct="1">
        <a:lnSpc>
          <a:spcPct val="90000"/>
        </a:lnSpc>
        <a:spcBef>
          <a:spcPct val="0"/>
        </a:spcBef>
        <a:buNone/>
        <a:defRPr sz="4400" b="1" kern="1200">
          <a:solidFill>
            <a:srgbClr val="0A764A"/>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BD955B"/>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BD955B"/>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BD955B"/>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BD955B"/>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BD955B"/>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1_FF7179F6.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hyperlink" Target="mailto:mgarlick@greyedgegroup.com" TargetMode="External"/><Relationship Id="rId7" Type="http://schemas.openxmlformats.org/officeDocument/2006/relationships/image" Target="../media/image32.jpeg"/><Relationship Id="rId2" Type="http://schemas.openxmlformats.org/officeDocument/2006/relationships/hyperlink" Target="mailto:cmillard@vail.gov" TargetMode="External"/><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4">
            <a:alphaModFix amt="50000"/>
            <a:lum/>
          </a:blip>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556BA9-088E-8FAB-7192-782C7FA2CDE4}"/>
              </a:ext>
            </a:extLst>
          </p:cNvPr>
          <p:cNvSpPr txBox="1"/>
          <p:nvPr/>
        </p:nvSpPr>
        <p:spPr>
          <a:xfrm>
            <a:off x="264199" y="5314752"/>
            <a:ext cx="6633932" cy="830997"/>
          </a:xfrm>
          <a:prstGeom prst="rect">
            <a:avLst/>
          </a:prstGeom>
          <a:noFill/>
        </p:spPr>
        <p:txBody>
          <a:bodyPr wrap="none" rtlCol="0">
            <a:spAutoFit/>
          </a:bodyPr>
          <a:lstStyle/>
          <a:p>
            <a:r>
              <a:rPr lang="en-US" sz="2400" b="1" dirty="0"/>
              <a:t>Cameron Millard, Clean Energy Specialist</a:t>
            </a:r>
          </a:p>
          <a:p>
            <a:r>
              <a:rPr lang="en-US" sz="2400" b="1" dirty="0"/>
              <a:t>Dept. of Environmental Sustainability, Town of Vail</a:t>
            </a:r>
          </a:p>
        </p:txBody>
      </p:sp>
      <p:sp>
        <p:nvSpPr>
          <p:cNvPr id="11" name="TextBox 10">
            <a:extLst>
              <a:ext uri="{FF2B5EF4-FFF2-40B4-BE49-F238E27FC236}">
                <a16:creationId xmlns:a16="http://schemas.microsoft.com/office/drawing/2014/main" id="{8AC3B373-1DDC-AFB8-575B-8D1C9BDAA08F}"/>
              </a:ext>
            </a:extLst>
          </p:cNvPr>
          <p:cNvSpPr txBox="1"/>
          <p:nvPr/>
        </p:nvSpPr>
        <p:spPr>
          <a:xfrm>
            <a:off x="7283812" y="5314752"/>
            <a:ext cx="5338618" cy="1200329"/>
          </a:xfrm>
          <a:prstGeom prst="rect">
            <a:avLst/>
          </a:prstGeom>
          <a:noFill/>
        </p:spPr>
        <p:txBody>
          <a:bodyPr wrap="square" rtlCol="0">
            <a:spAutoFit/>
          </a:bodyPr>
          <a:lstStyle/>
          <a:p>
            <a:r>
              <a:rPr lang="en-US" sz="2400" b="1" dirty="0"/>
              <a:t>Matt Garlick CCP, CEM, BEMP</a:t>
            </a:r>
          </a:p>
          <a:p>
            <a:r>
              <a:rPr lang="en-US" sz="2400" b="1" dirty="0"/>
              <a:t>CEO, The GreyEdge Group</a:t>
            </a:r>
          </a:p>
          <a:p>
            <a:endParaRPr lang="en-US" sz="2400" dirty="0"/>
          </a:p>
        </p:txBody>
      </p:sp>
      <p:sp>
        <p:nvSpPr>
          <p:cNvPr id="13" name="TextBox 12">
            <a:extLst>
              <a:ext uri="{FF2B5EF4-FFF2-40B4-BE49-F238E27FC236}">
                <a16:creationId xmlns:a16="http://schemas.microsoft.com/office/drawing/2014/main" id="{A3108FD8-F313-8B8C-B501-D8B0D0B77D2B}"/>
              </a:ext>
            </a:extLst>
          </p:cNvPr>
          <p:cNvSpPr txBox="1"/>
          <p:nvPr/>
        </p:nvSpPr>
        <p:spPr>
          <a:xfrm>
            <a:off x="448926" y="1436202"/>
            <a:ext cx="11577035" cy="646331"/>
          </a:xfrm>
          <a:prstGeom prst="rect">
            <a:avLst/>
          </a:prstGeom>
          <a:noFill/>
        </p:spPr>
        <p:txBody>
          <a:bodyPr wrap="square" rtlCol="0">
            <a:spAutoFit/>
          </a:bodyPr>
          <a:lstStyle/>
          <a:p>
            <a:r>
              <a:rPr lang="en-US" sz="3600" dirty="0">
                <a:solidFill>
                  <a:srgbClr val="0A764A"/>
                </a:solidFill>
              </a:rPr>
              <a:t>Colorado Association of Ski Towns, Jan 30</a:t>
            </a:r>
            <a:r>
              <a:rPr lang="en-US" sz="3600" baseline="30000" dirty="0">
                <a:solidFill>
                  <a:srgbClr val="0A764A"/>
                </a:solidFill>
              </a:rPr>
              <a:t>th</a:t>
            </a:r>
            <a:r>
              <a:rPr lang="en-US" sz="3600" dirty="0">
                <a:solidFill>
                  <a:srgbClr val="0A764A"/>
                </a:solidFill>
              </a:rPr>
              <a:t> 2025 </a:t>
            </a:r>
          </a:p>
        </p:txBody>
      </p:sp>
      <p:sp>
        <p:nvSpPr>
          <p:cNvPr id="2" name="TextBox 1">
            <a:extLst>
              <a:ext uri="{FF2B5EF4-FFF2-40B4-BE49-F238E27FC236}">
                <a16:creationId xmlns:a16="http://schemas.microsoft.com/office/drawing/2014/main" id="{CB09A71C-226C-6696-B262-CE8FCFBB1A55}"/>
              </a:ext>
            </a:extLst>
          </p:cNvPr>
          <p:cNvSpPr txBox="1"/>
          <p:nvPr/>
        </p:nvSpPr>
        <p:spPr>
          <a:xfrm>
            <a:off x="448925" y="294461"/>
            <a:ext cx="11577035" cy="1323439"/>
          </a:xfrm>
          <a:prstGeom prst="rect">
            <a:avLst/>
          </a:prstGeom>
          <a:noFill/>
        </p:spPr>
        <p:txBody>
          <a:bodyPr wrap="square" rtlCol="0">
            <a:spAutoFit/>
          </a:bodyPr>
          <a:lstStyle/>
          <a:p>
            <a:r>
              <a:rPr lang="en-US" sz="4000" b="1" i="1" dirty="0">
                <a:solidFill>
                  <a:srgbClr val="0A764A"/>
                </a:solidFill>
                <a:effectLst/>
              </a:rPr>
              <a:t>Thermal Energy Networks- </a:t>
            </a:r>
          </a:p>
          <a:p>
            <a:r>
              <a:rPr lang="en-US" sz="4000" b="1" i="1" dirty="0">
                <a:solidFill>
                  <a:srgbClr val="0A764A"/>
                </a:solidFill>
                <a:effectLst/>
              </a:rPr>
              <a:t>A Realistic Path to Reduced Mountain Town Emissions</a:t>
            </a:r>
            <a:endParaRPr lang="en-US" sz="4000" dirty="0">
              <a:solidFill>
                <a:srgbClr val="0A764A"/>
              </a:solidFill>
            </a:endParaRPr>
          </a:p>
        </p:txBody>
      </p:sp>
      <p:pic>
        <p:nvPicPr>
          <p:cNvPr id="4" name="Picture 3" descr="A person in a suit and tie&#10;&#10;Description automatically generated">
            <a:extLst>
              <a:ext uri="{FF2B5EF4-FFF2-40B4-BE49-F238E27FC236}">
                <a16:creationId xmlns:a16="http://schemas.microsoft.com/office/drawing/2014/main" id="{F796E47A-25BD-A348-1363-068B0708AE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2695" y="2439797"/>
            <a:ext cx="1915297" cy="2874955"/>
          </a:xfrm>
          <a:prstGeom prst="roundRect">
            <a:avLst>
              <a:gd name="adj" fmla="val 8594"/>
            </a:avLst>
          </a:prstGeom>
          <a:solidFill>
            <a:srgbClr val="FFFFFF">
              <a:shade val="85000"/>
            </a:srgbClr>
          </a:solidFill>
          <a:ln>
            <a:noFill/>
          </a:ln>
          <a:effectLst/>
        </p:spPr>
      </p:pic>
      <p:pic>
        <p:nvPicPr>
          <p:cNvPr id="5" name="Picture 4">
            <a:extLst>
              <a:ext uri="{FF2B5EF4-FFF2-40B4-BE49-F238E27FC236}">
                <a16:creationId xmlns:a16="http://schemas.microsoft.com/office/drawing/2014/main" id="{61573F53-A9F4-A78B-ED27-192671D0A89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7912721" y="2658059"/>
            <a:ext cx="2438430" cy="2438430"/>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4285626870"/>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936A70-F648-1C65-81BB-509B35766506}"/>
              </a:ext>
            </a:extLst>
          </p:cNvPr>
          <p:cNvSpPr txBox="1"/>
          <p:nvPr/>
        </p:nvSpPr>
        <p:spPr>
          <a:xfrm>
            <a:off x="31981" y="1519157"/>
            <a:ext cx="6425552" cy="2674578"/>
          </a:xfrm>
          <a:prstGeom prst="rect">
            <a:avLst/>
          </a:prstGeom>
          <a:noFill/>
        </p:spPr>
        <p:txBody>
          <a:bodyPr wrap="square" lIns="91440" tIns="45720" rIns="91440" bIns="45720" rtlCol="0" anchor="t">
            <a:spAutoFit/>
          </a:bodyPr>
          <a:lstStyle/>
          <a:p>
            <a:pPr marL="342900" indent="-342900">
              <a:lnSpc>
                <a:spcPct val="90000"/>
              </a:lnSpc>
              <a:spcBef>
                <a:spcPts val="1000"/>
              </a:spcBef>
              <a:buClr>
                <a:srgbClr val="BD955B"/>
              </a:buClr>
              <a:buFont typeface="Arial" panose="020B0604020202020204" pitchFamily="34" charset="0"/>
              <a:buChar char="•"/>
              <a:defRPr/>
            </a:pPr>
            <a:r>
              <a:rPr lang="en-US" sz="2800" dirty="0"/>
              <a:t>The Falcon Curve</a:t>
            </a:r>
            <a:endParaRPr lang="en-US" sz="2400" dirty="0"/>
          </a:p>
          <a:p>
            <a:pPr marL="342900" indent="-342900">
              <a:lnSpc>
                <a:spcPct val="90000"/>
              </a:lnSpc>
              <a:spcBef>
                <a:spcPts val="1000"/>
              </a:spcBef>
              <a:buClr>
                <a:srgbClr val="BD955B"/>
              </a:buClr>
              <a:buFont typeface="Arial" panose="020B0604020202020204" pitchFamily="34" charset="0"/>
              <a:buChar char="•"/>
              <a:defRPr/>
            </a:pPr>
            <a:r>
              <a:rPr lang="en-US" sz="2800" dirty="0"/>
              <a:t>Electrification and EVs </a:t>
            </a:r>
          </a:p>
          <a:p>
            <a:pPr marL="342900" marR="0" lvl="0" indent="-342900" algn="l" defTabSz="914400" rtl="0" eaLnBrk="1" fontAlgn="auto" latinLnBrk="0" hangingPunct="1">
              <a:lnSpc>
                <a:spcPct val="90000"/>
              </a:lnSpc>
              <a:spcBef>
                <a:spcPts val="1000"/>
              </a:spcBef>
              <a:spcAft>
                <a:spcPts val="0"/>
              </a:spcAft>
              <a:buClr>
                <a:srgbClr val="BD955B"/>
              </a:buClr>
              <a:buSzTx/>
              <a:buFont typeface="Arial" panose="020B0604020202020204" pitchFamily="34" charset="0"/>
              <a:buChar char="•"/>
              <a:tabLst/>
              <a:defRPr/>
            </a:pPr>
            <a:r>
              <a:rPr lang="en-US" sz="2800" dirty="0"/>
              <a:t>Mountain Towns have unique challenges</a:t>
            </a:r>
          </a:p>
          <a:p>
            <a:pPr marL="342900" marR="0" lvl="0" indent="-342900" algn="l" defTabSz="914400" rtl="0" eaLnBrk="1" fontAlgn="auto" latinLnBrk="0" hangingPunct="1">
              <a:lnSpc>
                <a:spcPct val="90000"/>
              </a:lnSpc>
              <a:spcBef>
                <a:spcPts val="1000"/>
              </a:spcBef>
              <a:spcAft>
                <a:spcPts val="0"/>
              </a:spcAft>
              <a:buClr>
                <a:srgbClr val="BD955B"/>
              </a:buClr>
              <a:buSzTx/>
              <a:buFont typeface="Arial" panose="020B0604020202020204" pitchFamily="34" charset="0"/>
              <a:buChar char="•"/>
              <a:tabLst/>
              <a:defRPr/>
            </a:pPr>
            <a:r>
              <a:rPr lang="en-US" sz="2800" dirty="0"/>
              <a:t>The last 10% will be the hardest</a:t>
            </a:r>
          </a:p>
          <a:p>
            <a:endParaRPr lang="en-US" sz="2400" dirty="0"/>
          </a:p>
          <a:p>
            <a:endParaRPr lang="en-US" dirty="0"/>
          </a:p>
        </p:txBody>
      </p:sp>
      <p:sp>
        <p:nvSpPr>
          <p:cNvPr id="4" name="TextBox 3">
            <a:extLst>
              <a:ext uri="{FF2B5EF4-FFF2-40B4-BE49-F238E27FC236}">
                <a16:creationId xmlns:a16="http://schemas.microsoft.com/office/drawing/2014/main" id="{28F6A1B1-712A-AB54-133A-ABDF37EEE203}"/>
              </a:ext>
            </a:extLst>
          </p:cNvPr>
          <p:cNvSpPr txBox="1"/>
          <p:nvPr/>
        </p:nvSpPr>
        <p:spPr>
          <a:xfrm>
            <a:off x="216618" y="248678"/>
            <a:ext cx="11587459" cy="1077218"/>
          </a:xfrm>
          <a:prstGeom prst="rect">
            <a:avLst/>
          </a:prstGeom>
          <a:noFill/>
        </p:spPr>
        <p:txBody>
          <a:bodyPr wrap="square" lIns="91440" tIns="45720" rIns="91440" bIns="45720" rtlCol="0" anchor="t">
            <a:spAutoFit/>
          </a:bodyPr>
          <a:lstStyle/>
          <a:p>
            <a:r>
              <a:rPr lang="en-US" sz="3200" dirty="0">
                <a:solidFill>
                  <a:schemeClr val="accent1"/>
                </a:solidFill>
              </a:rPr>
              <a:t>Grid Decarbonization</a:t>
            </a:r>
          </a:p>
          <a:p>
            <a:endParaRPr lang="en-US" sz="3200" dirty="0"/>
          </a:p>
        </p:txBody>
      </p:sp>
      <p:pic>
        <p:nvPicPr>
          <p:cNvPr id="6" name="Picture 5">
            <a:extLst>
              <a:ext uri="{FF2B5EF4-FFF2-40B4-BE49-F238E27FC236}">
                <a16:creationId xmlns:a16="http://schemas.microsoft.com/office/drawing/2014/main" id="{A8A207B4-0482-187C-2743-A7DAD7F974C1}"/>
              </a:ext>
            </a:extLst>
          </p:cNvPr>
          <p:cNvPicPr>
            <a:picLocks noChangeAspect="1"/>
          </p:cNvPicPr>
          <p:nvPr/>
        </p:nvPicPr>
        <p:blipFill rotWithShape="1">
          <a:blip r:embed="rId2"/>
          <a:srcRect l="16828" r="30959" b="7690"/>
          <a:stretch/>
        </p:blipFill>
        <p:spPr>
          <a:xfrm>
            <a:off x="6382119" y="-8574"/>
            <a:ext cx="5777900" cy="6866574"/>
          </a:xfrm>
          <a:prstGeom prst="roundRect">
            <a:avLst>
              <a:gd name="adj" fmla="val 8594"/>
            </a:avLst>
          </a:prstGeom>
          <a:solidFill>
            <a:srgbClr val="FFFFFF">
              <a:shade val="85000"/>
            </a:srgbClr>
          </a:solidFill>
          <a:ln>
            <a:noFill/>
          </a:ln>
          <a:effectLst/>
        </p:spPr>
      </p:pic>
      <p:pic>
        <p:nvPicPr>
          <p:cNvPr id="7" name="Picture 6">
            <a:extLst>
              <a:ext uri="{FF2B5EF4-FFF2-40B4-BE49-F238E27FC236}">
                <a16:creationId xmlns:a16="http://schemas.microsoft.com/office/drawing/2014/main" id="{F65205DB-B725-1FAE-39F4-5008718164D6}"/>
              </a:ext>
            </a:extLst>
          </p:cNvPr>
          <p:cNvPicPr>
            <a:picLocks noChangeAspect="1"/>
          </p:cNvPicPr>
          <p:nvPr/>
        </p:nvPicPr>
        <p:blipFill rotWithShape="1">
          <a:blip r:embed="rId2"/>
          <a:srcRect t="91342"/>
          <a:stretch/>
        </p:blipFill>
        <p:spPr>
          <a:xfrm>
            <a:off x="75414" y="6400010"/>
            <a:ext cx="7869142" cy="457990"/>
          </a:xfrm>
          <a:prstGeom prst="rect">
            <a:avLst/>
          </a:prstGeom>
        </p:spPr>
      </p:pic>
    </p:spTree>
    <p:extLst>
      <p:ext uri="{BB962C8B-B14F-4D97-AF65-F5344CB8AC3E}">
        <p14:creationId xmlns:p14="http://schemas.microsoft.com/office/powerpoint/2010/main" val="4278631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8F6CA26-EBA7-944A-CB81-C296D35FCFB6}"/>
              </a:ext>
            </a:extLst>
          </p:cNvPr>
          <p:cNvPicPr>
            <a:picLocks noChangeAspect="1"/>
          </p:cNvPicPr>
          <p:nvPr/>
        </p:nvPicPr>
        <p:blipFill rotWithShape="1">
          <a:blip r:embed="rId3">
            <a:extLst>
              <a:ext uri="{28A0092B-C50C-407E-A947-70E740481C1C}">
                <a14:useLocalDpi xmlns:a14="http://schemas.microsoft.com/office/drawing/2010/main" val="0"/>
              </a:ext>
            </a:extLst>
          </a:blip>
          <a:srcRect b="4624"/>
          <a:stretch/>
        </p:blipFill>
        <p:spPr>
          <a:xfrm>
            <a:off x="1070121" y="950053"/>
            <a:ext cx="10419916" cy="5646337"/>
          </a:xfrm>
          <a:prstGeom prst="roundRect">
            <a:avLst>
              <a:gd name="adj" fmla="val 8594"/>
            </a:avLst>
          </a:prstGeom>
          <a:solidFill>
            <a:srgbClr val="FFFFFF">
              <a:shade val="85000"/>
            </a:srgbClr>
          </a:solidFill>
          <a:ln>
            <a:noFill/>
          </a:ln>
          <a:effectLst/>
        </p:spPr>
      </p:pic>
      <p:sp>
        <p:nvSpPr>
          <p:cNvPr id="2" name="TextBox 1">
            <a:extLst>
              <a:ext uri="{FF2B5EF4-FFF2-40B4-BE49-F238E27FC236}">
                <a16:creationId xmlns:a16="http://schemas.microsoft.com/office/drawing/2014/main" id="{F9F2B114-18D2-123E-BAB6-B135D1B33531}"/>
              </a:ext>
            </a:extLst>
          </p:cNvPr>
          <p:cNvSpPr txBox="1"/>
          <p:nvPr/>
        </p:nvSpPr>
        <p:spPr>
          <a:xfrm>
            <a:off x="248084" y="233781"/>
            <a:ext cx="11343553" cy="584775"/>
          </a:xfrm>
          <a:prstGeom prst="rect">
            <a:avLst/>
          </a:prstGeom>
          <a:noFill/>
        </p:spPr>
        <p:txBody>
          <a:bodyPr wrap="square" lIns="91440" tIns="45720" rIns="91440" bIns="45720" rtlCol="0" anchor="t">
            <a:spAutoFit/>
          </a:bodyPr>
          <a:lstStyle/>
          <a:p>
            <a:r>
              <a:rPr lang="en-US" sz="3200" dirty="0">
                <a:solidFill>
                  <a:schemeClr val="accent1"/>
                </a:solidFill>
              </a:rPr>
              <a:t>Thermal Energy Networks (TENs)</a:t>
            </a:r>
            <a:endParaRPr lang="en-US" sz="3200" dirty="0">
              <a:solidFill>
                <a:schemeClr val="accent1"/>
              </a:solidFill>
              <a:ea typeface="Calibri" panose="020F0502020204030204"/>
              <a:cs typeface="Calibri" panose="020F0502020204030204"/>
            </a:endParaRPr>
          </a:p>
        </p:txBody>
      </p:sp>
      <p:sp>
        <p:nvSpPr>
          <p:cNvPr id="13" name="TextBox 12">
            <a:extLst>
              <a:ext uri="{FF2B5EF4-FFF2-40B4-BE49-F238E27FC236}">
                <a16:creationId xmlns:a16="http://schemas.microsoft.com/office/drawing/2014/main" id="{0D124C38-2EFF-718C-4E9E-04F8AD8DC92E}"/>
              </a:ext>
            </a:extLst>
          </p:cNvPr>
          <p:cNvSpPr txBox="1"/>
          <p:nvPr/>
        </p:nvSpPr>
        <p:spPr>
          <a:xfrm>
            <a:off x="0" y="6632996"/>
            <a:ext cx="2447778" cy="261610"/>
          </a:xfrm>
          <a:prstGeom prst="rect">
            <a:avLst/>
          </a:prstGeom>
          <a:noFill/>
        </p:spPr>
        <p:txBody>
          <a:bodyPr wrap="square" rtlCol="0">
            <a:spAutoFit/>
          </a:bodyPr>
          <a:lstStyle/>
          <a:p>
            <a:r>
              <a:rPr lang="en-US" sz="1100" dirty="0"/>
              <a:t>Image Credit: HEET</a:t>
            </a:r>
          </a:p>
        </p:txBody>
      </p:sp>
      <p:sp>
        <p:nvSpPr>
          <p:cNvPr id="3" name="Rectangle 2">
            <a:extLst>
              <a:ext uri="{FF2B5EF4-FFF2-40B4-BE49-F238E27FC236}">
                <a16:creationId xmlns:a16="http://schemas.microsoft.com/office/drawing/2014/main" id="{E4DAD8B9-07ED-C697-5970-44E01B3D22AF}"/>
              </a:ext>
            </a:extLst>
          </p:cNvPr>
          <p:cNvSpPr/>
          <p:nvPr/>
        </p:nvSpPr>
        <p:spPr>
          <a:xfrm>
            <a:off x="8146259" y="1745674"/>
            <a:ext cx="2863272" cy="26161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rgbClr val="447C88"/>
                </a:solidFill>
                <a:highlight>
                  <a:srgbClr val="FFFFFF"/>
                </a:highlight>
              </a:rPr>
              <a:t>Thermal Energy Networks</a:t>
            </a:r>
          </a:p>
        </p:txBody>
      </p:sp>
    </p:spTree>
    <p:extLst>
      <p:ext uri="{BB962C8B-B14F-4D97-AF65-F5344CB8AC3E}">
        <p14:creationId xmlns:p14="http://schemas.microsoft.com/office/powerpoint/2010/main" val="2706539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0E7B18-3BC6-1816-6DD4-134D3C85EA44}"/>
              </a:ext>
            </a:extLst>
          </p:cNvPr>
          <p:cNvSpPr txBox="1"/>
          <p:nvPr/>
        </p:nvSpPr>
        <p:spPr>
          <a:xfrm>
            <a:off x="177559" y="306274"/>
            <a:ext cx="10850880" cy="584775"/>
          </a:xfrm>
          <a:prstGeom prst="rect">
            <a:avLst/>
          </a:prstGeom>
          <a:noFill/>
        </p:spPr>
        <p:txBody>
          <a:bodyPr wrap="square" lIns="91440" tIns="45720" rIns="91440" bIns="45720" rtlCol="0" anchor="t">
            <a:spAutoFit/>
          </a:bodyPr>
          <a:lstStyle/>
          <a:p>
            <a:r>
              <a:rPr lang="en-US" sz="3200" dirty="0">
                <a:solidFill>
                  <a:schemeClr val="accent1"/>
                </a:solidFill>
              </a:rPr>
              <a:t>Heat Pump Systems</a:t>
            </a:r>
          </a:p>
        </p:txBody>
      </p:sp>
      <p:pic>
        <p:nvPicPr>
          <p:cNvPr id="5" name="Content Placeholder 4">
            <a:extLst>
              <a:ext uri="{FF2B5EF4-FFF2-40B4-BE49-F238E27FC236}">
                <a16:creationId xmlns:a16="http://schemas.microsoft.com/office/drawing/2014/main" id="{D357DFD4-7A25-5414-4C94-D4F2228BC6CD}"/>
              </a:ext>
            </a:extLst>
          </p:cNvPr>
          <p:cNvPicPr>
            <a:picLocks noChangeAspect="1"/>
          </p:cNvPicPr>
          <p:nvPr/>
        </p:nvPicPr>
        <p:blipFill rotWithShape="1">
          <a:blip r:embed="rId3"/>
          <a:srcRect l="57868" t="17732"/>
          <a:stretch/>
        </p:blipFill>
        <p:spPr>
          <a:xfrm>
            <a:off x="7278254" y="371479"/>
            <a:ext cx="4329696" cy="6115041"/>
          </a:xfrm>
          <a:prstGeom prst="roundRect">
            <a:avLst>
              <a:gd name="adj" fmla="val 8594"/>
            </a:avLst>
          </a:prstGeom>
          <a:solidFill>
            <a:srgbClr val="FFFFFF">
              <a:shade val="85000"/>
            </a:srgbClr>
          </a:solidFill>
          <a:ln>
            <a:noFill/>
          </a:ln>
          <a:effectLst/>
        </p:spPr>
      </p:pic>
      <p:pic>
        <p:nvPicPr>
          <p:cNvPr id="2" name="Picture 1">
            <a:extLst>
              <a:ext uri="{FF2B5EF4-FFF2-40B4-BE49-F238E27FC236}">
                <a16:creationId xmlns:a16="http://schemas.microsoft.com/office/drawing/2014/main" id="{2F27C9B7-4F5C-1F41-712C-ED0B9CBC00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879" y="2084904"/>
            <a:ext cx="5745017" cy="3021146"/>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1444074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A diagram of a modular heat energy management process&#10;&#10;Description automatically generated">
            <a:extLst>
              <a:ext uri="{FF2B5EF4-FFF2-40B4-BE49-F238E27FC236}">
                <a16:creationId xmlns:a16="http://schemas.microsoft.com/office/drawing/2014/main" id="{874D4AF7-6D84-FF93-99F0-3B28FC2CE0AF}"/>
              </a:ext>
            </a:extLst>
          </p:cNvPr>
          <p:cNvPicPr>
            <a:picLocks noChangeAspect="1"/>
          </p:cNvPicPr>
          <p:nvPr/>
        </p:nvPicPr>
        <p:blipFill rotWithShape="1">
          <a:blip r:embed="rId3"/>
          <a:srcRect t="10451"/>
          <a:stretch/>
        </p:blipFill>
        <p:spPr>
          <a:xfrm>
            <a:off x="1237674" y="802197"/>
            <a:ext cx="10160234" cy="5878163"/>
          </a:xfrm>
          <a:prstGeom prst="roundRect">
            <a:avLst>
              <a:gd name="adj" fmla="val 8594"/>
            </a:avLst>
          </a:prstGeom>
          <a:solidFill>
            <a:srgbClr val="FFFFFF">
              <a:shade val="85000"/>
            </a:srgbClr>
          </a:solidFill>
          <a:ln>
            <a:noFill/>
          </a:ln>
          <a:effectLst/>
        </p:spPr>
      </p:pic>
      <p:sp>
        <p:nvSpPr>
          <p:cNvPr id="3" name="TextBox 2">
            <a:extLst>
              <a:ext uri="{FF2B5EF4-FFF2-40B4-BE49-F238E27FC236}">
                <a16:creationId xmlns:a16="http://schemas.microsoft.com/office/drawing/2014/main" id="{F293A22B-EF60-2FB4-111C-1C6894821307}"/>
              </a:ext>
            </a:extLst>
          </p:cNvPr>
          <p:cNvSpPr txBox="1"/>
          <p:nvPr/>
        </p:nvSpPr>
        <p:spPr>
          <a:xfrm>
            <a:off x="221446" y="263589"/>
            <a:ext cx="11176461" cy="1077218"/>
          </a:xfrm>
          <a:prstGeom prst="rect">
            <a:avLst/>
          </a:prstGeom>
          <a:noFill/>
        </p:spPr>
        <p:txBody>
          <a:bodyPr wrap="square" lIns="91440" tIns="45720" rIns="91440" bIns="45720" rtlCol="0" anchor="t">
            <a:spAutoFit/>
          </a:bodyPr>
          <a:lstStyle/>
          <a:p>
            <a:r>
              <a:rPr lang="en-US" sz="3200" dirty="0">
                <a:solidFill>
                  <a:schemeClr val="accent1"/>
                </a:solidFill>
              </a:rPr>
              <a:t>The Ambient Temperature Loop</a:t>
            </a:r>
            <a:endParaRPr lang="en-US" sz="3200" dirty="0">
              <a:solidFill>
                <a:schemeClr val="accent1"/>
              </a:solidFill>
              <a:ea typeface="Calibri"/>
              <a:cs typeface="Calibri"/>
            </a:endParaRPr>
          </a:p>
          <a:p>
            <a:pPr algn="ctr"/>
            <a:endParaRPr lang="en-US" sz="3200" b="1" dirty="0">
              <a:solidFill>
                <a:schemeClr val="accent1"/>
              </a:solidFill>
            </a:endParaRPr>
          </a:p>
        </p:txBody>
      </p:sp>
    </p:spTree>
    <p:extLst>
      <p:ext uri="{BB962C8B-B14F-4D97-AF65-F5344CB8AC3E}">
        <p14:creationId xmlns:p14="http://schemas.microsoft.com/office/powerpoint/2010/main" val="967033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0E7B18-3BC6-1816-6DD4-134D3C85EA44}"/>
              </a:ext>
            </a:extLst>
          </p:cNvPr>
          <p:cNvSpPr txBox="1"/>
          <p:nvPr/>
        </p:nvSpPr>
        <p:spPr>
          <a:xfrm>
            <a:off x="200903" y="279461"/>
            <a:ext cx="10850880" cy="584775"/>
          </a:xfrm>
          <a:prstGeom prst="rect">
            <a:avLst/>
          </a:prstGeom>
          <a:noFill/>
        </p:spPr>
        <p:txBody>
          <a:bodyPr wrap="square" lIns="91440" tIns="45720" rIns="91440" bIns="45720" rtlCol="0" anchor="t">
            <a:spAutoFit/>
          </a:bodyPr>
          <a:lstStyle/>
          <a:p>
            <a:r>
              <a:rPr lang="en-US" sz="3200" dirty="0">
                <a:solidFill>
                  <a:schemeClr val="accent1"/>
                </a:solidFill>
              </a:rPr>
              <a:t>ATL Microgrids</a:t>
            </a:r>
          </a:p>
        </p:txBody>
      </p:sp>
      <p:pic>
        <p:nvPicPr>
          <p:cNvPr id="4" name="Content Placeholder 3">
            <a:extLst>
              <a:ext uri="{FF2B5EF4-FFF2-40B4-BE49-F238E27FC236}">
                <a16:creationId xmlns:a16="http://schemas.microsoft.com/office/drawing/2014/main" id="{B98FC010-6E61-F79C-427C-AA704957B265}"/>
              </a:ext>
            </a:extLst>
          </p:cNvPr>
          <p:cNvPicPr>
            <a:picLocks noChangeAspect="1"/>
          </p:cNvPicPr>
          <p:nvPr/>
        </p:nvPicPr>
        <p:blipFill rotWithShape="1">
          <a:blip r:embed="rId3"/>
          <a:srcRect l="47449" t="-3881" r="-505" b="1988"/>
          <a:stretch/>
        </p:blipFill>
        <p:spPr>
          <a:xfrm>
            <a:off x="3534630" y="254456"/>
            <a:ext cx="6459115" cy="6349087"/>
          </a:xfrm>
          <a:prstGeom prst="roundRect">
            <a:avLst>
              <a:gd name="adj" fmla="val 8594"/>
            </a:avLst>
          </a:prstGeom>
          <a:solidFill>
            <a:schemeClr val="bg1"/>
          </a:solidFill>
          <a:ln>
            <a:noFill/>
          </a:ln>
          <a:effectLst/>
        </p:spPr>
      </p:pic>
    </p:spTree>
    <p:extLst>
      <p:ext uri="{BB962C8B-B14F-4D97-AF65-F5344CB8AC3E}">
        <p14:creationId xmlns:p14="http://schemas.microsoft.com/office/powerpoint/2010/main" val="1550259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DF234-07C8-F32F-5777-4C04994810CB}"/>
              </a:ext>
            </a:extLst>
          </p:cNvPr>
          <p:cNvSpPr txBox="1"/>
          <p:nvPr/>
        </p:nvSpPr>
        <p:spPr>
          <a:xfrm>
            <a:off x="172190" y="275619"/>
            <a:ext cx="11327081" cy="584775"/>
          </a:xfrm>
          <a:prstGeom prst="rect">
            <a:avLst/>
          </a:prstGeom>
          <a:noFill/>
        </p:spPr>
        <p:txBody>
          <a:bodyPr wrap="square" lIns="91440" tIns="45720" rIns="91440" bIns="45720" rtlCol="0" anchor="t">
            <a:spAutoFit/>
          </a:bodyPr>
          <a:lstStyle/>
          <a:p>
            <a:r>
              <a:rPr lang="en-US" sz="3200" dirty="0">
                <a:solidFill>
                  <a:schemeClr val="accent1"/>
                </a:solidFill>
              </a:rPr>
              <a:t>Hybrid Systems – The 50/90 Rule</a:t>
            </a:r>
          </a:p>
        </p:txBody>
      </p:sp>
      <p:pic>
        <p:nvPicPr>
          <p:cNvPr id="4" name="Picture 2">
            <a:extLst>
              <a:ext uri="{FF2B5EF4-FFF2-40B4-BE49-F238E27FC236}">
                <a16:creationId xmlns:a16="http://schemas.microsoft.com/office/drawing/2014/main" id="{AA657A47-71E2-7C8A-6C74-866FC74A9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6809" y="1690256"/>
            <a:ext cx="7103187" cy="4365300"/>
          </a:xfrm>
          <a:prstGeom prst="roundRect">
            <a:avLst>
              <a:gd name="adj" fmla="val 8594"/>
            </a:avLst>
          </a:prstGeom>
          <a:solidFill>
            <a:srgbClr val="FFFFFF">
              <a:shade val="85000"/>
            </a:srgbClr>
          </a:solidFill>
          <a:ln>
            <a:noFill/>
          </a:ln>
          <a:effectLst/>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72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DF234-07C8-F32F-5777-4C04994810CB}"/>
              </a:ext>
            </a:extLst>
          </p:cNvPr>
          <p:cNvSpPr txBox="1"/>
          <p:nvPr/>
        </p:nvSpPr>
        <p:spPr>
          <a:xfrm>
            <a:off x="219357" y="267340"/>
            <a:ext cx="11270682" cy="584775"/>
          </a:xfrm>
          <a:prstGeom prst="rect">
            <a:avLst/>
          </a:prstGeom>
          <a:noFill/>
        </p:spPr>
        <p:txBody>
          <a:bodyPr wrap="square" lIns="91440" tIns="45720" rIns="91440" bIns="45720" rtlCol="0" anchor="t">
            <a:spAutoFit/>
          </a:bodyPr>
          <a:lstStyle/>
          <a:p>
            <a:r>
              <a:rPr lang="en-US" sz="3200" dirty="0">
                <a:solidFill>
                  <a:schemeClr val="accent1"/>
                </a:solidFill>
              </a:rPr>
              <a:t>The Value of System Diversity</a:t>
            </a:r>
          </a:p>
        </p:txBody>
      </p:sp>
      <p:grpSp>
        <p:nvGrpSpPr>
          <p:cNvPr id="6" name="Group 5">
            <a:extLst>
              <a:ext uri="{FF2B5EF4-FFF2-40B4-BE49-F238E27FC236}">
                <a16:creationId xmlns:a16="http://schemas.microsoft.com/office/drawing/2014/main" id="{677F0D1A-8F77-33B6-5070-A0FB9D69D5FA}"/>
              </a:ext>
            </a:extLst>
          </p:cNvPr>
          <p:cNvGrpSpPr/>
          <p:nvPr/>
        </p:nvGrpSpPr>
        <p:grpSpPr>
          <a:xfrm>
            <a:off x="866641" y="1671484"/>
            <a:ext cx="10310776" cy="3894093"/>
            <a:chOff x="1225477" y="1541707"/>
            <a:chExt cx="9533570" cy="3600564"/>
          </a:xfrm>
        </p:grpSpPr>
        <p:pic>
          <p:nvPicPr>
            <p:cNvPr id="4" name="Picture 3">
              <a:extLst>
                <a:ext uri="{FF2B5EF4-FFF2-40B4-BE49-F238E27FC236}">
                  <a16:creationId xmlns:a16="http://schemas.microsoft.com/office/drawing/2014/main" id="{232A3D41-71C0-8360-5FA3-00CB69EC8150}"/>
                </a:ext>
              </a:extLst>
            </p:cNvPr>
            <p:cNvPicPr>
              <a:picLocks noChangeAspect="1"/>
            </p:cNvPicPr>
            <p:nvPr/>
          </p:nvPicPr>
          <p:blipFill rotWithShape="1">
            <a:blip r:embed="rId3">
              <a:extLst>
                <a:ext uri="{28A0092B-C50C-407E-A947-70E740481C1C}">
                  <a14:useLocalDpi xmlns:a14="http://schemas.microsoft.com/office/drawing/2010/main" val="0"/>
                </a:ext>
              </a:extLst>
            </a:blip>
            <a:srcRect l="-654" t="33088" r="654" b="9323"/>
            <a:stretch/>
          </p:blipFill>
          <p:spPr>
            <a:xfrm>
              <a:off x="1225477" y="1541707"/>
              <a:ext cx="9533570" cy="3600564"/>
            </a:xfrm>
            <a:prstGeom prst="roundRect">
              <a:avLst>
                <a:gd name="adj" fmla="val 8594"/>
              </a:avLst>
            </a:prstGeom>
            <a:solidFill>
              <a:srgbClr val="FFFFFF">
                <a:shade val="85000"/>
              </a:srgbClr>
            </a:solidFill>
            <a:ln>
              <a:noFill/>
            </a:ln>
            <a:effectLst/>
          </p:spPr>
        </p:pic>
        <p:sp>
          <p:nvSpPr>
            <p:cNvPr id="3" name="Rectangle 2">
              <a:extLst>
                <a:ext uri="{FF2B5EF4-FFF2-40B4-BE49-F238E27FC236}">
                  <a16:creationId xmlns:a16="http://schemas.microsoft.com/office/drawing/2014/main" id="{350A720A-A7F3-211B-E418-FAF3EFC66017}"/>
                </a:ext>
              </a:extLst>
            </p:cNvPr>
            <p:cNvSpPr/>
            <p:nvPr/>
          </p:nvSpPr>
          <p:spPr>
            <a:xfrm>
              <a:off x="5684968" y="4537760"/>
              <a:ext cx="1335024" cy="6045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E971F533-A8B5-9449-7BB5-4FE64B4D6F01}"/>
              </a:ext>
            </a:extLst>
          </p:cNvPr>
          <p:cNvSpPr txBox="1"/>
          <p:nvPr/>
        </p:nvSpPr>
        <p:spPr>
          <a:xfrm>
            <a:off x="0" y="6590660"/>
            <a:ext cx="3266768" cy="307777"/>
          </a:xfrm>
          <a:prstGeom prst="rect">
            <a:avLst/>
          </a:prstGeom>
          <a:noFill/>
        </p:spPr>
        <p:txBody>
          <a:bodyPr wrap="square" rtlCol="0">
            <a:spAutoFit/>
          </a:bodyPr>
          <a:lstStyle/>
          <a:p>
            <a:r>
              <a:rPr lang="en-US" sz="1400" dirty="0"/>
              <a:t>Image Credit: burohappold.com</a:t>
            </a:r>
          </a:p>
        </p:txBody>
      </p:sp>
    </p:spTree>
    <p:extLst>
      <p:ext uri="{BB962C8B-B14F-4D97-AF65-F5344CB8AC3E}">
        <p14:creationId xmlns:p14="http://schemas.microsoft.com/office/powerpoint/2010/main" val="3885770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DF234-07C8-F32F-5777-4C04994810CB}"/>
              </a:ext>
            </a:extLst>
          </p:cNvPr>
          <p:cNvSpPr txBox="1"/>
          <p:nvPr/>
        </p:nvSpPr>
        <p:spPr>
          <a:xfrm>
            <a:off x="219357" y="267340"/>
            <a:ext cx="11270682" cy="584775"/>
          </a:xfrm>
          <a:prstGeom prst="rect">
            <a:avLst/>
          </a:prstGeom>
          <a:noFill/>
        </p:spPr>
        <p:txBody>
          <a:bodyPr wrap="square" lIns="91440" tIns="45720" rIns="91440" bIns="45720" rtlCol="0" anchor="t">
            <a:spAutoFit/>
          </a:bodyPr>
          <a:lstStyle/>
          <a:p>
            <a:r>
              <a:rPr lang="en-US" sz="3200" dirty="0">
                <a:solidFill>
                  <a:schemeClr val="accent1"/>
                </a:solidFill>
              </a:rPr>
              <a:t>Ownership Models</a:t>
            </a:r>
          </a:p>
        </p:txBody>
      </p:sp>
      <p:sp>
        <p:nvSpPr>
          <p:cNvPr id="5" name="TextBox 4">
            <a:extLst>
              <a:ext uri="{FF2B5EF4-FFF2-40B4-BE49-F238E27FC236}">
                <a16:creationId xmlns:a16="http://schemas.microsoft.com/office/drawing/2014/main" id="{270D452C-FB66-54C7-2DEA-4E9D3BB7A13D}"/>
              </a:ext>
            </a:extLst>
          </p:cNvPr>
          <p:cNvSpPr txBox="1"/>
          <p:nvPr/>
        </p:nvSpPr>
        <p:spPr>
          <a:xfrm>
            <a:off x="7314646" y="1937605"/>
            <a:ext cx="2414001" cy="3785652"/>
          </a:xfrm>
          <a:prstGeom prst="rect">
            <a:avLst/>
          </a:prstGeom>
          <a:noFill/>
        </p:spPr>
        <p:txBody>
          <a:bodyPr wrap="square" rtlCol="0">
            <a:spAutoFit/>
          </a:bodyPr>
          <a:lstStyle/>
          <a:p>
            <a:r>
              <a:rPr lang="en-US" sz="4800" b="1" dirty="0"/>
              <a:t>Finance</a:t>
            </a:r>
          </a:p>
          <a:p>
            <a:endParaRPr lang="en-US" sz="4800" b="1" dirty="0"/>
          </a:p>
          <a:p>
            <a:r>
              <a:rPr lang="en-US" sz="4800" b="1" dirty="0"/>
              <a:t>Own</a:t>
            </a:r>
          </a:p>
          <a:p>
            <a:endParaRPr lang="en-US" sz="4800" b="1" dirty="0"/>
          </a:p>
          <a:p>
            <a:r>
              <a:rPr lang="en-US" sz="4800" b="1" dirty="0"/>
              <a:t>Operate</a:t>
            </a:r>
          </a:p>
        </p:txBody>
      </p:sp>
      <p:cxnSp>
        <p:nvCxnSpPr>
          <p:cNvPr id="6" name="Straight Connector 5">
            <a:extLst>
              <a:ext uri="{FF2B5EF4-FFF2-40B4-BE49-F238E27FC236}">
                <a16:creationId xmlns:a16="http://schemas.microsoft.com/office/drawing/2014/main" id="{170BF1D9-39E1-450A-D566-318BE7F476BB}"/>
              </a:ext>
            </a:extLst>
          </p:cNvPr>
          <p:cNvCxnSpPr>
            <a:cxnSpLocks/>
          </p:cNvCxnSpPr>
          <p:nvPr/>
        </p:nvCxnSpPr>
        <p:spPr>
          <a:xfrm>
            <a:off x="5234240" y="2349996"/>
            <a:ext cx="1906438" cy="0"/>
          </a:xfrm>
          <a:prstGeom prst="line">
            <a:avLst/>
          </a:prstGeom>
          <a:ln w="76200">
            <a:solidFill>
              <a:srgbClr val="FFC000"/>
            </a:solidFill>
          </a:ln>
        </p:spPr>
        <p:style>
          <a:lnRef idx="3">
            <a:schemeClr val="accent6"/>
          </a:lnRef>
          <a:fillRef idx="0">
            <a:schemeClr val="accent6"/>
          </a:fillRef>
          <a:effectRef idx="2">
            <a:schemeClr val="accent6"/>
          </a:effectRef>
          <a:fontRef idx="minor">
            <a:schemeClr val="tx1"/>
          </a:fontRef>
        </p:style>
      </p:cxnSp>
      <p:cxnSp>
        <p:nvCxnSpPr>
          <p:cNvPr id="7" name="Straight Connector 6">
            <a:extLst>
              <a:ext uri="{FF2B5EF4-FFF2-40B4-BE49-F238E27FC236}">
                <a16:creationId xmlns:a16="http://schemas.microsoft.com/office/drawing/2014/main" id="{615750A2-4A53-3A12-6F83-8A6521B2A128}"/>
              </a:ext>
            </a:extLst>
          </p:cNvPr>
          <p:cNvCxnSpPr>
            <a:cxnSpLocks/>
          </p:cNvCxnSpPr>
          <p:nvPr/>
        </p:nvCxnSpPr>
        <p:spPr>
          <a:xfrm flipV="1">
            <a:off x="5165229" y="2359828"/>
            <a:ext cx="1975449" cy="1437954"/>
          </a:xfrm>
          <a:prstGeom prst="line">
            <a:avLst/>
          </a:prstGeom>
          <a:ln w="76200">
            <a:solidFill>
              <a:srgbClr val="0070C0"/>
            </a:solidFill>
          </a:ln>
        </p:spPr>
        <p:style>
          <a:lnRef idx="3">
            <a:schemeClr val="accent6"/>
          </a:lnRef>
          <a:fillRef idx="0">
            <a:schemeClr val="accent6"/>
          </a:fillRef>
          <a:effectRef idx="2">
            <a:schemeClr val="accent6"/>
          </a:effectRef>
          <a:fontRef idx="minor">
            <a:schemeClr val="tx1"/>
          </a:fontRef>
        </p:style>
      </p:cxnSp>
      <p:cxnSp>
        <p:nvCxnSpPr>
          <p:cNvPr id="8" name="Straight Connector 7">
            <a:extLst>
              <a:ext uri="{FF2B5EF4-FFF2-40B4-BE49-F238E27FC236}">
                <a16:creationId xmlns:a16="http://schemas.microsoft.com/office/drawing/2014/main" id="{36B186E4-4AF5-C9C0-A0E3-627BCC8CA2ED}"/>
              </a:ext>
            </a:extLst>
          </p:cNvPr>
          <p:cNvCxnSpPr>
            <a:cxnSpLocks/>
          </p:cNvCxnSpPr>
          <p:nvPr/>
        </p:nvCxnSpPr>
        <p:spPr>
          <a:xfrm flipV="1">
            <a:off x="5327215" y="2349995"/>
            <a:ext cx="1813463" cy="2904228"/>
          </a:xfrm>
          <a:prstGeom prst="line">
            <a:avLst/>
          </a:prstGeom>
          <a:ln w="76200">
            <a:solidFill>
              <a:srgbClr val="92D050"/>
            </a:solidFill>
          </a:ln>
        </p:spPr>
        <p:style>
          <a:lnRef idx="3">
            <a:schemeClr val="accent6"/>
          </a:lnRef>
          <a:fillRef idx="0">
            <a:schemeClr val="accent6"/>
          </a:fillRef>
          <a:effectRef idx="2">
            <a:schemeClr val="accent6"/>
          </a:effectRef>
          <a:fontRef idx="minor">
            <a:schemeClr val="tx1"/>
          </a:fontRef>
        </p:style>
      </p:cxnSp>
      <p:cxnSp>
        <p:nvCxnSpPr>
          <p:cNvPr id="9" name="Straight Connector 8">
            <a:extLst>
              <a:ext uri="{FF2B5EF4-FFF2-40B4-BE49-F238E27FC236}">
                <a16:creationId xmlns:a16="http://schemas.microsoft.com/office/drawing/2014/main" id="{0D84FEB6-506C-54DD-6D49-AD03E0251B3B}"/>
              </a:ext>
            </a:extLst>
          </p:cNvPr>
          <p:cNvCxnSpPr>
            <a:cxnSpLocks/>
          </p:cNvCxnSpPr>
          <p:nvPr/>
        </p:nvCxnSpPr>
        <p:spPr>
          <a:xfrm>
            <a:off x="5268745" y="2364156"/>
            <a:ext cx="1940944" cy="1423794"/>
          </a:xfrm>
          <a:prstGeom prst="line">
            <a:avLst/>
          </a:prstGeom>
          <a:ln w="76200">
            <a:solidFill>
              <a:srgbClr val="FFC000"/>
            </a:solidFill>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E219BCD1-42D1-3D8D-E06E-61D756B0531C}"/>
              </a:ext>
            </a:extLst>
          </p:cNvPr>
          <p:cNvCxnSpPr>
            <a:cxnSpLocks/>
          </p:cNvCxnSpPr>
          <p:nvPr/>
        </p:nvCxnSpPr>
        <p:spPr>
          <a:xfrm>
            <a:off x="5327215" y="5254223"/>
            <a:ext cx="1906438" cy="0"/>
          </a:xfrm>
          <a:prstGeom prst="line">
            <a:avLst/>
          </a:prstGeom>
          <a:ln w="76200">
            <a:solidFill>
              <a:srgbClr val="92D050"/>
            </a:solidFill>
          </a:ln>
        </p:spPr>
        <p:style>
          <a:lnRef idx="3">
            <a:schemeClr val="accent6"/>
          </a:lnRef>
          <a:fillRef idx="0">
            <a:schemeClr val="accent6"/>
          </a:fillRef>
          <a:effectRef idx="2">
            <a:schemeClr val="accent6"/>
          </a:effectRef>
          <a:fontRef idx="minor">
            <a:schemeClr val="tx1"/>
          </a:fontRef>
        </p:style>
      </p:cxnSp>
      <p:cxnSp>
        <p:nvCxnSpPr>
          <p:cNvPr id="11" name="Straight Connector 10">
            <a:extLst>
              <a:ext uri="{FF2B5EF4-FFF2-40B4-BE49-F238E27FC236}">
                <a16:creationId xmlns:a16="http://schemas.microsoft.com/office/drawing/2014/main" id="{9AF76346-F2EB-DA65-9EAA-C1FE54556564}"/>
              </a:ext>
            </a:extLst>
          </p:cNvPr>
          <p:cNvCxnSpPr>
            <a:cxnSpLocks/>
          </p:cNvCxnSpPr>
          <p:nvPr/>
        </p:nvCxnSpPr>
        <p:spPr>
          <a:xfrm>
            <a:off x="5145565" y="3816269"/>
            <a:ext cx="2068424" cy="0"/>
          </a:xfrm>
          <a:prstGeom prst="line">
            <a:avLst/>
          </a:prstGeom>
          <a:ln w="76200">
            <a:solidFill>
              <a:srgbClr val="0066FF"/>
            </a:solidFill>
          </a:ln>
        </p:spPr>
        <p:style>
          <a:lnRef idx="3">
            <a:schemeClr val="accent6"/>
          </a:lnRef>
          <a:fillRef idx="0">
            <a:schemeClr val="accent6"/>
          </a:fillRef>
          <a:effectRef idx="2">
            <a:schemeClr val="accent6"/>
          </a:effectRef>
          <a:fontRef idx="minor">
            <a:schemeClr val="tx1"/>
          </a:fontRef>
        </p:style>
      </p:cxnSp>
      <p:cxnSp>
        <p:nvCxnSpPr>
          <p:cNvPr id="12" name="Straight Connector 11">
            <a:extLst>
              <a:ext uri="{FF2B5EF4-FFF2-40B4-BE49-F238E27FC236}">
                <a16:creationId xmlns:a16="http://schemas.microsoft.com/office/drawing/2014/main" id="{117956FC-7567-D95D-5166-FECC48ABF3D2}"/>
              </a:ext>
            </a:extLst>
          </p:cNvPr>
          <p:cNvCxnSpPr>
            <a:cxnSpLocks/>
          </p:cNvCxnSpPr>
          <p:nvPr/>
        </p:nvCxnSpPr>
        <p:spPr>
          <a:xfrm>
            <a:off x="5234240" y="2349993"/>
            <a:ext cx="1975449" cy="2890069"/>
          </a:xfrm>
          <a:prstGeom prst="line">
            <a:avLst/>
          </a:prstGeom>
          <a:ln w="76200">
            <a:solidFill>
              <a:srgbClr val="FFC000"/>
            </a:solidFill>
          </a:ln>
        </p:spPr>
        <p:style>
          <a:lnRef idx="3">
            <a:schemeClr val="accent6"/>
          </a:lnRef>
          <a:fillRef idx="0">
            <a:schemeClr val="accent6"/>
          </a:fillRef>
          <a:effectRef idx="2">
            <a:schemeClr val="accent6"/>
          </a:effectRef>
          <a:fontRef idx="minor">
            <a:schemeClr val="tx1"/>
          </a:fontRef>
        </p:style>
      </p:cxnSp>
      <p:cxnSp>
        <p:nvCxnSpPr>
          <p:cNvPr id="13" name="Straight Connector 12">
            <a:extLst>
              <a:ext uri="{FF2B5EF4-FFF2-40B4-BE49-F238E27FC236}">
                <a16:creationId xmlns:a16="http://schemas.microsoft.com/office/drawing/2014/main" id="{A4ED93C3-B4EE-221E-31B4-2250E99BBF0C}"/>
              </a:ext>
            </a:extLst>
          </p:cNvPr>
          <p:cNvCxnSpPr>
            <a:cxnSpLocks/>
          </p:cNvCxnSpPr>
          <p:nvPr/>
        </p:nvCxnSpPr>
        <p:spPr>
          <a:xfrm>
            <a:off x="5165229" y="3816269"/>
            <a:ext cx="2044460" cy="1437954"/>
          </a:xfrm>
          <a:prstGeom prst="line">
            <a:avLst/>
          </a:prstGeom>
          <a:ln w="76200">
            <a:solidFill>
              <a:srgbClr val="0070C0"/>
            </a:solidFill>
          </a:ln>
        </p:spPr>
        <p:style>
          <a:lnRef idx="3">
            <a:schemeClr val="accent6"/>
          </a:lnRef>
          <a:fillRef idx="0">
            <a:schemeClr val="accent6"/>
          </a:fillRef>
          <a:effectRef idx="2">
            <a:schemeClr val="accent6"/>
          </a:effectRef>
          <a:fontRef idx="minor">
            <a:schemeClr val="tx1"/>
          </a:fontRef>
        </p:style>
      </p:cxnSp>
      <p:cxnSp>
        <p:nvCxnSpPr>
          <p:cNvPr id="14" name="Straight Connector 13">
            <a:extLst>
              <a:ext uri="{FF2B5EF4-FFF2-40B4-BE49-F238E27FC236}">
                <a16:creationId xmlns:a16="http://schemas.microsoft.com/office/drawing/2014/main" id="{4D66180B-2C17-5D37-05CC-4CF74529EE98}"/>
              </a:ext>
            </a:extLst>
          </p:cNvPr>
          <p:cNvCxnSpPr>
            <a:cxnSpLocks/>
          </p:cNvCxnSpPr>
          <p:nvPr/>
        </p:nvCxnSpPr>
        <p:spPr>
          <a:xfrm flipV="1">
            <a:off x="5315233" y="3802109"/>
            <a:ext cx="1906438" cy="1463962"/>
          </a:xfrm>
          <a:prstGeom prst="line">
            <a:avLst/>
          </a:prstGeom>
          <a:ln w="76200">
            <a:solidFill>
              <a:srgbClr val="92D050"/>
            </a:solidFill>
          </a:ln>
        </p:spPr>
        <p:style>
          <a:lnRef idx="3">
            <a:schemeClr val="accent6"/>
          </a:lnRef>
          <a:fillRef idx="0">
            <a:schemeClr val="accent6"/>
          </a:fillRef>
          <a:effectRef idx="2">
            <a:schemeClr val="accent6"/>
          </a:effectRef>
          <a:fontRef idx="minor">
            <a:schemeClr val="tx1"/>
          </a:fontRef>
        </p:style>
      </p:cxnSp>
      <p:sp>
        <p:nvSpPr>
          <p:cNvPr id="15" name="TextBox 14">
            <a:extLst>
              <a:ext uri="{FF2B5EF4-FFF2-40B4-BE49-F238E27FC236}">
                <a16:creationId xmlns:a16="http://schemas.microsoft.com/office/drawing/2014/main" id="{B961B1AB-2A40-D14D-3B62-04C7E8933061}"/>
              </a:ext>
            </a:extLst>
          </p:cNvPr>
          <p:cNvSpPr txBox="1"/>
          <p:nvPr/>
        </p:nvSpPr>
        <p:spPr>
          <a:xfrm>
            <a:off x="1359235" y="1827767"/>
            <a:ext cx="3830128" cy="3785652"/>
          </a:xfrm>
          <a:prstGeom prst="rect">
            <a:avLst/>
          </a:prstGeom>
          <a:noFill/>
        </p:spPr>
        <p:txBody>
          <a:bodyPr wrap="square" rtlCol="0">
            <a:spAutoFit/>
          </a:bodyPr>
          <a:lstStyle/>
          <a:p>
            <a:pPr algn="r"/>
            <a:r>
              <a:rPr lang="en-US" sz="4800" b="1" dirty="0"/>
              <a:t>Public Entity</a:t>
            </a:r>
          </a:p>
          <a:p>
            <a:pPr algn="r"/>
            <a:endParaRPr lang="en-US" sz="4800" b="1" dirty="0"/>
          </a:p>
          <a:p>
            <a:pPr algn="r"/>
            <a:r>
              <a:rPr lang="en-US" sz="4800" b="1" dirty="0"/>
              <a:t>Utility</a:t>
            </a:r>
          </a:p>
          <a:p>
            <a:pPr algn="r"/>
            <a:endParaRPr lang="en-US" sz="4800" b="1" dirty="0"/>
          </a:p>
          <a:p>
            <a:pPr algn="r"/>
            <a:r>
              <a:rPr lang="en-US" sz="4800" b="1" dirty="0"/>
              <a:t>3</a:t>
            </a:r>
            <a:r>
              <a:rPr lang="en-US" sz="4800" b="1" baseline="30000" dirty="0"/>
              <a:t>rd</a:t>
            </a:r>
            <a:r>
              <a:rPr lang="en-US" sz="4800" b="1" dirty="0"/>
              <a:t> Party</a:t>
            </a:r>
          </a:p>
        </p:txBody>
      </p:sp>
    </p:spTree>
    <p:extLst>
      <p:ext uri="{BB962C8B-B14F-4D97-AF65-F5344CB8AC3E}">
        <p14:creationId xmlns:p14="http://schemas.microsoft.com/office/powerpoint/2010/main" val="2760428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DF234-07C8-F32F-5777-4C04994810CB}"/>
              </a:ext>
            </a:extLst>
          </p:cNvPr>
          <p:cNvSpPr txBox="1"/>
          <p:nvPr/>
        </p:nvSpPr>
        <p:spPr>
          <a:xfrm>
            <a:off x="219356" y="267340"/>
            <a:ext cx="11815327" cy="584775"/>
          </a:xfrm>
          <a:prstGeom prst="rect">
            <a:avLst/>
          </a:prstGeom>
          <a:noFill/>
        </p:spPr>
        <p:txBody>
          <a:bodyPr wrap="square" lIns="91440" tIns="45720" rIns="91440" bIns="45720" rtlCol="0" anchor="t">
            <a:spAutoFit/>
          </a:bodyPr>
          <a:lstStyle/>
          <a:p>
            <a:r>
              <a:rPr lang="en-US" sz="3200" dirty="0">
                <a:solidFill>
                  <a:schemeClr val="accent1"/>
                </a:solidFill>
              </a:rPr>
              <a:t>DOE Pathways to Commercial Liftoff: Geothermal Heating and Cooling </a:t>
            </a:r>
          </a:p>
        </p:txBody>
      </p:sp>
      <p:pic>
        <p:nvPicPr>
          <p:cNvPr id="4" name="Picture 3">
            <a:extLst>
              <a:ext uri="{FF2B5EF4-FFF2-40B4-BE49-F238E27FC236}">
                <a16:creationId xmlns:a16="http://schemas.microsoft.com/office/drawing/2014/main" id="{1E49C5C6-D4F1-FB91-BB36-D661C00FEE10}"/>
              </a:ext>
            </a:extLst>
          </p:cNvPr>
          <p:cNvPicPr>
            <a:picLocks noChangeAspect="1"/>
          </p:cNvPicPr>
          <p:nvPr/>
        </p:nvPicPr>
        <p:blipFill>
          <a:blip r:embed="rId3"/>
          <a:stretch>
            <a:fillRect/>
          </a:stretch>
        </p:blipFill>
        <p:spPr>
          <a:xfrm>
            <a:off x="1976284" y="2667620"/>
            <a:ext cx="8645113" cy="403331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xtBox 4">
            <a:extLst>
              <a:ext uri="{FF2B5EF4-FFF2-40B4-BE49-F238E27FC236}">
                <a16:creationId xmlns:a16="http://schemas.microsoft.com/office/drawing/2014/main" id="{8777D224-28F7-5055-731C-DE395C870227}"/>
              </a:ext>
            </a:extLst>
          </p:cNvPr>
          <p:cNvSpPr txBox="1"/>
          <p:nvPr/>
        </p:nvSpPr>
        <p:spPr>
          <a:xfrm>
            <a:off x="782943" y="1036592"/>
            <a:ext cx="11031793" cy="1446550"/>
          </a:xfrm>
          <a:prstGeom prst="rect">
            <a:avLst/>
          </a:prstGeom>
          <a:noFill/>
        </p:spPr>
        <p:txBody>
          <a:bodyPr wrap="square" rtlCol="0">
            <a:spAutoFit/>
          </a:bodyPr>
          <a:lstStyle/>
          <a:p>
            <a:r>
              <a:rPr lang="en-US" sz="2000" dirty="0"/>
              <a:t>"The cost of these boreholes is high, but because the overall cost of the project is already high and it allows the entire project to claim at least 30 percent on the ITC credit, the cost of the borehole field can be partially or completely offset, </a:t>
            </a:r>
            <a:r>
              <a:rPr lang="en-US" sz="2400" b="1" dirty="0">
                <a:solidFill>
                  <a:srgbClr val="0066FF"/>
                </a:solidFill>
              </a:rPr>
              <a:t>making the GHP installation the lowest-first-cost installation as well as the most energy efficient and best for decarbonization</a:t>
            </a:r>
            <a:r>
              <a:rPr lang="en-US" sz="2000" dirty="0">
                <a:solidFill>
                  <a:srgbClr val="0066FF"/>
                </a:solidFill>
              </a:rPr>
              <a:t>."</a:t>
            </a:r>
          </a:p>
        </p:txBody>
      </p:sp>
      <p:sp>
        <p:nvSpPr>
          <p:cNvPr id="6" name="TextBox 5">
            <a:extLst>
              <a:ext uri="{FF2B5EF4-FFF2-40B4-BE49-F238E27FC236}">
                <a16:creationId xmlns:a16="http://schemas.microsoft.com/office/drawing/2014/main" id="{F8FEA30F-23A6-B484-0439-66EE7D2E4598}"/>
              </a:ext>
            </a:extLst>
          </p:cNvPr>
          <p:cNvSpPr txBox="1"/>
          <p:nvPr/>
        </p:nvSpPr>
        <p:spPr>
          <a:xfrm>
            <a:off x="3519949" y="6190550"/>
            <a:ext cx="6695767" cy="400110"/>
          </a:xfrm>
          <a:prstGeom prst="rect">
            <a:avLst/>
          </a:prstGeom>
          <a:noFill/>
        </p:spPr>
        <p:txBody>
          <a:bodyPr wrap="square" rtlCol="0">
            <a:spAutoFit/>
          </a:bodyPr>
          <a:lstStyle/>
          <a:p>
            <a:r>
              <a:rPr lang="en-US" sz="2000" b="1" dirty="0">
                <a:solidFill>
                  <a:srgbClr val="0066FF"/>
                </a:solidFill>
              </a:rPr>
              <a:t>*And Fewer Assets Needed, and Better Performance!</a:t>
            </a:r>
          </a:p>
        </p:txBody>
      </p:sp>
    </p:spTree>
    <p:extLst>
      <p:ext uri="{BB962C8B-B14F-4D97-AF65-F5344CB8AC3E}">
        <p14:creationId xmlns:p14="http://schemas.microsoft.com/office/powerpoint/2010/main" val="1893049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E07084-3462-DD72-23DF-348F6B83CDD4}"/>
              </a:ext>
            </a:extLst>
          </p:cNvPr>
          <p:cNvSpPr txBox="1"/>
          <p:nvPr/>
        </p:nvSpPr>
        <p:spPr>
          <a:xfrm>
            <a:off x="227543" y="278063"/>
            <a:ext cx="11133186" cy="584775"/>
          </a:xfrm>
          <a:prstGeom prst="rect">
            <a:avLst/>
          </a:prstGeom>
          <a:noFill/>
        </p:spPr>
        <p:txBody>
          <a:bodyPr wrap="square" lIns="91440" tIns="45720" rIns="91440" bIns="45720" rtlCol="0" anchor="t">
            <a:spAutoFit/>
          </a:bodyPr>
          <a:lstStyle/>
          <a:p>
            <a:r>
              <a:rPr lang="en-US" sz="3200" dirty="0">
                <a:solidFill>
                  <a:schemeClr val="accent1"/>
                </a:solidFill>
              </a:rPr>
              <a:t>The Vail Decarbonization Challenge</a:t>
            </a:r>
          </a:p>
        </p:txBody>
      </p:sp>
      <p:sp>
        <p:nvSpPr>
          <p:cNvPr id="6" name="TextBox 5">
            <a:extLst>
              <a:ext uri="{FF2B5EF4-FFF2-40B4-BE49-F238E27FC236}">
                <a16:creationId xmlns:a16="http://schemas.microsoft.com/office/drawing/2014/main" id="{6A2A280C-7729-B4BD-0609-952970E9EAC6}"/>
              </a:ext>
            </a:extLst>
          </p:cNvPr>
          <p:cNvSpPr txBox="1"/>
          <p:nvPr/>
        </p:nvSpPr>
        <p:spPr>
          <a:xfrm>
            <a:off x="7675418" y="438044"/>
            <a:ext cx="4294078" cy="7525137"/>
          </a:xfrm>
          <a:prstGeom prst="rect">
            <a:avLst/>
          </a:prstGeom>
          <a:noFill/>
        </p:spPr>
        <p:txBody>
          <a:bodyPr wrap="square">
            <a:spAutoFit/>
          </a:bodyPr>
          <a:lstStyle/>
          <a:p>
            <a:pPr marL="342900" marR="0" lvl="0" indent="-342900" algn="l" defTabSz="914400" rtl="0" eaLnBrk="1" fontAlgn="auto" latinLnBrk="0" hangingPunct="1">
              <a:spcBef>
                <a:spcPts val="1000"/>
              </a:spcBef>
              <a:spcAft>
                <a:spcPts val="0"/>
              </a:spcAft>
              <a:buClr>
                <a:srgbClr val="BD955B"/>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Largest s</a:t>
            </a:r>
            <a:r>
              <a:rPr lang="en-US" sz="2400" dirty="0" err="1">
                <a:solidFill>
                  <a:prstClr val="black"/>
                </a:solidFill>
                <a:latin typeface="Calibri" panose="020F0502020204030204"/>
              </a:rPr>
              <a:t>nowmelt</a:t>
            </a:r>
            <a:r>
              <a:rPr lang="en-US" sz="2400" dirty="0">
                <a:solidFill>
                  <a:prstClr val="black"/>
                </a:solidFill>
                <a:latin typeface="Calibri" panose="020F0502020204030204"/>
              </a:rPr>
              <a:t> in North America?</a:t>
            </a:r>
          </a:p>
          <a:p>
            <a:pPr marL="342900" marR="0" lvl="0" indent="-342900" algn="l" defTabSz="914400" rtl="0" eaLnBrk="1" fontAlgn="auto" latinLnBrk="0" hangingPunct="1">
              <a:spcBef>
                <a:spcPts val="1000"/>
              </a:spcBef>
              <a:spcAft>
                <a:spcPts val="0"/>
              </a:spcAft>
              <a:buClr>
                <a:srgbClr val="BD955B"/>
              </a:buClr>
              <a:buSzTx/>
              <a:buFont typeface="Arial" panose="020B0604020202020204" pitchFamily="34" charset="0"/>
              <a:buChar char="•"/>
              <a:tabLst/>
              <a:defRPr/>
            </a:pPr>
            <a:r>
              <a:rPr lang="en-US" sz="2400" dirty="0">
                <a:solidFill>
                  <a:prstClr val="black"/>
                </a:solidFill>
                <a:latin typeface="Calibri" panose="020F0502020204030204"/>
              </a:rPr>
              <a:t>System performance a must!</a:t>
            </a:r>
          </a:p>
          <a:p>
            <a:pPr marL="342900" marR="0" lvl="0" indent="-342900" algn="l" defTabSz="914400" rtl="0" eaLnBrk="1" fontAlgn="auto" latinLnBrk="0" hangingPunct="1">
              <a:spcBef>
                <a:spcPts val="1000"/>
              </a:spcBef>
              <a:spcAft>
                <a:spcPts val="0"/>
              </a:spcAft>
              <a:buClr>
                <a:srgbClr val="BD955B"/>
              </a:buClr>
              <a:buSzTx/>
              <a:buFont typeface="Arial" panose="020B0604020202020204" pitchFamily="34" charset="0"/>
              <a:buChar char="•"/>
              <a:tabLst/>
              <a:defRPr/>
            </a:pPr>
            <a:r>
              <a:rPr lang="en-US" sz="2400" dirty="0">
                <a:solidFill>
                  <a:prstClr val="black"/>
                </a:solidFill>
                <a:latin typeface="Calibri" panose="020F0502020204030204"/>
              </a:rPr>
              <a:t>Peak load is late afternoon or snow events, so during peak or random</a:t>
            </a:r>
          </a:p>
          <a:p>
            <a:pPr marL="342900" marR="0" lvl="0" indent="-342900" algn="l" defTabSz="914400" rtl="0" eaLnBrk="1" fontAlgn="auto" latinLnBrk="0" hangingPunct="1">
              <a:spcBef>
                <a:spcPts val="1000"/>
              </a:spcBef>
              <a:spcAft>
                <a:spcPts val="0"/>
              </a:spcAft>
              <a:buClr>
                <a:srgbClr val="BD955B"/>
              </a:buClr>
              <a:buSzTx/>
              <a:buFont typeface="Arial" panose="020B0604020202020204" pitchFamily="34" charset="0"/>
              <a:buChar char="•"/>
              <a:tabLst/>
              <a:defRPr/>
            </a:pPr>
            <a:r>
              <a:rPr lang="en-US" sz="2400" dirty="0" err="1">
                <a:solidFill>
                  <a:prstClr val="black"/>
                </a:solidFill>
                <a:latin typeface="Calibri" panose="020F0502020204030204"/>
              </a:rPr>
              <a:t>Snowmelting</a:t>
            </a:r>
            <a:r>
              <a:rPr lang="en-US" sz="2400" dirty="0">
                <a:solidFill>
                  <a:prstClr val="black"/>
                </a:solidFill>
                <a:latin typeface="Calibri" panose="020F0502020204030204"/>
              </a:rPr>
              <a:t> is highly energy intensive</a:t>
            </a:r>
          </a:p>
          <a:p>
            <a:pPr marL="342900" marR="0" lvl="0" indent="-342900" algn="l" defTabSz="914400" rtl="0" eaLnBrk="1" fontAlgn="auto" latinLnBrk="0" hangingPunct="1">
              <a:spcBef>
                <a:spcPts val="1000"/>
              </a:spcBef>
              <a:spcAft>
                <a:spcPts val="0"/>
              </a:spcAft>
              <a:buClr>
                <a:srgbClr val="BD955B"/>
              </a:buClr>
              <a:buSzTx/>
              <a:buFont typeface="Arial" panose="020B0604020202020204" pitchFamily="34" charset="0"/>
              <a:buChar char="•"/>
              <a:tabLst/>
              <a:defRPr/>
            </a:pPr>
            <a:r>
              <a:rPr lang="en-US" sz="2400" dirty="0">
                <a:solidFill>
                  <a:prstClr val="black"/>
                </a:solidFill>
                <a:latin typeface="Calibri" panose="020F0502020204030204"/>
              </a:rPr>
              <a:t>Electric resistance is expensive</a:t>
            </a:r>
          </a:p>
          <a:p>
            <a:pPr marL="342900" marR="0" lvl="0" indent="-342900" algn="l" defTabSz="914400" rtl="0" eaLnBrk="1" fontAlgn="auto" latinLnBrk="0" hangingPunct="1">
              <a:spcBef>
                <a:spcPts val="1000"/>
              </a:spcBef>
              <a:spcAft>
                <a:spcPts val="0"/>
              </a:spcAft>
              <a:buClr>
                <a:srgbClr val="BD955B"/>
              </a:buClr>
              <a:buSzTx/>
              <a:buFont typeface="Arial" panose="020B0604020202020204" pitchFamily="34" charset="0"/>
              <a:buChar char="•"/>
              <a:tabLst/>
              <a:defRPr/>
            </a:pPr>
            <a:r>
              <a:rPr lang="en-US" sz="2400" dirty="0">
                <a:solidFill>
                  <a:prstClr val="black"/>
                </a:solidFill>
                <a:latin typeface="Calibri" panose="020F0502020204030204"/>
              </a:rPr>
              <a:t>Buildings are also part of the puzzle.</a:t>
            </a:r>
          </a:p>
          <a:p>
            <a:pPr marL="342900" marR="0" lvl="0" indent="-342900" algn="l" defTabSz="914400" rtl="0" eaLnBrk="1" fontAlgn="auto" latinLnBrk="0" hangingPunct="1">
              <a:spcBef>
                <a:spcPts val="1000"/>
              </a:spcBef>
              <a:spcAft>
                <a:spcPts val="0"/>
              </a:spcAft>
              <a:buClr>
                <a:srgbClr val="BD955B"/>
              </a:buClr>
              <a:buSzTx/>
              <a:buFont typeface="Arial" panose="020B0604020202020204" pitchFamily="34" charset="0"/>
              <a:buChar char="•"/>
              <a:tabLst/>
              <a:defRPr/>
            </a:pPr>
            <a:endParaRPr lang="en-US" sz="2400" dirty="0">
              <a:solidFill>
                <a:prstClr val="black"/>
              </a:solidFill>
              <a:latin typeface="Calibri" panose="020F0502020204030204"/>
            </a:endParaRPr>
          </a:p>
          <a:p>
            <a:pPr marL="342900" marR="0" lvl="0" indent="-342900" algn="l" defTabSz="914400" rtl="0" eaLnBrk="1" fontAlgn="auto" latinLnBrk="0" hangingPunct="1">
              <a:spcBef>
                <a:spcPts val="1000"/>
              </a:spcBef>
              <a:spcAft>
                <a:spcPts val="0"/>
              </a:spcAft>
              <a:buClr>
                <a:srgbClr val="BD955B"/>
              </a:buClr>
              <a:buSzTx/>
              <a:buFont typeface="Arial" panose="020B0604020202020204" pitchFamily="34" charset="0"/>
              <a:buChar char="•"/>
              <a:tabLst/>
              <a:defRPr/>
            </a:pPr>
            <a:endParaRPr lang="en-US" sz="2400" dirty="0">
              <a:solidFill>
                <a:prstClr val="black"/>
              </a:solidFill>
              <a:latin typeface="Calibri" panose="020F0502020204030204"/>
            </a:endParaRPr>
          </a:p>
          <a:p>
            <a:pPr marL="342900" marR="0" lvl="0" indent="-342900" algn="l" defTabSz="914400" rtl="0" eaLnBrk="1" fontAlgn="auto" latinLnBrk="0" hangingPunct="1">
              <a:spcBef>
                <a:spcPts val="1000"/>
              </a:spcBef>
              <a:spcAft>
                <a:spcPts val="0"/>
              </a:spcAft>
              <a:buClr>
                <a:srgbClr val="BD955B"/>
              </a:buClr>
              <a:buSzTx/>
              <a:buFont typeface="Arial" panose="020B0604020202020204" pitchFamily="34" charset="0"/>
              <a:buChar char="•"/>
              <a:tabLst/>
              <a:defRPr/>
            </a:pPr>
            <a:endParaRPr lang="en-US" sz="2400" dirty="0">
              <a:solidFill>
                <a:prstClr val="black"/>
              </a:solidFill>
              <a:latin typeface="Calibri" panose="020F0502020204030204"/>
            </a:endParaRPr>
          </a:p>
          <a:p>
            <a:pPr marL="228600" marR="0" lvl="0" indent="-228600" algn="l" defTabSz="914400" rtl="0" eaLnBrk="1" fontAlgn="auto" latinLnBrk="0" hangingPunct="1">
              <a:spcBef>
                <a:spcPts val="1000"/>
              </a:spcBef>
              <a:spcAft>
                <a:spcPts val="0"/>
              </a:spcAft>
              <a:buClr>
                <a:srgbClr val="BD955B"/>
              </a:buClr>
              <a:buSzTx/>
              <a:buFont typeface="Wingdings" pitchFamily="2" charset="2"/>
              <a:buChar char="v"/>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sz="2400" dirty="0"/>
          </a:p>
        </p:txBody>
      </p:sp>
      <p:pic>
        <p:nvPicPr>
          <p:cNvPr id="4" name="Picture 3" descr="A map of a city&#10;&#10;Description automatically generated">
            <a:extLst>
              <a:ext uri="{FF2B5EF4-FFF2-40B4-BE49-F238E27FC236}">
                <a16:creationId xmlns:a16="http://schemas.microsoft.com/office/drawing/2014/main" id="{1124EECC-FBFE-316B-CBEA-6FF66EB46A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3796" y="1505258"/>
            <a:ext cx="7281622" cy="4539305"/>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2984318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936A70-F648-1C65-81BB-509B35766506}"/>
              </a:ext>
            </a:extLst>
          </p:cNvPr>
          <p:cNvSpPr txBox="1"/>
          <p:nvPr/>
        </p:nvSpPr>
        <p:spPr>
          <a:xfrm>
            <a:off x="445569" y="1042478"/>
            <a:ext cx="5827815" cy="6547433"/>
          </a:xfrm>
          <a:prstGeom prst="rect">
            <a:avLst/>
          </a:prstGeom>
          <a:noFill/>
        </p:spPr>
        <p:txBody>
          <a:bodyPr wrap="square" lIns="91440" tIns="45720" rIns="91440" bIns="45720" rtlCol="0" anchor="t">
            <a:spAutoFit/>
          </a:bodyPr>
          <a:lstStyle/>
          <a:p>
            <a:pPr marR="0" lvl="0" algn="l" defTabSz="914400" rtl="0" eaLnBrk="1" fontAlgn="auto" latinLnBrk="0" hangingPunct="1">
              <a:lnSpc>
                <a:spcPct val="90000"/>
              </a:lnSpc>
              <a:spcBef>
                <a:spcPts val="1000"/>
              </a:spcBef>
              <a:spcAft>
                <a:spcPts val="0"/>
              </a:spcAft>
              <a:buClr>
                <a:srgbClr val="BD955B"/>
              </a:buClr>
              <a:buSzTx/>
              <a:tabLst/>
              <a:defRPr/>
            </a:pPr>
            <a:endParaRPr lang="en-US" sz="2800" dirty="0"/>
          </a:p>
          <a:p>
            <a:pPr marL="457200" marR="0" lvl="0" indent="-457200" algn="l" defTabSz="914400" rtl="0" eaLnBrk="1" fontAlgn="auto" latinLnBrk="0" hangingPunct="1">
              <a:lnSpc>
                <a:spcPct val="90000"/>
              </a:lnSpc>
              <a:spcBef>
                <a:spcPts val="1000"/>
              </a:spcBef>
              <a:spcAft>
                <a:spcPts val="0"/>
              </a:spcAft>
              <a:buClr>
                <a:srgbClr val="BD955B"/>
              </a:buClr>
              <a:buSzTx/>
              <a:buFont typeface="Arial" panose="020B0604020202020204" pitchFamily="34" charset="0"/>
              <a:buChar char="•"/>
              <a:tabLst/>
              <a:defRPr/>
            </a:pPr>
            <a:r>
              <a:rPr lang="en-US" sz="2800" dirty="0"/>
              <a:t>Vail climate goals (50% by 2030, 80% by 2050)</a:t>
            </a:r>
          </a:p>
          <a:p>
            <a:pPr marL="457200" marR="0" lvl="0" indent="-457200" algn="l" defTabSz="914400" rtl="0" eaLnBrk="1" fontAlgn="auto" latinLnBrk="0" hangingPunct="1">
              <a:lnSpc>
                <a:spcPct val="90000"/>
              </a:lnSpc>
              <a:spcBef>
                <a:spcPts val="1000"/>
              </a:spcBef>
              <a:spcAft>
                <a:spcPts val="0"/>
              </a:spcAft>
              <a:buClr>
                <a:srgbClr val="BD955B"/>
              </a:buClr>
              <a:buSzTx/>
              <a:buFont typeface="Arial" panose="020B0604020202020204" pitchFamily="34" charset="0"/>
              <a:buChar char="•"/>
              <a:tabLst/>
              <a:defRPr/>
            </a:pPr>
            <a:r>
              <a:rPr lang="en-US" sz="2800" dirty="0" err="1"/>
              <a:t>Snowmelting</a:t>
            </a:r>
            <a:r>
              <a:rPr lang="en-US" sz="2800" dirty="0"/>
              <a:t> 80% of municipal natural gas </a:t>
            </a:r>
            <a:r>
              <a:rPr lang="en-US" sz="2800" dirty="0" err="1"/>
              <a:t>useage</a:t>
            </a:r>
            <a:r>
              <a:rPr lang="en-US" sz="2800" dirty="0"/>
              <a:t> </a:t>
            </a:r>
          </a:p>
          <a:p>
            <a:pPr marL="457200" marR="0" lvl="0" indent="-457200" algn="l" defTabSz="914400" rtl="0" eaLnBrk="1" fontAlgn="auto" latinLnBrk="0" hangingPunct="1">
              <a:lnSpc>
                <a:spcPct val="90000"/>
              </a:lnSpc>
              <a:spcBef>
                <a:spcPts val="1000"/>
              </a:spcBef>
              <a:spcAft>
                <a:spcPts val="0"/>
              </a:spcAft>
              <a:buClr>
                <a:srgbClr val="BD955B"/>
              </a:buClr>
              <a:buSzTx/>
              <a:buFont typeface="Arial" panose="020B0604020202020204" pitchFamily="34" charset="0"/>
              <a:buChar char="•"/>
              <a:tabLst/>
              <a:defRPr/>
            </a:pPr>
            <a:r>
              <a:rPr lang="en-US" sz="2800" dirty="0">
                <a:ea typeface="Calibri" panose="020F0502020204030204"/>
                <a:cs typeface="Calibri" panose="020F0502020204030204"/>
              </a:rPr>
              <a:t>Snowmelt creates 6,500 metric tons of C02 annually</a:t>
            </a:r>
          </a:p>
          <a:p>
            <a:pPr marL="457200" marR="0" lvl="0" indent="-457200" algn="l" defTabSz="914400" rtl="0" eaLnBrk="1" fontAlgn="auto" latinLnBrk="0" hangingPunct="1">
              <a:lnSpc>
                <a:spcPct val="90000"/>
              </a:lnSpc>
              <a:spcBef>
                <a:spcPts val="1000"/>
              </a:spcBef>
              <a:spcAft>
                <a:spcPts val="0"/>
              </a:spcAft>
              <a:buClr>
                <a:srgbClr val="BD955B"/>
              </a:buClr>
              <a:buSzTx/>
              <a:buFont typeface="Arial" panose="020B0604020202020204" pitchFamily="34" charset="0"/>
              <a:buChar char="•"/>
              <a:tabLst/>
              <a:defRPr/>
            </a:pPr>
            <a:r>
              <a:rPr lang="en-US" sz="2800" dirty="0">
                <a:ea typeface="Calibri" panose="020F0502020204030204"/>
                <a:cs typeface="Calibri" panose="020F0502020204030204"/>
              </a:rPr>
              <a:t>440 KW electric boiler in 3rd year of operation</a:t>
            </a:r>
          </a:p>
          <a:p>
            <a:pPr marL="457200" marR="0" lvl="0" indent="-457200" algn="l" defTabSz="914400" rtl="0" eaLnBrk="1" fontAlgn="auto" latinLnBrk="0" hangingPunct="1">
              <a:lnSpc>
                <a:spcPct val="90000"/>
              </a:lnSpc>
              <a:spcBef>
                <a:spcPts val="1000"/>
              </a:spcBef>
              <a:spcAft>
                <a:spcPts val="0"/>
              </a:spcAft>
              <a:buClr>
                <a:srgbClr val="BD955B"/>
              </a:buClr>
              <a:buSzTx/>
              <a:buFont typeface="Arial" panose="020B0604020202020204" pitchFamily="34" charset="0"/>
              <a:buChar char="•"/>
              <a:tabLst/>
              <a:defRPr/>
            </a:pPr>
            <a:r>
              <a:rPr lang="en-US" sz="2800" dirty="0">
                <a:ea typeface="Calibri" panose="020F0502020204030204"/>
                <a:cs typeface="Calibri" panose="020F0502020204030204"/>
              </a:rPr>
              <a:t>Gas system equal to 7 megawatts</a:t>
            </a:r>
          </a:p>
          <a:p>
            <a:pPr marL="457200" marR="0" lvl="0" indent="-457200" algn="l" defTabSz="914400" rtl="0" eaLnBrk="1" fontAlgn="auto" latinLnBrk="0" hangingPunct="1">
              <a:lnSpc>
                <a:spcPct val="90000"/>
              </a:lnSpc>
              <a:spcBef>
                <a:spcPts val="1000"/>
              </a:spcBef>
              <a:spcAft>
                <a:spcPts val="0"/>
              </a:spcAft>
              <a:buClr>
                <a:srgbClr val="BD955B"/>
              </a:buClr>
              <a:buSzTx/>
              <a:buFont typeface="Arial" panose="020B0604020202020204" pitchFamily="34" charset="0"/>
              <a:buChar char="•"/>
              <a:tabLst/>
              <a:defRPr/>
            </a:pPr>
            <a:r>
              <a:rPr lang="en-US" sz="2800" dirty="0">
                <a:cs typeface="Calibri" panose="020F0502020204030204"/>
              </a:rPr>
              <a:t>Electric resistance can work, but at what cost (3.31x)</a:t>
            </a:r>
            <a:endParaRPr lang="en-US" sz="2800" dirty="0"/>
          </a:p>
          <a:p>
            <a:pPr marR="0" lvl="0" algn="l" defTabSz="914400" rtl="0" eaLnBrk="1" fontAlgn="auto" latinLnBrk="0" hangingPunct="1">
              <a:lnSpc>
                <a:spcPct val="90000"/>
              </a:lnSpc>
              <a:spcBef>
                <a:spcPts val="1000"/>
              </a:spcBef>
              <a:spcAft>
                <a:spcPts val="0"/>
              </a:spcAft>
              <a:buClr>
                <a:srgbClr val="BD955B"/>
              </a:buClr>
              <a:buSzTx/>
              <a:tabLst/>
              <a:defRPr/>
            </a:pPr>
            <a:endParaRPr lang="en-US" sz="2800" dirty="0">
              <a:ea typeface="Calibri" panose="020F0502020204030204"/>
              <a:cs typeface="Calibri" panose="020F0502020204030204"/>
            </a:endParaRP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endParaRPr lang="en-US" sz="2800" dirty="0"/>
          </a:p>
        </p:txBody>
      </p:sp>
      <p:sp>
        <p:nvSpPr>
          <p:cNvPr id="3" name="TextBox 2">
            <a:extLst>
              <a:ext uri="{FF2B5EF4-FFF2-40B4-BE49-F238E27FC236}">
                <a16:creationId xmlns:a16="http://schemas.microsoft.com/office/drawing/2014/main" id="{F293A22B-EF60-2FB4-111C-1C6894821307}"/>
              </a:ext>
            </a:extLst>
          </p:cNvPr>
          <p:cNvSpPr txBox="1"/>
          <p:nvPr/>
        </p:nvSpPr>
        <p:spPr>
          <a:xfrm>
            <a:off x="257302" y="259796"/>
            <a:ext cx="11326418" cy="584775"/>
          </a:xfrm>
          <a:prstGeom prst="rect">
            <a:avLst/>
          </a:prstGeom>
          <a:noFill/>
        </p:spPr>
        <p:txBody>
          <a:bodyPr wrap="square" lIns="91440" tIns="45720" rIns="91440" bIns="45720" rtlCol="0" anchor="t">
            <a:spAutoFit/>
          </a:bodyPr>
          <a:lstStyle/>
          <a:p>
            <a:r>
              <a:rPr lang="en-US" sz="3200" dirty="0">
                <a:solidFill>
                  <a:schemeClr val="accent1"/>
                </a:solidFill>
              </a:rPr>
              <a:t>Vail’s Decarbonization Journey</a:t>
            </a:r>
          </a:p>
        </p:txBody>
      </p:sp>
      <p:pic>
        <p:nvPicPr>
          <p:cNvPr id="5" name="Picture 4">
            <a:extLst>
              <a:ext uri="{FF2B5EF4-FFF2-40B4-BE49-F238E27FC236}">
                <a16:creationId xmlns:a16="http://schemas.microsoft.com/office/drawing/2014/main" id="{224C0172-CDC9-2BEC-144E-EF2CEEB1541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30353"/>
          <a:stretch/>
        </p:blipFill>
        <p:spPr bwMode="auto">
          <a:xfrm>
            <a:off x="6860317" y="737052"/>
            <a:ext cx="4769583" cy="5454429"/>
          </a:xfrm>
          <a:prstGeom prst="rect">
            <a:avLst/>
          </a:prstGeom>
          <a:noFill/>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4F7A0FB1-D016-3D68-3AB9-8F42035C236B}"/>
              </a:ext>
            </a:extLst>
          </p:cNvPr>
          <p:cNvSpPr txBox="1"/>
          <p:nvPr/>
        </p:nvSpPr>
        <p:spPr>
          <a:xfrm>
            <a:off x="7323988" y="6370090"/>
            <a:ext cx="3842239" cy="369332"/>
          </a:xfrm>
          <a:prstGeom prst="rect">
            <a:avLst/>
          </a:prstGeom>
          <a:noFill/>
        </p:spPr>
        <p:txBody>
          <a:bodyPr wrap="square" rtlCol="0">
            <a:spAutoFit/>
          </a:bodyPr>
          <a:lstStyle/>
          <a:p>
            <a:r>
              <a:rPr lang="en-US" dirty="0"/>
              <a:t>Vail Electric Snowmelt Boiler Heat Map</a:t>
            </a:r>
          </a:p>
        </p:txBody>
      </p:sp>
    </p:spTree>
    <p:extLst>
      <p:ext uri="{BB962C8B-B14F-4D97-AF65-F5344CB8AC3E}">
        <p14:creationId xmlns:p14="http://schemas.microsoft.com/office/powerpoint/2010/main" val="675854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755F28-AACA-E689-C5DE-1752F0C1D94C}"/>
              </a:ext>
            </a:extLst>
          </p:cNvPr>
          <p:cNvSpPr txBox="1"/>
          <p:nvPr/>
        </p:nvSpPr>
        <p:spPr>
          <a:xfrm>
            <a:off x="171797" y="266810"/>
            <a:ext cx="11881658" cy="584775"/>
          </a:xfrm>
          <a:prstGeom prst="rect">
            <a:avLst/>
          </a:prstGeom>
          <a:noFill/>
        </p:spPr>
        <p:txBody>
          <a:bodyPr wrap="square" rtlCol="0">
            <a:spAutoFit/>
          </a:bodyPr>
          <a:lstStyle/>
          <a:p>
            <a:r>
              <a:rPr lang="en-US" sz="3200" dirty="0">
                <a:solidFill>
                  <a:schemeClr val="accent1"/>
                </a:solidFill>
              </a:rPr>
              <a:t>Energy and Carbon Reduction Potential in Vail</a:t>
            </a:r>
          </a:p>
        </p:txBody>
      </p:sp>
      <p:pic>
        <p:nvPicPr>
          <p:cNvPr id="8" name="Picture 7">
            <a:extLst>
              <a:ext uri="{FF2B5EF4-FFF2-40B4-BE49-F238E27FC236}">
                <a16:creationId xmlns:a16="http://schemas.microsoft.com/office/drawing/2014/main" id="{7D97B518-C0F7-6116-B2C9-34221A7CEE12}"/>
              </a:ext>
            </a:extLst>
          </p:cNvPr>
          <p:cNvPicPr>
            <a:picLocks noChangeAspect="1"/>
          </p:cNvPicPr>
          <p:nvPr/>
        </p:nvPicPr>
        <p:blipFill>
          <a:blip r:embed="rId3"/>
          <a:stretch>
            <a:fillRect/>
          </a:stretch>
        </p:blipFill>
        <p:spPr>
          <a:xfrm>
            <a:off x="366869" y="2036526"/>
            <a:ext cx="5915451" cy="3692799"/>
          </a:xfrm>
          <a:prstGeom prst="rect">
            <a:avLst/>
          </a:prstGeom>
        </p:spPr>
      </p:pic>
      <p:pic>
        <p:nvPicPr>
          <p:cNvPr id="10" name="Picture 9">
            <a:extLst>
              <a:ext uri="{FF2B5EF4-FFF2-40B4-BE49-F238E27FC236}">
                <a16:creationId xmlns:a16="http://schemas.microsoft.com/office/drawing/2014/main" id="{DC753960-7299-E658-823E-6A790955B14F}"/>
              </a:ext>
            </a:extLst>
          </p:cNvPr>
          <p:cNvPicPr>
            <a:picLocks noChangeAspect="1"/>
          </p:cNvPicPr>
          <p:nvPr/>
        </p:nvPicPr>
        <p:blipFill rotWithShape="1">
          <a:blip r:embed="rId4">
            <a:extLst>
              <a:ext uri="{28A0092B-C50C-407E-A947-70E740481C1C}">
                <a14:useLocalDpi xmlns:a14="http://schemas.microsoft.com/office/drawing/2010/main" val="0"/>
              </a:ext>
            </a:extLst>
          </a:blip>
          <a:srcRect b="42400"/>
          <a:stretch/>
        </p:blipFill>
        <p:spPr>
          <a:xfrm>
            <a:off x="6636330" y="1838824"/>
            <a:ext cx="5306287" cy="4075228"/>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3610845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301D0-4BD7-A091-5DB2-B481EC2BC022}"/>
              </a:ext>
            </a:extLst>
          </p:cNvPr>
          <p:cNvSpPr txBox="1"/>
          <p:nvPr/>
        </p:nvSpPr>
        <p:spPr>
          <a:xfrm>
            <a:off x="180193" y="284214"/>
            <a:ext cx="11420681" cy="1077218"/>
          </a:xfrm>
          <a:prstGeom prst="rect">
            <a:avLst/>
          </a:prstGeom>
          <a:noFill/>
        </p:spPr>
        <p:txBody>
          <a:bodyPr wrap="square" rtlCol="0">
            <a:spAutoFit/>
          </a:bodyPr>
          <a:lstStyle/>
          <a:p>
            <a:r>
              <a:rPr lang="en-US" sz="3200" dirty="0">
                <a:solidFill>
                  <a:schemeClr val="accent1"/>
                </a:solidFill>
              </a:rPr>
              <a:t>Thermal Energy Network Study- Phase 1</a:t>
            </a:r>
          </a:p>
          <a:p>
            <a:endParaRPr lang="en-US" sz="3200" dirty="0"/>
          </a:p>
        </p:txBody>
      </p:sp>
      <p:sp>
        <p:nvSpPr>
          <p:cNvPr id="4" name="TextBox 3">
            <a:extLst>
              <a:ext uri="{FF2B5EF4-FFF2-40B4-BE49-F238E27FC236}">
                <a16:creationId xmlns:a16="http://schemas.microsoft.com/office/drawing/2014/main" id="{EBBD0BD7-EE5E-743C-2259-7B817F4C23A8}"/>
              </a:ext>
            </a:extLst>
          </p:cNvPr>
          <p:cNvSpPr txBox="1"/>
          <p:nvPr/>
        </p:nvSpPr>
        <p:spPr>
          <a:xfrm>
            <a:off x="601228" y="2042343"/>
            <a:ext cx="3843360" cy="3208058"/>
          </a:xfrm>
          <a:prstGeom prst="rect">
            <a:avLst/>
          </a:prstGeom>
          <a:noFill/>
        </p:spPr>
        <p:txBody>
          <a:bodyPr wrap="none" rtlCol="0">
            <a:spAutoFit/>
          </a:bodyPr>
          <a:lstStyle/>
          <a:p>
            <a:pPr marR="0" lvl="0" algn="l" defTabSz="914400" rtl="0" eaLnBrk="1" fontAlgn="auto" latinLnBrk="0" hangingPunct="1">
              <a:lnSpc>
                <a:spcPct val="90000"/>
              </a:lnSpc>
              <a:spcBef>
                <a:spcPts val="1000"/>
              </a:spcBef>
              <a:spcAft>
                <a:spcPts val="0"/>
              </a:spcAft>
              <a:buClr>
                <a:srgbClr val="BD955B"/>
              </a:buClr>
              <a:buSzTx/>
              <a:tabLst/>
              <a:defRPr/>
            </a:pP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solidFill>
                  <a:prstClr val="black"/>
                </a:solidFill>
                <a:latin typeface="Calibri" panose="020F0502020204030204"/>
              </a:rPr>
              <a:t>Initial Feasibility Study</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50/90 decarbonization rule</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Hydrogeology</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Test Borehole</a:t>
            </a: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a:t>Thermal sources</a:t>
            </a:r>
          </a:p>
          <a:p>
            <a:pPr marL="342900" indent="-342900">
              <a:buFont typeface="Wingdings" pitchFamily="2" charset="2"/>
              <a:buChar char="v"/>
            </a:pPr>
            <a:endParaRPr lang="en-US" sz="2400"/>
          </a:p>
        </p:txBody>
      </p:sp>
      <p:pic>
        <p:nvPicPr>
          <p:cNvPr id="11" name="Picture 10" descr="A person standing next to a machine&#10;&#10;Description automatically generated">
            <a:extLst>
              <a:ext uri="{FF2B5EF4-FFF2-40B4-BE49-F238E27FC236}">
                <a16:creationId xmlns:a16="http://schemas.microsoft.com/office/drawing/2014/main" id="{991BA66E-CDFA-592C-1E0A-267367E142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90691" y="773611"/>
            <a:ext cx="4282622" cy="5687858"/>
          </a:xfrm>
          <a:prstGeom prst="roundRect">
            <a:avLst>
              <a:gd name="adj" fmla="val 8594"/>
            </a:avLst>
          </a:prstGeom>
          <a:solidFill>
            <a:srgbClr val="FFFFFF">
              <a:shade val="85000"/>
            </a:srgbClr>
          </a:solidFill>
          <a:ln>
            <a:noFill/>
          </a:ln>
          <a:effectLst/>
        </p:spPr>
      </p:pic>
      <p:pic>
        <p:nvPicPr>
          <p:cNvPr id="5" name="Picture 4">
            <a:extLst>
              <a:ext uri="{FF2B5EF4-FFF2-40B4-BE49-F238E27FC236}">
                <a16:creationId xmlns:a16="http://schemas.microsoft.com/office/drawing/2014/main" id="{285103CE-05AF-D1C0-1295-0EE3DD24A23D}"/>
              </a:ext>
            </a:extLst>
          </p:cNvPr>
          <p:cNvPicPr>
            <a:picLocks noChangeAspect="1"/>
          </p:cNvPicPr>
          <p:nvPr/>
        </p:nvPicPr>
        <p:blipFill>
          <a:blip r:embed="rId4"/>
          <a:stretch>
            <a:fillRect/>
          </a:stretch>
        </p:blipFill>
        <p:spPr>
          <a:xfrm>
            <a:off x="601228" y="1518427"/>
            <a:ext cx="6076392" cy="463741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2306416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755F28-AACA-E689-C5DE-1752F0C1D94C}"/>
              </a:ext>
            </a:extLst>
          </p:cNvPr>
          <p:cNvSpPr txBox="1"/>
          <p:nvPr/>
        </p:nvSpPr>
        <p:spPr>
          <a:xfrm>
            <a:off x="184727" y="274590"/>
            <a:ext cx="11416146" cy="584775"/>
          </a:xfrm>
          <a:prstGeom prst="rect">
            <a:avLst/>
          </a:prstGeom>
          <a:noFill/>
        </p:spPr>
        <p:txBody>
          <a:bodyPr wrap="square" rtlCol="0">
            <a:spAutoFit/>
          </a:bodyPr>
          <a:lstStyle/>
          <a:p>
            <a:r>
              <a:rPr lang="en-US" sz="3200" dirty="0">
                <a:solidFill>
                  <a:schemeClr val="accent1"/>
                </a:solidFill>
              </a:rPr>
              <a:t>Potential Thermal Management Assets in Vail</a:t>
            </a:r>
          </a:p>
        </p:txBody>
      </p:sp>
      <p:pic>
        <p:nvPicPr>
          <p:cNvPr id="3" name="Picture 2">
            <a:extLst>
              <a:ext uri="{FF2B5EF4-FFF2-40B4-BE49-F238E27FC236}">
                <a16:creationId xmlns:a16="http://schemas.microsoft.com/office/drawing/2014/main" id="{9553A5FF-1ED8-7D8C-920A-7C7441AEF2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293" y="1675136"/>
            <a:ext cx="3105636" cy="4345991"/>
          </a:xfrm>
          <a:prstGeom prst="rect">
            <a:avLst/>
          </a:prstGeom>
        </p:spPr>
      </p:pic>
      <p:pic>
        <p:nvPicPr>
          <p:cNvPr id="8" name="Picture 7">
            <a:extLst>
              <a:ext uri="{FF2B5EF4-FFF2-40B4-BE49-F238E27FC236}">
                <a16:creationId xmlns:a16="http://schemas.microsoft.com/office/drawing/2014/main" id="{AC68A19A-1E8C-B3BA-8CA6-451F3C54BA9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757" t="20075" r="21391" b="12683"/>
          <a:stretch/>
        </p:blipFill>
        <p:spPr>
          <a:xfrm>
            <a:off x="3191971" y="1675136"/>
            <a:ext cx="2310031" cy="2013199"/>
          </a:xfrm>
          <a:prstGeom prst="rect">
            <a:avLst/>
          </a:prstGeom>
        </p:spPr>
      </p:pic>
      <p:pic>
        <p:nvPicPr>
          <p:cNvPr id="9" name="Picture 8">
            <a:extLst>
              <a:ext uri="{FF2B5EF4-FFF2-40B4-BE49-F238E27FC236}">
                <a16:creationId xmlns:a16="http://schemas.microsoft.com/office/drawing/2014/main" id="{D2F9A566-7598-4BEB-78B0-9689F65D477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6181" r="7338"/>
          <a:stretch/>
        </p:blipFill>
        <p:spPr>
          <a:xfrm rot="5400000">
            <a:off x="3233393" y="3750384"/>
            <a:ext cx="2231455" cy="2310031"/>
          </a:xfrm>
          <a:prstGeom prst="rect">
            <a:avLst/>
          </a:prstGeom>
        </p:spPr>
      </p:pic>
      <p:pic>
        <p:nvPicPr>
          <p:cNvPr id="10" name="Picture 9">
            <a:extLst>
              <a:ext uri="{FF2B5EF4-FFF2-40B4-BE49-F238E27FC236}">
                <a16:creationId xmlns:a16="http://schemas.microsoft.com/office/drawing/2014/main" id="{FAC0EF35-C374-6BB9-7F8F-35B66ECB416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79" t="35115" r="9655" b="28590"/>
          <a:stretch/>
        </p:blipFill>
        <p:spPr>
          <a:xfrm>
            <a:off x="9107129" y="3875729"/>
            <a:ext cx="3013248" cy="2116302"/>
          </a:xfrm>
          <a:prstGeom prst="rect">
            <a:avLst/>
          </a:prstGeom>
        </p:spPr>
      </p:pic>
      <p:pic>
        <p:nvPicPr>
          <p:cNvPr id="12" name="Picture 11">
            <a:extLst>
              <a:ext uri="{FF2B5EF4-FFF2-40B4-BE49-F238E27FC236}">
                <a16:creationId xmlns:a16="http://schemas.microsoft.com/office/drawing/2014/main" id="{37DEB216-FE3F-F082-03E9-27512AAC4994}"/>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r="11431"/>
          <a:stretch/>
        </p:blipFill>
        <p:spPr>
          <a:xfrm rot="5400000">
            <a:off x="5149987" y="2104300"/>
            <a:ext cx="4311291" cy="3464170"/>
          </a:xfrm>
          <a:prstGeom prst="rect">
            <a:avLst/>
          </a:prstGeom>
        </p:spPr>
      </p:pic>
      <p:pic>
        <p:nvPicPr>
          <p:cNvPr id="4" name="Picture 3" descr="An indoor ice rink with flags from the ceiling&#10;&#10;Description automatically generated">
            <a:extLst>
              <a:ext uri="{FF2B5EF4-FFF2-40B4-BE49-F238E27FC236}">
                <a16:creationId xmlns:a16="http://schemas.microsoft.com/office/drawing/2014/main" id="{2AB4588E-5B1B-9485-ED77-6F512993745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07129" y="1682063"/>
            <a:ext cx="3013248" cy="2145398"/>
          </a:xfrm>
          <a:prstGeom prst="rect">
            <a:avLst/>
          </a:prstGeom>
        </p:spPr>
      </p:pic>
    </p:spTree>
    <p:extLst>
      <p:ext uri="{BB962C8B-B14F-4D97-AF65-F5344CB8AC3E}">
        <p14:creationId xmlns:p14="http://schemas.microsoft.com/office/powerpoint/2010/main" val="538715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5D977E-E8E5-EC83-C23B-C0C333A29B04}"/>
              </a:ext>
            </a:extLst>
          </p:cNvPr>
          <p:cNvSpPr txBox="1"/>
          <p:nvPr/>
        </p:nvSpPr>
        <p:spPr>
          <a:xfrm>
            <a:off x="230909" y="260333"/>
            <a:ext cx="11342255" cy="584775"/>
          </a:xfrm>
          <a:prstGeom prst="rect">
            <a:avLst/>
          </a:prstGeom>
          <a:noFill/>
        </p:spPr>
        <p:txBody>
          <a:bodyPr wrap="square" rtlCol="0">
            <a:spAutoFit/>
          </a:bodyPr>
          <a:lstStyle/>
          <a:p>
            <a:r>
              <a:rPr lang="en-US" sz="3200" dirty="0">
                <a:solidFill>
                  <a:schemeClr val="accent1"/>
                </a:solidFill>
              </a:rPr>
              <a:t>Geothermal Energy Grant Program:  Phase II Award</a:t>
            </a:r>
          </a:p>
        </p:txBody>
      </p:sp>
      <p:sp>
        <p:nvSpPr>
          <p:cNvPr id="3" name="TextBox 2">
            <a:extLst>
              <a:ext uri="{FF2B5EF4-FFF2-40B4-BE49-F238E27FC236}">
                <a16:creationId xmlns:a16="http://schemas.microsoft.com/office/drawing/2014/main" id="{3A3FF3B2-8CE4-9F45-EAE7-AE9842181752}"/>
              </a:ext>
            </a:extLst>
          </p:cNvPr>
          <p:cNvSpPr txBox="1"/>
          <p:nvPr/>
        </p:nvSpPr>
        <p:spPr>
          <a:xfrm>
            <a:off x="297262" y="1111436"/>
            <a:ext cx="6487719" cy="5072158"/>
          </a:xfrm>
          <a:prstGeom prst="rect">
            <a:avLst/>
          </a:prstGeom>
          <a:noFill/>
        </p:spPr>
        <p:txBody>
          <a:bodyPr wrap="square" lIns="91440" tIns="45720" rIns="91440" bIns="45720" rtlCol="0" anchor="t">
            <a:spAutoFit/>
          </a:bodyPr>
          <a:lstStyle/>
          <a:p>
            <a:r>
              <a:rPr lang="en-US" sz="2400" dirty="0">
                <a:ea typeface="Calibri"/>
                <a:cs typeface="Calibri"/>
              </a:rPr>
              <a:t>Colorado Energy Office – 7 million grant round</a:t>
            </a:r>
          </a:p>
          <a:p>
            <a:endParaRPr lang="en-US" sz="2400" dirty="0">
              <a:ea typeface="Calibri"/>
              <a:cs typeface="Calibri"/>
            </a:endParaRPr>
          </a:p>
          <a:p>
            <a:r>
              <a:rPr lang="en-US" sz="2400" dirty="0">
                <a:ea typeface="Calibri"/>
                <a:cs typeface="Calibri"/>
              </a:rPr>
              <a:t>Awarded TOV $250,000 for development of the </a:t>
            </a:r>
            <a:r>
              <a:rPr lang="en-US" sz="2400" dirty="0"/>
              <a:t>Civic Area Geothermal Heating District, to include:</a:t>
            </a:r>
            <a:endParaRPr lang="en-US" dirty="0"/>
          </a:p>
          <a:p>
            <a:endParaRPr lang="en-US" sz="2400" dirty="0"/>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dirty="0"/>
              <a:t>Wastewater treatment plant</a:t>
            </a:r>
            <a:endParaRPr lang="en-US" sz="2400" dirty="0">
              <a:ea typeface="Calibri"/>
              <a:cs typeface="Calibri"/>
            </a:endParaRPr>
          </a:p>
          <a:p>
            <a:pPr marL="228600" indent="-228600">
              <a:lnSpc>
                <a:spcPct val="90000"/>
              </a:lnSpc>
              <a:spcBef>
                <a:spcPts val="1000"/>
              </a:spcBef>
              <a:buClr>
                <a:srgbClr val="BD955B"/>
              </a:buClr>
              <a:buFont typeface="Wingdings" pitchFamily="2" charset="2"/>
              <a:buChar char="v"/>
              <a:defRPr/>
            </a:pPr>
            <a:r>
              <a:rPr lang="en-US" sz="2400" dirty="0"/>
              <a:t>Hotels like the Arrabelle</a:t>
            </a:r>
            <a:endParaRPr lang="en-US" sz="2400" dirty="0">
              <a:ea typeface="Calibri"/>
              <a:cs typeface="Calibri"/>
            </a:endParaRP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dirty="0"/>
              <a:t>Library</a:t>
            </a:r>
            <a:endParaRPr lang="en-US" sz="2400" dirty="0">
              <a:ea typeface="Calibri"/>
              <a:cs typeface="Calibri"/>
            </a:endParaRP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dirty="0"/>
              <a:t>Ice arena</a:t>
            </a:r>
            <a:endParaRPr lang="en-US" sz="2400" dirty="0">
              <a:ea typeface="Calibri"/>
              <a:cs typeface="Calibri"/>
            </a:endParaRPr>
          </a:p>
          <a:p>
            <a:pPr marL="228600" indent="-228600">
              <a:lnSpc>
                <a:spcPct val="90000"/>
              </a:lnSpc>
              <a:spcBef>
                <a:spcPts val="1000"/>
              </a:spcBef>
              <a:buClr>
                <a:srgbClr val="BD955B"/>
              </a:buClr>
              <a:buFont typeface="Wingdings" pitchFamily="2" charset="2"/>
              <a:buChar char="v"/>
              <a:defRPr/>
            </a:pPr>
            <a:r>
              <a:rPr lang="en-US" sz="2400" dirty="0"/>
              <a:t>Lionshead structure snowmelt plant</a:t>
            </a:r>
            <a:endParaRPr lang="en-US" sz="2400" dirty="0">
              <a:ea typeface="Calibri"/>
              <a:cs typeface="Calibri"/>
            </a:endParaRPr>
          </a:p>
          <a:p>
            <a:pPr marL="228600" marR="0" lvl="0" indent="-228600" algn="l" defTabSz="914400" rtl="0" eaLnBrk="1" fontAlgn="auto" latinLnBrk="0" hangingPunct="1">
              <a:lnSpc>
                <a:spcPct val="90000"/>
              </a:lnSpc>
              <a:spcBef>
                <a:spcPts val="1000"/>
              </a:spcBef>
              <a:spcAft>
                <a:spcPts val="0"/>
              </a:spcAft>
              <a:buClr>
                <a:srgbClr val="BD955B"/>
              </a:buClr>
              <a:buSzTx/>
              <a:buFont typeface="Wingdings" pitchFamily="2" charset="2"/>
              <a:buChar char="v"/>
              <a:tabLst/>
              <a:defRPr/>
            </a:pPr>
            <a:r>
              <a:rPr lang="en-US" sz="2400" dirty="0"/>
              <a:t>Geothermal Wells</a:t>
            </a:r>
            <a:endParaRPr lang="en-US" sz="2400" dirty="0">
              <a:ea typeface="Calibri"/>
              <a:cs typeface="Calibri"/>
            </a:endParaRPr>
          </a:p>
          <a:p>
            <a:pPr marL="342900" indent="-342900">
              <a:buFont typeface="Wingdings" pitchFamily="2" charset="2"/>
              <a:buChar char="v"/>
            </a:pPr>
            <a:endParaRPr lang="en-US" sz="2400" dirty="0"/>
          </a:p>
        </p:txBody>
      </p:sp>
      <p:pic>
        <p:nvPicPr>
          <p:cNvPr id="6" name="Picture 5" descr="A river running through a town&#10;&#10;Description automatically generated">
            <a:extLst>
              <a:ext uri="{FF2B5EF4-FFF2-40B4-BE49-F238E27FC236}">
                <a16:creationId xmlns:a16="http://schemas.microsoft.com/office/drawing/2014/main" id="{8B58C647-C972-BEF2-F69D-AB1669AFB6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6662" y="2580525"/>
            <a:ext cx="2891531" cy="3654907"/>
          </a:xfrm>
          <a:prstGeom prst="roundRect">
            <a:avLst>
              <a:gd name="adj" fmla="val 8594"/>
            </a:avLst>
          </a:prstGeom>
          <a:solidFill>
            <a:srgbClr val="FFFFFF">
              <a:shade val="85000"/>
            </a:srgbClr>
          </a:solidFill>
          <a:ln>
            <a:noFill/>
          </a:ln>
          <a:effectLst/>
        </p:spPr>
      </p:pic>
      <p:pic>
        <p:nvPicPr>
          <p:cNvPr id="4" name="Picture 3" descr="A logo with text and a circle&#10;&#10;Description automatically generated">
            <a:extLst>
              <a:ext uri="{FF2B5EF4-FFF2-40B4-BE49-F238E27FC236}">
                <a16:creationId xmlns:a16="http://schemas.microsoft.com/office/drawing/2014/main" id="{7E2C250C-AEE7-76DA-2334-16CFF0FE5852}"/>
              </a:ext>
            </a:extLst>
          </p:cNvPr>
          <p:cNvPicPr>
            <a:picLocks noChangeAspect="1"/>
          </p:cNvPicPr>
          <p:nvPr/>
        </p:nvPicPr>
        <p:blipFill>
          <a:blip r:embed="rId4"/>
          <a:stretch>
            <a:fillRect/>
          </a:stretch>
        </p:blipFill>
        <p:spPr>
          <a:xfrm>
            <a:off x="7439167" y="1478178"/>
            <a:ext cx="4219511" cy="933572"/>
          </a:xfrm>
          <a:prstGeom prst="rect">
            <a:avLst/>
          </a:prstGeom>
        </p:spPr>
      </p:pic>
      <p:pic>
        <p:nvPicPr>
          <p:cNvPr id="7" name="Picture 6">
            <a:extLst>
              <a:ext uri="{FF2B5EF4-FFF2-40B4-BE49-F238E27FC236}">
                <a16:creationId xmlns:a16="http://schemas.microsoft.com/office/drawing/2014/main" id="{B096BE19-7919-8ED6-BDE4-BE67AAA5AB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48923" y="2580525"/>
            <a:ext cx="2574746" cy="360306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2895128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C07FB39-5015-3D11-127B-7016B42105A3}"/>
              </a:ext>
            </a:extLst>
          </p:cNvPr>
          <p:cNvGrpSpPr/>
          <p:nvPr/>
        </p:nvGrpSpPr>
        <p:grpSpPr>
          <a:xfrm>
            <a:off x="67234" y="794290"/>
            <a:ext cx="12147177" cy="5771322"/>
            <a:chOff x="3394875" y="2465394"/>
            <a:chExt cx="9065906" cy="4297241"/>
          </a:xfrm>
        </p:grpSpPr>
        <p:pic>
          <p:nvPicPr>
            <p:cNvPr id="6" name="Picture 5">
              <a:extLst>
                <a:ext uri="{FF2B5EF4-FFF2-40B4-BE49-F238E27FC236}">
                  <a16:creationId xmlns:a16="http://schemas.microsoft.com/office/drawing/2014/main" id="{BC3F597D-AEDF-E27E-7F5F-BA90653A58DE}"/>
                </a:ext>
              </a:extLst>
            </p:cNvPr>
            <p:cNvPicPr>
              <a:picLocks noChangeAspect="1"/>
            </p:cNvPicPr>
            <p:nvPr/>
          </p:nvPicPr>
          <p:blipFill rotWithShape="1">
            <a:blip r:embed="rId3"/>
            <a:srcRect t="7568"/>
            <a:stretch/>
          </p:blipFill>
          <p:spPr>
            <a:xfrm>
              <a:off x="3394875" y="2465394"/>
              <a:ext cx="9065906" cy="4297241"/>
            </a:xfrm>
            <a:prstGeom prst="roundRect">
              <a:avLst>
                <a:gd name="adj" fmla="val 8594"/>
              </a:avLst>
            </a:prstGeom>
            <a:solidFill>
              <a:srgbClr val="FFFFFF">
                <a:shade val="85000"/>
              </a:srgbClr>
            </a:solidFill>
            <a:ln>
              <a:noFill/>
            </a:ln>
            <a:effectLst/>
          </p:spPr>
        </p:pic>
        <p:sp>
          <p:nvSpPr>
            <p:cNvPr id="7" name="Rectangle 6">
              <a:extLst>
                <a:ext uri="{FF2B5EF4-FFF2-40B4-BE49-F238E27FC236}">
                  <a16:creationId xmlns:a16="http://schemas.microsoft.com/office/drawing/2014/main" id="{C0F1A875-FF83-0521-8525-E74FFA8C886B}"/>
                </a:ext>
              </a:extLst>
            </p:cNvPr>
            <p:cNvSpPr/>
            <p:nvPr/>
          </p:nvSpPr>
          <p:spPr>
            <a:xfrm>
              <a:off x="5241902" y="6272784"/>
              <a:ext cx="2493922" cy="374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F393C67-4DDA-A3A2-47C1-6D677C68EA2C}"/>
                </a:ext>
              </a:extLst>
            </p:cNvPr>
            <p:cNvSpPr/>
            <p:nvPr/>
          </p:nvSpPr>
          <p:spPr>
            <a:xfrm>
              <a:off x="4849039" y="5897880"/>
              <a:ext cx="2493922" cy="3749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EF7CDED7-0A71-BC74-73C5-FA90B3873303}"/>
              </a:ext>
            </a:extLst>
          </p:cNvPr>
          <p:cNvSpPr txBox="1"/>
          <p:nvPr/>
        </p:nvSpPr>
        <p:spPr>
          <a:xfrm>
            <a:off x="179112" y="256650"/>
            <a:ext cx="11519555" cy="584775"/>
          </a:xfrm>
          <a:prstGeom prst="rect">
            <a:avLst/>
          </a:prstGeom>
          <a:noFill/>
        </p:spPr>
        <p:txBody>
          <a:bodyPr wrap="square" rtlCol="0">
            <a:spAutoFit/>
          </a:bodyPr>
          <a:lstStyle/>
          <a:p>
            <a:r>
              <a:rPr lang="en-US" sz="3200" dirty="0">
                <a:solidFill>
                  <a:schemeClr val="accent1"/>
                </a:solidFill>
              </a:rPr>
              <a:t>The Utility Thermal Energy Network (UTEN) Business Model</a:t>
            </a:r>
          </a:p>
        </p:txBody>
      </p:sp>
      <p:sp>
        <p:nvSpPr>
          <p:cNvPr id="4" name="Rectangle 3">
            <a:extLst>
              <a:ext uri="{FF2B5EF4-FFF2-40B4-BE49-F238E27FC236}">
                <a16:creationId xmlns:a16="http://schemas.microsoft.com/office/drawing/2014/main" id="{11A84838-2E73-3FD8-301C-0665F7D79F00}"/>
              </a:ext>
            </a:extLst>
          </p:cNvPr>
          <p:cNvSpPr/>
          <p:nvPr/>
        </p:nvSpPr>
        <p:spPr>
          <a:xfrm>
            <a:off x="3465576" y="794290"/>
            <a:ext cx="3090672" cy="1067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5785CA6-992A-DDDD-2324-E969B31D7F44}"/>
              </a:ext>
            </a:extLst>
          </p:cNvPr>
          <p:cNvSpPr txBox="1"/>
          <p:nvPr/>
        </p:nvSpPr>
        <p:spPr>
          <a:xfrm>
            <a:off x="190031" y="1412925"/>
            <a:ext cx="7059181" cy="4315027"/>
          </a:xfrm>
          <a:prstGeom prst="rect">
            <a:avLst/>
          </a:prstGeom>
          <a:noFill/>
        </p:spPr>
        <p:txBody>
          <a:bodyPr wrap="square" rtlCol="0">
            <a:spAutoFit/>
          </a:bodyPr>
          <a:lstStyle/>
          <a:p>
            <a:pPr marL="228600" lvl="0" indent="-228600">
              <a:lnSpc>
                <a:spcPct val="90000"/>
              </a:lnSpc>
              <a:spcBef>
                <a:spcPts val="1000"/>
              </a:spcBef>
              <a:buClr>
                <a:srgbClr val="BD955B"/>
              </a:buClr>
              <a:buFont typeface="Wingdings" pitchFamily="2" charset="2"/>
              <a:buChar char="v"/>
              <a:defRPr/>
            </a:pPr>
            <a:r>
              <a:rPr lang="en-US" sz="2800" dirty="0"/>
              <a:t>UTEN Conversation Evolving Nationally</a:t>
            </a:r>
          </a:p>
          <a:p>
            <a:pPr marL="228600" lvl="0" indent="-228600">
              <a:lnSpc>
                <a:spcPct val="90000"/>
              </a:lnSpc>
              <a:spcBef>
                <a:spcPts val="1000"/>
              </a:spcBef>
              <a:buClr>
                <a:srgbClr val="BD955B"/>
              </a:buClr>
              <a:buFont typeface="Wingdings" pitchFamily="2" charset="2"/>
              <a:buChar char="v"/>
              <a:defRPr/>
            </a:pPr>
            <a:r>
              <a:rPr lang="en-US" sz="2800" dirty="0"/>
              <a:t> Who Finances, Owns, and Operates?</a:t>
            </a:r>
          </a:p>
          <a:p>
            <a:pPr marL="685800" lvl="1" indent="-228600">
              <a:lnSpc>
                <a:spcPct val="90000"/>
              </a:lnSpc>
              <a:spcBef>
                <a:spcPts val="1000"/>
              </a:spcBef>
              <a:buClr>
                <a:srgbClr val="BD955B"/>
              </a:buClr>
              <a:buFont typeface="Wingdings" pitchFamily="2" charset="2"/>
              <a:buChar char="v"/>
              <a:defRPr/>
            </a:pPr>
            <a:r>
              <a:rPr lang="en-US" sz="2800" dirty="0"/>
              <a:t>Third Party</a:t>
            </a:r>
          </a:p>
          <a:p>
            <a:pPr marL="685800" lvl="1" indent="-228600">
              <a:lnSpc>
                <a:spcPct val="90000"/>
              </a:lnSpc>
              <a:spcBef>
                <a:spcPts val="1000"/>
              </a:spcBef>
              <a:buClr>
                <a:srgbClr val="BD955B"/>
              </a:buClr>
              <a:buFont typeface="Wingdings" pitchFamily="2" charset="2"/>
              <a:buChar char="v"/>
              <a:defRPr/>
            </a:pPr>
            <a:r>
              <a:rPr lang="en-US" sz="2800" dirty="0"/>
              <a:t>Municipality or Customers</a:t>
            </a:r>
          </a:p>
          <a:p>
            <a:pPr marL="685800" lvl="1" indent="-228600">
              <a:lnSpc>
                <a:spcPct val="90000"/>
              </a:lnSpc>
              <a:spcBef>
                <a:spcPts val="1000"/>
              </a:spcBef>
              <a:buClr>
                <a:srgbClr val="BD955B"/>
              </a:buClr>
              <a:buFont typeface="Wingdings" pitchFamily="2" charset="2"/>
              <a:buChar char="v"/>
              <a:defRPr/>
            </a:pPr>
            <a:r>
              <a:rPr lang="en-US" sz="2800" dirty="0"/>
              <a:t>Utility Company</a:t>
            </a:r>
          </a:p>
          <a:p>
            <a:pPr marL="228600" indent="-228600">
              <a:lnSpc>
                <a:spcPct val="90000"/>
              </a:lnSpc>
              <a:spcBef>
                <a:spcPts val="1000"/>
              </a:spcBef>
              <a:buClr>
                <a:srgbClr val="BD955B"/>
              </a:buClr>
              <a:buFont typeface="Wingdings" pitchFamily="2" charset="2"/>
              <a:buChar char="v"/>
              <a:defRPr/>
            </a:pPr>
            <a:r>
              <a:rPr lang="en-US" sz="2800" dirty="0"/>
              <a:t>Design, Commissioning and Controls Support</a:t>
            </a:r>
          </a:p>
          <a:p>
            <a:pPr marL="228600" indent="-228600">
              <a:lnSpc>
                <a:spcPct val="90000"/>
              </a:lnSpc>
              <a:spcBef>
                <a:spcPts val="1000"/>
              </a:spcBef>
              <a:buClr>
                <a:srgbClr val="BD955B"/>
              </a:buClr>
              <a:buFont typeface="Wingdings" pitchFamily="2" charset="2"/>
              <a:buChar char="v"/>
              <a:defRPr/>
            </a:pPr>
            <a:r>
              <a:rPr lang="en-US" sz="2800" dirty="0"/>
              <a:t>Billing and Customer Participation</a:t>
            </a:r>
          </a:p>
          <a:p>
            <a:endParaRPr lang="en-US" sz="2400" dirty="0"/>
          </a:p>
          <a:p>
            <a:endParaRPr lang="en-US" sz="2400" dirty="0"/>
          </a:p>
        </p:txBody>
      </p:sp>
      <p:sp>
        <p:nvSpPr>
          <p:cNvPr id="5" name="Rectangle 4">
            <a:extLst>
              <a:ext uri="{FF2B5EF4-FFF2-40B4-BE49-F238E27FC236}">
                <a16:creationId xmlns:a16="http://schemas.microsoft.com/office/drawing/2014/main" id="{08CC1483-73D8-309A-DDA3-21E4E5D915A0}"/>
              </a:ext>
            </a:extLst>
          </p:cNvPr>
          <p:cNvSpPr/>
          <p:nvPr/>
        </p:nvSpPr>
        <p:spPr>
          <a:xfrm>
            <a:off x="5354412" y="5302106"/>
            <a:ext cx="750269" cy="10070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34A1ED7-508F-1F5B-9738-834755B307EA}"/>
              </a:ext>
            </a:extLst>
          </p:cNvPr>
          <p:cNvSpPr/>
          <p:nvPr/>
        </p:nvSpPr>
        <p:spPr>
          <a:xfrm>
            <a:off x="5827087" y="6006759"/>
            <a:ext cx="750269" cy="3692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2919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B4F4E-5590-49F5-FD14-1C857FAB0F1D}"/>
              </a:ext>
            </a:extLst>
          </p:cNvPr>
          <p:cNvSpPr txBox="1"/>
          <p:nvPr/>
        </p:nvSpPr>
        <p:spPr>
          <a:xfrm>
            <a:off x="318313" y="356130"/>
            <a:ext cx="10387584" cy="584775"/>
          </a:xfrm>
          <a:prstGeom prst="rect">
            <a:avLst/>
          </a:prstGeom>
          <a:noFill/>
        </p:spPr>
        <p:txBody>
          <a:bodyPr wrap="square" rtlCol="0">
            <a:spAutoFit/>
          </a:bodyPr>
          <a:lstStyle/>
          <a:p>
            <a:r>
              <a:rPr lang="en-US" sz="3200" dirty="0">
                <a:solidFill>
                  <a:schemeClr val="accent1"/>
                </a:solidFill>
              </a:rPr>
              <a:t>The Paradigm Shift</a:t>
            </a:r>
          </a:p>
        </p:txBody>
      </p:sp>
      <p:sp>
        <p:nvSpPr>
          <p:cNvPr id="3" name="TextBox 2">
            <a:extLst>
              <a:ext uri="{FF2B5EF4-FFF2-40B4-BE49-F238E27FC236}">
                <a16:creationId xmlns:a16="http://schemas.microsoft.com/office/drawing/2014/main" id="{5F3A73F5-34D1-41A3-0E88-3D360C5740B7}"/>
              </a:ext>
            </a:extLst>
          </p:cNvPr>
          <p:cNvSpPr txBox="1"/>
          <p:nvPr/>
        </p:nvSpPr>
        <p:spPr>
          <a:xfrm>
            <a:off x="110900" y="1518514"/>
            <a:ext cx="11970200" cy="4293483"/>
          </a:xfrm>
          <a:prstGeom prst="rect">
            <a:avLst/>
          </a:prstGeom>
          <a:noFill/>
        </p:spPr>
        <p:txBody>
          <a:bodyPr wrap="none" lIns="91440" tIns="45720" rIns="91440" bIns="45720" rtlCol="0" anchor="t">
            <a:spAutoFit/>
          </a:bodyPr>
          <a:lstStyle/>
          <a:p>
            <a:pPr marL="342900" marR="0" lvl="0" indent="-342900" algn="l" defTabSz="914400" rtl="0" eaLnBrk="1" fontAlgn="auto" latinLnBrk="0" hangingPunct="1">
              <a:lnSpc>
                <a:spcPct val="150000"/>
              </a:lnSpc>
              <a:spcBef>
                <a:spcPts val="1000"/>
              </a:spcBef>
              <a:spcAft>
                <a:spcPts val="0"/>
              </a:spcAft>
              <a:buClr>
                <a:srgbClr val="BD955B"/>
              </a:buClr>
              <a:buSzTx/>
              <a:buFont typeface="Arial" panose="020B0604020202020204" pitchFamily="34" charset="0"/>
              <a:buChar char="•"/>
              <a:tabLst/>
              <a:defRPr/>
            </a:pPr>
            <a:r>
              <a:rPr lang="en-US" sz="2600" dirty="0"/>
              <a:t> Beneficial Electrification is </a:t>
            </a:r>
            <a:r>
              <a:rPr lang="en-US" sz="2600" i="1" dirty="0"/>
              <a:t>the challenge</a:t>
            </a:r>
            <a:r>
              <a:rPr lang="en-US" sz="2600" dirty="0"/>
              <a:t> of our times</a:t>
            </a:r>
            <a:r>
              <a:rPr lang="en-US" sz="2600" b="1" dirty="0"/>
              <a:t>- </a:t>
            </a:r>
            <a:r>
              <a:rPr lang="en-US" sz="2600" dirty="0"/>
              <a:t>The </a:t>
            </a:r>
            <a:r>
              <a:rPr lang="en-US" sz="2600" b="1" i="1" dirty="0"/>
              <a:t>last 10% is most difficult!</a:t>
            </a:r>
            <a:endParaRPr lang="en-US" sz="2600" b="1" i="1" dirty="0">
              <a:ea typeface="Calibri"/>
              <a:cs typeface="Calibri"/>
            </a:endParaRPr>
          </a:p>
          <a:p>
            <a:pPr marL="342900" marR="0" lvl="0" indent="-342900" algn="l" defTabSz="914400" rtl="0" eaLnBrk="1" fontAlgn="auto" latinLnBrk="0" hangingPunct="1">
              <a:lnSpc>
                <a:spcPct val="150000"/>
              </a:lnSpc>
              <a:spcBef>
                <a:spcPts val="1000"/>
              </a:spcBef>
              <a:spcAft>
                <a:spcPts val="0"/>
              </a:spcAft>
              <a:buClr>
                <a:srgbClr val="BD955B"/>
              </a:buClr>
              <a:buSzTx/>
              <a:buFont typeface="Arial" panose="020B0604020202020204" pitchFamily="34" charset="0"/>
              <a:buChar char="•"/>
              <a:tabLst/>
              <a:defRPr/>
            </a:pPr>
            <a:r>
              <a:rPr lang="en-US" sz="2600" dirty="0"/>
              <a:t> The TEN is a holistic tool to achieve decarbonization in the built environment</a:t>
            </a:r>
          </a:p>
          <a:p>
            <a:pPr marL="342900" marR="0" lvl="0" indent="-342900" algn="l" defTabSz="914400" rtl="0" eaLnBrk="1" fontAlgn="auto" latinLnBrk="0" hangingPunct="1">
              <a:lnSpc>
                <a:spcPct val="150000"/>
              </a:lnSpc>
              <a:spcBef>
                <a:spcPts val="1000"/>
              </a:spcBef>
              <a:spcAft>
                <a:spcPts val="0"/>
              </a:spcAft>
              <a:buClr>
                <a:srgbClr val="BD955B"/>
              </a:buClr>
              <a:buSzTx/>
              <a:buFont typeface="Arial" panose="020B0604020202020204" pitchFamily="34" charset="0"/>
              <a:buChar char="•"/>
              <a:tabLst/>
              <a:defRPr/>
            </a:pPr>
            <a:r>
              <a:rPr lang="en-US" sz="2600" dirty="0"/>
              <a:t> A TEN is a demand response tool that increases power factor of electrical grid</a:t>
            </a:r>
          </a:p>
          <a:p>
            <a:pPr marL="342900" marR="0" lvl="0" indent="-342900" algn="l" defTabSz="914400" rtl="0" eaLnBrk="1" fontAlgn="auto" latinLnBrk="0" hangingPunct="1">
              <a:lnSpc>
                <a:spcPct val="150000"/>
              </a:lnSpc>
              <a:spcBef>
                <a:spcPts val="1000"/>
              </a:spcBef>
              <a:spcAft>
                <a:spcPts val="0"/>
              </a:spcAft>
              <a:buClr>
                <a:srgbClr val="BD955B"/>
              </a:buClr>
              <a:buSzTx/>
              <a:buFont typeface="Arial" panose="020B0604020202020204" pitchFamily="34" charset="0"/>
              <a:buChar char="•"/>
              <a:tabLst/>
              <a:defRPr/>
            </a:pPr>
            <a:r>
              <a:rPr lang="en-US" sz="2600" dirty="0"/>
              <a:t> A TEN offers the highest possible COP for Heating and Cooling</a:t>
            </a:r>
          </a:p>
          <a:p>
            <a:pPr marL="457200" indent="-457200" algn="ctr">
              <a:buFont typeface="Arial" panose="020B0604020202020204" pitchFamily="34" charset="0"/>
              <a:buChar char="•"/>
            </a:pPr>
            <a:endParaRPr lang="en-US" sz="2800" dirty="0"/>
          </a:p>
          <a:p>
            <a:pPr marL="457200" indent="-457200" algn="ctr">
              <a:buFont typeface="Arial" panose="020B0604020202020204" pitchFamily="34" charset="0"/>
              <a:buChar char="•"/>
            </a:pPr>
            <a:r>
              <a:rPr lang="en-US" sz="2800" dirty="0"/>
              <a:t> </a:t>
            </a:r>
            <a:r>
              <a:rPr lang="en-US" sz="4000" b="1" dirty="0">
                <a:solidFill>
                  <a:srgbClr val="0066FF"/>
                </a:solidFill>
              </a:rPr>
              <a:t>In a TEN, liabilities can become assets</a:t>
            </a:r>
            <a:endParaRPr lang="en-US" sz="2800" b="1" dirty="0">
              <a:solidFill>
                <a:srgbClr val="0066FF"/>
              </a:solidFill>
              <a:ea typeface="Calibri"/>
              <a:cs typeface="Calibri"/>
            </a:endParaRP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814118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B621E5-0836-7508-1108-3D4F53845F8B}"/>
              </a:ext>
            </a:extLst>
          </p:cNvPr>
          <p:cNvSpPr txBox="1"/>
          <p:nvPr/>
        </p:nvSpPr>
        <p:spPr>
          <a:xfrm>
            <a:off x="141579" y="252417"/>
            <a:ext cx="11365536" cy="584775"/>
          </a:xfrm>
          <a:prstGeom prst="rect">
            <a:avLst/>
          </a:prstGeom>
          <a:noFill/>
        </p:spPr>
        <p:txBody>
          <a:bodyPr wrap="square" rtlCol="0">
            <a:spAutoFit/>
          </a:bodyPr>
          <a:lstStyle/>
          <a:p>
            <a:r>
              <a:rPr lang="en-US" sz="3200" dirty="0">
                <a:solidFill>
                  <a:schemeClr val="accent1"/>
                </a:solidFill>
              </a:rPr>
              <a:t>Thank you!  Questions and Discussion</a:t>
            </a:r>
          </a:p>
        </p:txBody>
      </p:sp>
      <p:sp>
        <p:nvSpPr>
          <p:cNvPr id="5" name="TextBox 4">
            <a:extLst>
              <a:ext uri="{FF2B5EF4-FFF2-40B4-BE49-F238E27FC236}">
                <a16:creationId xmlns:a16="http://schemas.microsoft.com/office/drawing/2014/main" id="{8F98E20F-32B7-EBE9-BF1B-4A065E34923F}"/>
              </a:ext>
            </a:extLst>
          </p:cNvPr>
          <p:cNvSpPr txBox="1"/>
          <p:nvPr/>
        </p:nvSpPr>
        <p:spPr>
          <a:xfrm>
            <a:off x="864734" y="5685249"/>
            <a:ext cx="1851533" cy="1200329"/>
          </a:xfrm>
          <a:prstGeom prst="rect">
            <a:avLst/>
          </a:prstGeom>
          <a:noFill/>
        </p:spPr>
        <p:txBody>
          <a:bodyPr wrap="none" rtlCol="0">
            <a:spAutoFit/>
          </a:bodyPr>
          <a:lstStyle/>
          <a:p>
            <a:r>
              <a:rPr lang="en-US" dirty="0"/>
              <a:t>Cameron Millard</a:t>
            </a:r>
          </a:p>
          <a:p>
            <a:r>
              <a:rPr lang="en-US" dirty="0">
                <a:hlinkClick r:id="rId2"/>
              </a:rPr>
              <a:t>cmillard@vail.gov</a:t>
            </a:r>
            <a:endParaRPr lang="en-US" dirty="0"/>
          </a:p>
          <a:p>
            <a:endParaRPr lang="en-US" dirty="0"/>
          </a:p>
          <a:p>
            <a:endParaRPr lang="en-US" dirty="0"/>
          </a:p>
        </p:txBody>
      </p:sp>
      <p:sp>
        <p:nvSpPr>
          <p:cNvPr id="6" name="TextBox 5">
            <a:extLst>
              <a:ext uri="{FF2B5EF4-FFF2-40B4-BE49-F238E27FC236}">
                <a16:creationId xmlns:a16="http://schemas.microsoft.com/office/drawing/2014/main" id="{BFD9036E-4764-DEB3-9534-A5A4676D4F50}"/>
              </a:ext>
            </a:extLst>
          </p:cNvPr>
          <p:cNvSpPr txBox="1"/>
          <p:nvPr/>
        </p:nvSpPr>
        <p:spPr>
          <a:xfrm>
            <a:off x="7670723" y="5682253"/>
            <a:ext cx="3050900" cy="923330"/>
          </a:xfrm>
          <a:prstGeom prst="rect">
            <a:avLst/>
          </a:prstGeom>
          <a:noFill/>
        </p:spPr>
        <p:txBody>
          <a:bodyPr wrap="none" rtlCol="0">
            <a:spAutoFit/>
          </a:bodyPr>
          <a:lstStyle/>
          <a:p>
            <a:r>
              <a:rPr lang="en-US" dirty="0"/>
              <a:t>Matt Garlick</a:t>
            </a:r>
          </a:p>
          <a:p>
            <a:r>
              <a:rPr lang="en-US" dirty="0">
                <a:hlinkClick r:id="rId3"/>
              </a:rPr>
              <a:t>mgarlick@greyedgegroup.com</a:t>
            </a:r>
            <a:endParaRPr lang="en-US" dirty="0"/>
          </a:p>
          <a:p>
            <a:endParaRPr lang="en-US" dirty="0"/>
          </a:p>
        </p:txBody>
      </p:sp>
      <p:pic>
        <p:nvPicPr>
          <p:cNvPr id="12" name="Graphic 11" descr="Questions with solid fill">
            <a:extLst>
              <a:ext uri="{FF2B5EF4-FFF2-40B4-BE49-F238E27FC236}">
                <a16:creationId xmlns:a16="http://schemas.microsoft.com/office/drawing/2014/main" id="{72615E33-3469-B6D8-C8B9-BB885D43D3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35470" y="2548263"/>
            <a:ext cx="2351903" cy="2351903"/>
          </a:xfrm>
          <a:prstGeom prst="rect">
            <a:avLst/>
          </a:prstGeom>
        </p:spPr>
      </p:pic>
      <p:pic>
        <p:nvPicPr>
          <p:cNvPr id="3" name="Picture 2" descr="A logo with a blue circle and black text&#10;&#10;Description automatically generated">
            <a:extLst>
              <a:ext uri="{FF2B5EF4-FFF2-40B4-BE49-F238E27FC236}">
                <a16:creationId xmlns:a16="http://schemas.microsoft.com/office/drawing/2014/main" id="{E6171C72-3996-951C-A019-056A1283CD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0374" y="1048458"/>
            <a:ext cx="1676105" cy="935038"/>
          </a:xfrm>
          <a:prstGeom prst="roundRect">
            <a:avLst>
              <a:gd name="adj" fmla="val 8594"/>
            </a:avLst>
          </a:prstGeom>
          <a:solidFill>
            <a:srgbClr val="FFFFFF">
              <a:shade val="85000"/>
            </a:srgbClr>
          </a:solidFill>
          <a:ln>
            <a:noFill/>
          </a:ln>
          <a:effectLst/>
        </p:spPr>
      </p:pic>
      <p:pic>
        <p:nvPicPr>
          <p:cNvPr id="8" name="Picture 7" descr="A close-up of a logo&#10;&#10;Description automatically generated">
            <a:extLst>
              <a:ext uri="{FF2B5EF4-FFF2-40B4-BE49-F238E27FC236}">
                <a16:creationId xmlns:a16="http://schemas.microsoft.com/office/drawing/2014/main" id="{D08F774E-48A4-A59B-7190-3E43CB2F2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82257" y="1214930"/>
            <a:ext cx="2311400" cy="825500"/>
          </a:xfrm>
          <a:prstGeom prst="roundRect">
            <a:avLst>
              <a:gd name="adj" fmla="val 8594"/>
            </a:avLst>
          </a:prstGeom>
          <a:solidFill>
            <a:srgbClr val="FFFFFF">
              <a:shade val="85000"/>
            </a:srgbClr>
          </a:solidFill>
          <a:ln>
            <a:noFill/>
          </a:ln>
          <a:effectLst/>
        </p:spPr>
      </p:pic>
      <p:pic>
        <p:nvPicPr>
          <p:cNvPr id="9" name="Picture 8" descr="A group of people posing for a picture&#10;&#10;Description automatically generated">
            <a:extLst>
              <a:ext uri="{FF2B5EF4-FFF2-40B4-BE49-F238E27FC236}">
                <a16:creationId xmlns:a16="http://schemas.microsoft.com/office/drawing/2014/main" id="{588FE323-978D-C756-7EF1-17F476B0BB2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4734" y="2125193"/>
            <a:ext cx="2887387" cy="3430558"/>
          </a:xfrm>
          <a:prstGeom prst="roundRect">
            <a:avLst>
              <a:gd name="adj" fmla="val 8594"/>
            </a:avLst>
          </a:prstGeom>
          <a:solidFill>
            <a:srgbClr val="FFFFFF">
              <a:shade val="85000"/>
            </a:srgbClr>
          </a:solidFill>
          <a:ln>
            <a:noFill/>
          </a:ln>
          <a:effectLst/>
        </p:spPr>
      </p:pic>
      <p:pic>
        <p:nvPicPr>
          <p:cNvPr id="7" name="Picture 6">
            <a:extLst>
              <a:ext uri="{FF2B5EF4-FFF2-40B4-BE49-F238E27FC236}">
                <a16:creationId xmlns:a16="http://schemas.microsoft.com/office/drawing/2014/main" id="{B8529B4B-B606-FA3C-2B70-1B6578FB6F32}"/>
              </a:ext>
            </a:extLst>
          </p:cNvPr>
          <p:cNvPicPr>
            <a:picLocks noChangeAspect="1"/>
          </p:cNvPicPr>
          <p:nvPr/>
        </p:nvPicPr>
        <p:blipFill>
          <a:blip r:embed="rId9" cstate="print">
            <a:extLst>
              <a:ext uri="{28A0092B-C50C-407E-A947-70E740481C1C}">
                <a14:useLocalDpi xmlns:a14="http://schemas.microsoft.com/office/drawing/2010/main" val="0"/>
              </a:ext>
            </a:extLst>
          </a:blip>
          <a:srcRect l="14670" r="996"/>
          <a:stretch/>
        </p:blipFill>
        <p:spPr>
          <a:xfrm rot="5400000">
            <a:off x="7480894" y="2315023"/>
            <a:ext cx="3430560" cy="3050901"/>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4166182275"/>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0A764A"/>
      </a:accent1>
      <a:accent2>
        <a:srgbClr val="BD955B"/>
      </a:accent2>
      <a:accent3>
        <a:srgbClr val="000000"/>
      </a:accent3>
      <a:accent4>
        <a:srgbClr val="000000"/>
      </a:accent4>
      <a:accent5>
        <a:srgbClr val="000000"/>
      </a:accent5>
      <a:accent6>
        <a:srgbClr val="000000"/>
      </a:accent6>
      <a:hlink>
        <a:srgbClr val="0070C0"/>
      </a:hlink>
      <a:folHlink>
        <a:srgbClr val="FF000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RMUE-Wide-Screen-PPT-Template.potx" id="{0528F96E-3C8F-49DD-AD6E-1C914756DB5B}" vid="{6123447D-6FF2-4B2F-AF88-E0D2066F96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AE5EE057BC9F43B26E08BE3C93F443" ma:contentTypeVersion="14" ma:contentTypeDescription="Create a new document." ma:contentTypeScope="" ma:versionID="4bc4c357b05fc27a2c4fd2ed5f0caf66">
  <xsd:schema xmlns:xsd="http://www.w3.org/2001/XMLSchema" xmlns:xs="http://www.w3.org/2001/XMLSchema" xmlns:p="http://schemas.microsoft.com/office/2006/metadata/properties" xmlns:ns2="f63aac96-6c22-4acb-bcd1-d671912bd8aa" xmlns:ns3="ab10ce27-33c4-4ede-8105-a3cd7fc3dcd0" targetNamespace="http://schemas.microsoft.com/office/2006/metadata/properties" ma:root="true" ma:fieldsID="39b62f2764437405437cdea7525b1e45" ns2:_="" ns3:_="">
    <xsd:import namespace="f63aac96-6c22-4acb-bcd1-d671912bd8aa"/>
    <xsd:import namespace="ab10ce27-33c4-4ede-8105-a3cd7fc3dc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element ref="ns2:Date_x002d_Tim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aac96-6c22-4acb-bcd1-d671912bd8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13e8058-98c7-47b1-9de9-5c0c3ae8178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Date_x002d_Time" ma:index="20" nillable="true" ma:displayName="Date-Time" ma:format="DateTime" ma:internalName="Date_x002d_Time">
      <xsd:simpleType>
        <xsd:restriction base="dms:DateTim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10ce27-33c4-4ede-8105-a3cd7fc3dcd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118888e-c2cf-453c-b2ee-45c9ded50370}" ma:internalName="TaxCatchAll" ma:showField="CatchAllData" ma:web="ab10ce27-33c4-4ede-8105-a3cd7fc3dc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ate_x002d_Time xmlns="f63aac96-6c22-4acb-bcd1-d671912bd8aa" xsi:nil="true"/>
    <lcf76f155ced4ddcb4097134ff3c332f xmlns="f63aac96-6c22-4acb-bcd1-d671912bd8aa">
      <Terms xmlns="http://schemas.microsoft.com/office/infopath/2007/PartnerControls"/>
    </lcf76f155ced4ddcb4097134ff3c332f>
    <TaxCatchAll xmlns="ab10ce27-33c4-4ede-8105-a3cd7fc3dcd0" xsi:nil="true"/>
  </documentManagement>
</p:properties>
</file>

<file path=customXml/itemProps1.xml><?xml version="1.0" encoding="utf-8"?>
<ds:datastoreItem xmlns:ds="http://schemas.openxmlformats.org/officeDocument/2006/customXml" ds:itemID="{09B1737A-CF97-4955-8099-C4CF28DEB04F}"/>
</file>

<file path=customXml/itemProps2.xml><?xml version="1.0" encoding="utf-8"?>
<ds:datastoreItem xmlns:ds="http://schemas.openxmlformats.org/officeDocument/2006/customXml" ds:itemID="{9AA9501A-CCBB-4FAE-B518-4F2AF63DDE9C}"/>
</file>

<file path=customXml/itemProps3.xml><?xml version="1.0" encoding="utf-8"?>
<ds:datastoreItem xmlns:ds="http://schemas.openxmlformats.org/officeDocument/2006/customXml" ds:itemID="{54178587-DDE3-4C43-8C2B-94F172363DC7}"/>
</file>

<file path=docProps/app.xml><?xml version="1.0" encoding="utf-8"?>
<Properties xmlns="http://schemas.openxmlformats.org/officeDocument/2006/extended-properties" xmlns:vt="http://schemas.openxmlformats.org/officeDocument/2006/docPropsVTypes">
  <Template/>
  <TotalTime>333</TotalTime>
  <Words>1365</Words>
  <Application>Microsoft Office PowerPoint</Application>
  <PresentationFormat>Widescreen</PresentationFormat>
  <Paragraphs>192</Paragraphs>
  <Slides>19</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Wingdings</vt:lpstr>
      <vt:lpstr>Wingdings,Sans-Serif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Tiger Adolf</dc:creator>
  <cp:lastModifiedBy>Matt Garlick</cp:lastModifiedBy>
  <cp:revision>17</cp:revision>
  <dcterms:created xsi:type="dcterms:W3CDTF">2021-06-22T17:13:53Z</dcterms:created>
  <dcterms:modified xsi:type="dcterms:W3CDTF">2025-01-23T22:02:28Z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0x01010020AE5EE057BC9F43B26E08BE3C93F443</vt:lpwstr>
  </property>
</Properties>
</file>