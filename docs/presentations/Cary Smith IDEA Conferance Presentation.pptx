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drawings/drawing1.xml" ContentType="application/vnd.openxmlformats-officedocument.drawingml.chartshapes+xml"/>
  <Override PartName="/ppt/slideMasters/slideMaster1.xml" ContentType="application/vnd.openxmlformats-officedocument.presentationml.slideMaster+xml"/>
  <Override PartName="/ppt/notesSlides/notesSlide3.xml" ContentType="application/vnd.openxmlformats-officedocument.presentationml.notesSlide+xml"/>
  <Override PartName="/ppt/notesSlides/notesSlide4.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689" r:id="rId2"/>
    <p:sldId id="887" r:id="rId3"/>
    <p:sldId id="2697" r:id="rId4"/>
    <p:sldId id="2687" r:id="rId5"/>
    <p:sldId id="889" r:id="rId6"/>
    <p:sldId id="2694" r:id="rId7"/>
    <p:sldId id="1237" r:id="rId8"/>
    <p:sldId id="924" r:id="rId9"/>
    <p:sldId id="832" r:id="rId10"/>
    <p:sldId id="341" r:id="rId11"/>
    <p:sldId id="1089" r:id="rId12"/>
    <p:sldId id="2691" r:id="rId13"/>
    <p:sldId id="332" r:id="rId14"/>
    <p:sldId id="352" r:id="rId15"/>
    <p:sldId id="268" r:id="rId16"/>
    <p:sldId id="2688" r:id="rId17"/>
    <p:sldId id="270" r:id="rId18"/>
    <p:sldId id="1239" r:id="rId19"/>
    <p:sldId id="2696" r:id="rId20"/>
    <p:sldId id="2693" r:id="rId21"/>
    <p:sldId id="2692" r:id="rId22"/>
    <p:sldId id="833" r:id="rId23"/>
    <p:sldId id="27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11" autoAdjust="0"/>
    <p:restoredTop sz="94660"/>
  </p:normalViewPr>
  <p:slideViewPr>
    <p:cSldViewPr snapToGrid="0">
      <p:cViewPr varScale="1">
        <p:scale>
          <a:sx n="159" d="100"/>
          <a:sy n="159" d="100"/>
        </p:scale>
        <p:origin x="114" y="180"/>
      </p:cViewPr>
      <p:guideLst/>
    </p:cSldViewPr>
  </p:slideViewPr>
  <p:notesTextViewPr>
    <p:cViewPr>
      <p:scale>
        <a:sx n="1" d="1"/>
        <a:sy n="1" d="1"/>
      </p:scale>
      <p:origin x="0" y="0"/>
    </p:cViewPr>
  </p:notesTextViewPr>
  <p:sorterViewPr>
    <p:cViewPr>
      <p:scale>
        <a:sx n="136" d="100"/>
        <a:sy n="13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openxmlformats.org/officeDocument/2006/relationships/customXml" Target="../customXml/item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Cary\Desktop\CMU\Xcel%20Data%20kW%20use%20301020762.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800" b="1" dirty="0">
                <a:solidFill>
                  <a:schemeClr val="tx1"/>
                </a:solidFill>
              </a:rPr>
              <a:t>Colorado Mesa University</a:t>
            </a:r>
          </a:p>
          <a:p>
            <a:pPr>
              <a:defRPr/>
            </a:pPr>
            <a:r>
              <a:rPr lang="en-US" sz="2800" b="1" dirty="0">
                <a:solidFill>
                  <a:schemeClr val="tx1"/>
                </a:solidFill>
              </a:rPr>
              <a:t>Monthly Peak  kW (Power)  2013 - 2016 </a:t>
            </a:r>
            <a:r>
              <a:rPr lang="en-US" sz="2800" dirty="0"/>
              <a:t>     </a:t>
            </a:r>
          </a:p>
        </c:rich>
      </c:tx>
      <c:layout>
        <c:manualLayout>
          <c:xMode val="edge"/>
          <c:yMode val="edge"/>
          <c:x val="0.13255446289431072"/>
          <c:y val="2.5041137691883596E-4"/>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6.4229722487058161E-2"/>
          <c:y val="0.1902779030348011"/>
          <c:w val="0.87129396325459318"/>
          <c:h val="0.63192706246571861"/>
        </c:manualLayout>
      </c:layout>
      <c:scatterChart>
        <c:scatterStyle val="lineMarker"/>
        <c:varyColors val="0"/>
        <c:ser>
          <c:idx val="0"/>
          <c:order val="0"/>
          <c:tx>
            <c:strRef>
              <c:f>'Electric Summary (2)'!$P$3</c:f>
              <c:strCache>
                <c:ptCount val="1"/>
                <c:pt idx="0">
                  <c:v>Max kW      </c:v>
                </c:pt>
              </c:strCache>
            </c:strRef>
          </c:tx>
          <c:spPr>
            <a:ln w="28575" cap="rnd">
              <a:noFill/>
              <a:round/>
            </a:ln>
            <a:effectLst/>
          </c:spPr>
          <c:marker>
            <c:symbol val="circle"/>
            <c:size val="5"/>
            <c:spPr>
              <a:solidFill>
                <a:srgbClr val="FF0000"/>
              </a:solidFill>
              <a:ln w="9525">
                <a:solidFill>
                  <a:schemeClr val="accent1"/>
                </a:solidFill>
              </a:ln>
              <a:effectLst/>
            </c:spPr>
          </c:marker>
          <c:dLbls>
            <c:dLbl>
              <c:idx val="2"/>
              <c:delete val="1"/>
              <c:extLst>
                <c:ext xmlns:c15="http://schemas.microsoft.com/office/drawing/2012/chart" uri="{CE6537A1-D6FC-4f65-9D91-7224C49458BB}"/>
                <c:ext xmlns:c16="http://schemas.microsoft.com/office/drawing/2014/chart" uri="{C3380CC4-5D6E-409C-BE32-E72D297353CC}">
                  <c16:uniqueId val="{00000000-44FB-4F08-9EE7-B219EABC0D5A}"/>
                </c:ext>
              </c:extLst>
            </c:dLbl>
            <c:dLbl>
              <c:idx val="7"/>
              <c:delete val="1"/>
              <c:extLst>
                <c:ext xmlns:c15="http://schemas.microsoft.com/office/drawing/2012/chart" uri="{CE6537A1-D6FC-4f65-9D91-7224C49458BB}"/>
                <c:ext xmlns:c16="http://schemas.microsoft.com/office/drawing/2014/chart" uri="{C3380CC4-5D6E-409C-BE32-E72D297353CC}">
                  <c16:uniqueId val="{00000001-44FB-4F08-9EE7-B219EABC0D5A}"/>
                </c:ext>
              </c:extLst>
            </c:dLbl>
            <c:dLbl>
              <c:idx val="12"/>
              <c:delete val="1"/>
              <c:extLst>
                <c:ext xmlns:c15="http://schemas.microsoft.com/office/drawing/2012/chart" uri="{CE6537A1-D6FC-4f65-9D91-7224C49458BB}"/>
                <c:ext xmlns:c16="http://schemas.microsoft.com/office/drawing/2014/chart" uri="{C3380CC4-5D6E-409C-BE32-E72D297353CC}">
                  <c16:uniqueId val="{00000002-44FB-4F08-9EE7-B219EABC0D5A}"/>
                </c:ext>
              </c:extLst>
            </c:dLbl>
            <c:dLbl>
              <c:idx val="17"/>
              <c:delete val="1"/>
              <c:extLst>
                <c:ext xmlns:c15="http://schemas.microsoft.com/office/drawing/2012/chart" uri="{CE6537A1-D6FC-4f65-9D91-7224C49458BB}"/>
                <c:ext xmlns:c16="http://schemas.microsoft.com/office/drawing/2014/chart" uri="{C3380CC4-5D6E-409C-BE32-E72D297353CC}">
                  <c16:uniqueId val="{00000003-44FB-4F08-9EE7-B219EABC0D5A}"/>
                </c:ext>
              </c:extLst>
            </c:dLbl>
            <c:dLbl>
              <c:idx val="22"/>
              <c:delete val="1"/>
              <c:extLst>
                <c:ext xmlns:c15="http://schemas.microsoft.com/office/drawing/2012/chart" uri="{CE6537A1-D6FC-4f65-9D91-7224C49458BB}"/>
                <c:ext xmlns:c16="http://schemas.microsoft.com/office/drawing/2014/chart" uri="{C3380CC4-5D6E-409C-BE32-E72D297353CC}">
                  <c16:uniqueId val="{00000004-44FB-4F08-9EE7-B219EABC0D5A}"/>
                </c:ext>
              </c:extLst>
            </c:dLbl>
            <c:dLbl>
              <c:idx val="27"/>
              <c:delete val="1"/>
              <c:extLst>
                <c:ext xmlns:c15="http://schemas.microsoft.com/office/drawing/2012/chart" uri="{CE6537A1-D6FC-4f65-9D91-7224C49458BB}"/>
                <c:ext xmlns:c16="http://schemas.microsoft.com/office/drawing/2014/chart" uri="{C3380CC4-5D6E-409C-BE32-E72D297353CC}">
                  <c16:uniqueId val="{00000005-44FB-4F08-9EE7-B219EABC0D5A}"/>
                </c:ext>
              </c:extLst>
            </c:dLbl>
            <c:dLbl>
              <c:idx val="37"/>
              <c:delete val="1"/>
              <c:extLst>
                <c:ext xmlns:c15="http://schemas.microsoft.com/office/drawing/2012/chart" uri="{CE6537A1-D6FC-4f65-9D91-7224C49458BB}"/>
                <c:ext xmlns:c16="http://schemas.microsoft.com/office/drawing/2014/chart" uri="{C3380CC4-5D6E-409C-BE32-E72D297353CC}">
                  <c16:uniqueId val="{00000006-44FB-4F08-9EE7-B219EABC0D5A}"/>
                </c:ext>
              </c:extLst>
            </c:dLbl>
            <c:dLbl>
              <c:idx val="42"/>
              <c:delete val="1"/>
              <c:extLst>
                <c:ext xmlns:c15="http://schemas.microsoft.com/office/drawing/2012/chart" uri="{CE6537A1-D6FC-4f65-9D91-7224C49458BB}"/>
                <c:ext xmlns:c16="http://schemas.microsoft.com/office/drawing/2014/chart" uri="{C3380CC4-5D6E-409C-BE32-E72D297353CC}">
                  <c16:uniqueId val="{00000007-44FB-4F08-9EE7-B219EABC0D5A}"/>
                </c:ext>
              </c:extLst>
            </c:dLbl>
            <c:dLbl>
              <c:idx val="47"/>
              <c:delete val="1"/>
              <c:extLst>
                <c:ext xmlns:c15="http://schemas.microsoft.com/office/drawing/2012/chart" uri="{CE6537A1-D6FC-4f65-9D91-7224C49458BB}"/>
                <c:ext xmlns:c16="http://schemas.microsoft.com/office/drawing/2014/chart" uri="{C3380CC4-5D6E-409C-BE32-E72D297353CC}">
                  <c16:uniqueId val="{00000008-44FB-4F08-9EE7-B219EABC0D5A}"/>
                </c:ext>
              </c:extLst>
            </c:dLbl>
            <c:dLbl>
              <c:idx val="57"/>
              <c:delete val="1"/>
              <c:extLst>
                <c:ext xmlns:c15="http://schemas.microsoft.com/office/drawing/2012/chart" uri="{CE6537A1-D6FC-4f65-9D91-7224C49458BB}"/>
                <c:ext xmlns:c16="http://schemas.microsoft.com/office/drawing/2014/chart" uri="{C3380CC4-5D6E-409C-BE32-E72D297353CC}">
                  <c16:uniqueId val="{00000009-44FB-4F08-9EE7-B219EABC0D5A}"/>
                </c:ext>
              </c:extLst>
            </c:dLbl>
            <c:dLbl>
              <c:idx val="62"/>
              <c:delete val="1"/>
              <c:extLst>
                <c:ext xmlns:c15="http://schemas.microsoft.com/office/drawing/2012/chart" uri="{CE6537A1-D6FC-4f65-9D91-7224C49458BB}"/>
                <c:ext xmlns:c16="http://schemas.microsoft.com/office/drawing/2014/chart" uri="{C3380CC4-5D6E-409C-BE32-E72D297353CC}">
                  <c16:uniqueId val="{0000000A-44FB-4F08-9EE7-B219EABC0D5A}"/>
                </c:ext>
              </c:extLst>
            </c:dLbl>
            <c:dLbl>
              <c:idx val="67"/>
              <c:delete val="1"/>
              <c:extLst>
                <c:ext xmlns:c15="http://schemas.microsoft.com/office/drawing/2012/chart" uri="{CE6537A1-D6FC-4f65-9D91-7224C49458BB}"/>
                <c:ext xmlns:c16="http://schemas.microsoft.com/office/drawing/2014/chart" uri="{C3380CC4-5D6E-409C-BE32-E72D297353CC}">
                  <c16:uniqueId val="{0000000B-44FB-4F08-9EE7-B219EABC0D5A}"/>
                </c:ext>
              </c:extLst>
            </c:dLbl>
            <c:dLbl>
              <c:idx val="72"/>
              <c:delete val="1"/>
              <c:extLst>
                <c:ext xmlns:c15="http://schemas.microsoft.com/office/drawing/2012/chart" uri="{CE6537A1-D6FC-4f65-9D91-7224C49458BB}"/>
                <c:ext xmlns:c16="http://schemas.microsoft.com/office/drawing/2014/chart" uri="{C3380CC4-5D6E-409C-BE32-E72D297353CC}">
                  <c16:uniqueId val="{0000000C-44FB-4F08-9EE7-B219EABC0D5A}"/>
                </c:ext>
              </c:extLst>
            </c:dLbl>
            <c:dLbl>
              <c:idx val="77"/>
              <c:delete val="1"/>
              <c:extLst>
                <c:ext xmlns:c15="http://schemas.microsoft.com/office/drawing/2012/chart" uri="{CE6537A1-D6FC-4f65-9D91-7224C49458BB}"/>
                <c:ext xmlns:c16="http://schemas.microsoft.com/office/drawing/2014/chart" uri="{C3380CC4-5D6E-409C-BE32-E72D297353CC}">
                  <c16:uniqueId val="{0000000D-44FB-4F08-9EE7-B219EABC0D5A}"/>
                </c:ext>
              </c:extLst>
            </c:dLbl>
            <c:dLbl>
              <c:idx val="82"/>
              <c:delete val="1"/>
              <c:extLst>
                <c:ext xmlns:c15="http://schemas.microsoft.com/office/drawing/2012/chart" uri="{CE6537A1-D6FC-4f65-9D91-7224C49458BB}"/>
                <c:ext xmlns:c16="http://schemas.microsoft.com/office/drawing/2014/chart" uri="{C3380CC4-5D6E-409C-BE32-E72D297353CC}">
                  <c16:uniqueId val="{0000000E-44FB-4F08-9EE7-B219EABC0D5A}"/>
                </c:ext>
              </c:extLst>
            </c:dLbl>
            <c:dLbl>
              <c:idx val="87"/>
              <c:delete val="1"/>
              <c:extLst>
                <c:ext xmlns:c15="http://schemas.microsoft.com/office/drawing/2012/chart" uri="{CE6537A1-D6FC-4f65-9D91-7224C49458BB}"/>
                <c:ext xmlns:c16="http://schemas.microsoft.com/office/drawing/2014/chart" uri="{C3380CC4-5D6E-409C-BE32-E72D297353CC}">
                  <c16:uniqueId val="{0000000F-44FB-4F08-9EE7-B219EABC0D5A}"/>
                </c:ext>
              </c:extLst>
            </c:dLbl>
            <c:dLbl>
              <c:idx val="92"/>
              <c:layout>
                <c:manualLayout>
                  <c:x val="-3.9447731755424063E-2"/>
                  <c:y val="-3.855420711401015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44FB-4F08-9EE7-B219EABC0D5A}"/>
                </c:ext>
              </c:extLst>
            </c:dLbl>
            <c:dLbl>
              <c:idx val="97"/>
              <c:delete val="1"/>
              <c:extLst>
                <c:ext xmlns:c15="http://schemas.microsoft.com/office/drawing/2012/chart" uri="{CE6537A1-D6FC-4f65-9D91-7224C49458BB}"/>
                <c:ext xmlns:c16="http://schemas.microsoft.com/office/drawing/2014/chart" uri="{C3380CC4-5D6E-409C-BE32-E72D297353CC}">
                  <c16:uniqueId val="{00000011-44FB-4F08-9EE7-B219EABC0D5A}"/>
                </c:ext>
              </c:extLst>
            </c:dLbl>
            <c:dLbl>
              <c:idx val="102"/>
              <c:delete val="1"/>
              <c:extLst>
                <c:ext xmlns:c15="http://schemas.microsoft.com/office/drawing/2012/chart" uri="{CE6537A1-D6FC-4f65-9D91-7224C49458BB}"/>
                <c:ext xmlns:c16="http://schemas.microsoft.com/office/drawing/2014/chart" uri="{C3380CC4-5D6E-409C-BE32-E72D297353CC}">
                  <c16:uniqueId val="{00000012-44FB-4F08-9EE7-B219EABC0D5A}"/>
                </c:ext>
              </c:extLst>
            </c:dLbl>
            <c:dLbl>
              <c:idx val="107"/>
              <c:delete val="1"/>
              <c:extLst>
                <c:ext xmlns:c15="http://schemas.microsoft.com/office/drawing/2012/chart" uri="{CE6537A1-D6FC-4f65-9D91-7224C49458BB}"/>
                <c:ext xmlns:c16="http://schemas.microsoft.com/office/drawing/2014/chart" uri="{C3380CC4-5D6E-409C-BE32-E72D297353CC}">
                  <c16:uniqueId val="{00000013-44FB-4F08-9EE7-B219EABC0D5A}"/>
                </c:ext>
              </c:extLst>
            </c:dLbl>
            <c:dLbl>
              <c:idx val="112"/>
              <c:delete val="1"/>
              <c:extLst>
                <c:ext xmlns:c15="http://schemas.microsoft.com/office/drawing/2012/chart" uri="{CE6537A1-D6FC-4f65-9D91-7224C49458BB}"/>
                <c:ext xmlns:c16="http://schemas.microsoft.com/office/drawing/2014/chart" uri="{C3380CC4-5D6E-409C-BE32-E72D297353CC}">
                  <c16:uniqueId val="{00000014-44FB-4F08-9EE7-B219EABC0D5A}"/>
                </c:ext>
              </c:extLst>
            </c:dLbl>
            <c:dLbl>
              <c:idx val="117"/>
              <c:delete val="1"/>
              <c:extLst>
                <c:ext xmlns:c15="http://schemas.microsoft.com/office/drawing/2012/chart" uri="{CE6537A1-D6FC-4f65-9D91-7224C49458BB}"/>
                <c:ext xmlns:c16="http://schemas.microsoft.com/office/drawing/2014/chart" uri="{C3380CC4-5D6E-409C-BE32-E72D297353CC}">
                  <c16:uniqueId val="{00000015-44FB-4F08-9EE7-B219EABC0D5A}"/>
                </c:ext>
              </c:extLst>
            </c:dLbl>
            <c:dLbl>
              <c:idx val="122"/>
              <c:delete val="1"/>
              <c:extLst>
                <c:ext xmlns:c15="http://schemas.microsoft.com/office/drawing/2012/chart" uri="{CE6537A1-D6FC-4f65-9D91-7224C49458BB}"/>
                <c:ext xmlns:c16="http://schemas.microsoft.com/office/drawing/2014/chart" uri="{C3380CC4-5D6E-409C-BE32-E72D297353CC}">
                  <c16:uniqueId val="{00000016-44FB-4F08-9EE7-B219EABC0D5A}"/>
                </c:ext>
              </c:extLst>
            </c:dLbl>
            <c:dLbl>
              <c:idx val="127"/>
              <c:delete val="1"/>
              <c:extLst>
                <c:ext xmlns:c15="http://schemas.microsoft.com/office/drawing/2012/chart" uri="{CE6537A1-D6FC-4f65-9D91-7224C49458BB}"/>
                <c:ext xmlns:c16="http://schemas.microsoft.com/office/drawing/2014/chart" uri="{C3380CC4-5D6E-409C-BE32-E72D297353CC}">
                  <c16:uniqueId val="{00000017-44FB-4F08-9EE7-B219EABC0D5A}"/>
                </c:ext>
              </c:extLst>
            </c:dLbl>
            <c:dLbl>
              <c:idx val="132"/>
              <c:delete val="1"/>
              <c:extLst>
                <c:ext xmlns:c15="http://schemas.microsoft.com/office/drawing/2012/chart" uri="{CE6537A1-D6FC-4f65-9D91-7224C49458BB}"/>
                <c:ext xmlns:c16="http://schemas.microsoft.com/office/drawing/2014/chart" uri="{C3380CC4-5D6E-409C-BE32-E72D297353CC}">
                  <c16:uniqueId val="{00000018-44FB-4F08-9EE7-B219EABC0D5A}"/>
                </c:ext>
              </c:extLst>
            </c:dLbl>
            <c:dLbl>
              <c:idx val="137"/>
              <c:delete val="1"/>
              <c:extLst>
                <c:ext xmlns:c15="http://schemas.microsoft.com/office/drawing/2012/chart" uri="{CE6537A1-D6FC-4f65-9D91-7224C49458BB}"/>
                <c:ext xmlns:c16="http://schemas.microsoft.com/office/drawing/2014/chart" uri="{C3380CC4-5D6E-409C-BE32-E72D297353CC}">
                  <c16:uniqueId val="{00000019-44FB-4F08-9EE7-B219EABC0D5A}"/>
                </c:ext>
              </c:extLst>
            </c:dLbl>
            <c:dLbl>
              <c:idx val="142"/>
              <c:delete val="1"/>
              <c:extLst>
                <c:ext xmlns:c15="http://schemas.microsoft.com/office/drawing/2012/chart" uri="{CE6537A1-D6FC-4f65-9D91-7224C49458BB}"/>
                <c:ext xmlns:c16="http://schemas.microsoft.com/office/drawing/2014/chart" uri="{C3380CC4-5D6E-409C-BE32-E72D297353CC}">
                  <c16:uniqueId val="{0000001A-44FB-4F08-9EE7-B219EABC0D5A}"/>
                </c:ext>
              </c:extLst>
            </c:dLbl>
            <c:dLbl>
              <c:idx val="147"/>
              <c:delete val="1"/>
              <c:extLst>
                <c:ext xmlns:c15="http://schemas.microsoft.com/office/drawing/2012/chart" uri="{CE6537A1-D6FC-4f65-9D91-7224C49458BB}"/>
                <c:ext xmlns:c16="http://schemas.microsoft.com/office/drawing/2014/chart" uri="{C3380CC4-5D6E-409C-BE32-E72D297353CC}">
                  <c16:uniqueId val="{0000001B-44FB-4F08-9EE7-B219EABC0D5A}"/>
                </c:ext>
              </c:extLst>
            </c:dLbl>
            <c:dLbl>
              <c:idx val="152"/>
              <c:delete val="1"/>
              <c:extLst>
                <c:ext xmlns:c15="http://schemas.microsoft.com/office/drawing/2012/chart" uri="{CE6537A1-D6FC-4f65-9D91-7224C49458BB}"/>
                <c:ext xmlns:c16="http://schemas.microsoft.com/office/drawing/2014/chart" uri="{C3380CC4-5D6E-409C-BE32-E72D297353CC}">
                  <c16:uniqueId val="{0000001C-44FB-4F08-9EE7-B219EABC0D5A}"/>
                </c:ext>
              </c:extLst>
            </c:dLbl>
            <c:dLbl>
              <c:idx val="162"/>
              <c:delete val="1"/>
              <c:extLst>
                <c:ext xmlns:c15="http://schemas.microsoft.com/office/drawing/2012/chart" uri="{CE6537A1-D6FC-4f65-9D91-7224C49458BB}"/>
                <c:ext xmlns:c16="http://schemas.microsoft.com/office/drawing/2014/chart" uri="{C3380CC4-5D6E-409C-BE32-E72D297353CC}">
                  <c16:uniqueId val="{0000001D-44FB-4F08-9EE7-B219EABC0D5A}"/>
                </c:ext>
              </c:extLst>
            </c:dLbl>
            <c:dLbl>
              <c:idx val="167"/>
              <c:delete val="1"/>
              <c:extLst>
                <c:ext xmlns:c15="http://schemas.microsoft.com/office/drawing/2012/chart" uri="{CE6537A1-D6FC-4f65-9D91-7224C49458BB}"/>
                <c:ext xmlns:c16="http://schemas.microsoft.com/office/drawing/2014/chart" uri="{C3380CC4-5D6E-409C-BE32-E72D297353CC}">
                  <c16:uniqueId val="{0000001E-44FB-4F08-9EE7-B219EABC0D5A}"/>
                </c:ext>
              </c:extLst>
            </c:dLbl>
            <c:dLbl>
              <c:idx val="172"/>
              <c:delete val="1"/>
              <c:extLst>
                <c:ext xmlns:c15="http://schemas.microsoft.com/office/drawing/2012/chart" uri="{CE6537A1-D6FC-4f65-9D91-7224C49458BB}"/>
                <c:ext xmlns:c16="http://schemas.microsoft.com/office/drawing/2014/chart" uri="{C3380CC4-5D6E-409C-BE32-E72D297353CC}">
                  <c16:uniqueId val="{0000001F-44FB-4F08-9EE7-B219EABC0D5A}"/>
                </c:ext>
              </c:extLst>
            </c:dLbl>
            <c:dLbl>
              <c:idx val="177"/>
              <c:delete val="1"/>
              <c:extLst>
                <c:ext xmlns:c15="http://schemas.microsoft.com/office/drawing/2012/chart" uri="{CE6537A1-D6FC-4f65-9D91-7224C49458BB}"/>
                <c:ext xmlns:c16="http://schemas.microsoft.com/office/drawing/2014/chart" uri="{C3380CC4-5D6E-409C-BE32-E72D297353CC}">
                  <c16:uniqueId val="{00000020-44FB-4F08-9EE7-B219EABC0D5A}"/>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'Electric Summary (2)'!$J$4:$J$181</c:f>
              <c:numCache>
                <c:formatCode>General</c:formatCode>
                <c:ptCount val="178"/>
                <c:pt idx="2" formatCode="m/d/yyyy">
                  <c:v>41351</c:v>
                </c:pt>
                <c:pt idx="7" formatCode="m/d/yyyy">
                  <c:v>41381</c:v>
                </c:pt>
                <c:pt idx="12" formatCode="m/d/yyyy">
                  <c:v>41410</c:v>
                </c:pt>
                <c:pt idx="17" formatCode="m/d/yyyy">
                  <c:v>41442</c:v>
                </c:pt>
                <c:pt idx="22" formatCode="m/d/yyyy">
                  <c:v>41472</c:v>
                </c:pt>
                <c:pt idx="27" formatCode="m/d/yyyy">
                  <c:v>41501</c:v>
                </c:pt>
                <c:pt idx="32" formatCode="m/d/yyyy">
                  <c:v>41533</c:v>
                </c:pt>
                <c:pt idx="37" formatCode="m/d/yyyy">
                  <c:v>41562</c:v>
                </c:pt>
                <c:pt idx="42" formatCode="m/d/yyyy">
                  <c:v>41591</c:v>
                </c:pt>
                <c:pt idx="47" formatCode="m/d/yyyy">
                  <c:v>41624</c:v>
                </c:pt>
                <c:pt idx="52" formatCode="m/d/yyyy">
                  <c:v>41658</c:v>
                </c:pt>
                <c:pt idx="57" formatCode="m/d/yyyy">
                  <c:v>41688</c:v>
                </c:pt>
                <c:pt idx="62" formatCode="m/d/yyyy">
                  <c:v>41717</c:v>
                </c:pt>
                <c:pt idx="67" formatCode="m/d/yyyy">
                  <c:v>41746</c:v>
                </c:pt>
                <c:pt idx="72" formatCode="m/d/yyyy">
                  <c:v>41777</c:v>
                </c:pt>
                <c:pt idx="77" formatCode="m/d/yyyy">
                  <c:v>41807</c:v>
                </c:pt>
                <c:pt idx="82" formatCode="m/d/yyyy">
                  <c:v>41837</c:v>
                </c:pt>
                <c:pt idx="87" formatCode="m/d/yyyy">
                  <c:v>41868</c:v>
                </c:pt>
                <c:pt idx="92" formatCode="m/d/yyyy">
                  <c:v>41898</c:v>
                </c:pt>
                <c:pt idx="97" formatCode="m/d/yyyy">
                  <c:v>41927</c:v>
                </c:pt>
                <c:pt idx="102" formatCode="m/d/yyyy">
                  <c:v>41956</c:v>
                </c:pt>
                <c:pt idx="107" formatCode="m/d/yyyy">
                  <c:v>41989</c:v>
                </c:pt>
                <c:pt idx="112" formatCode="m/d/yyyy">
                  <c:v>42023</c:v>
                </c:pt>
                <c:pt idx="117" formatCode="m/d/yyyy">
                  <c:v>42053</c:v>
                </c:pt>
                <c:pt idx="122" formatCode="m/d/yyyy">
                  <c:v>42082</c:v>
                </c:pt>
                <c:pt idx="127" formatCode="m/d/yyyy">
                  <c:v>42113</c:v>
                </c:pt>
                <c:pt idx="132" formatCode="m/d/yyyy">
                  <c:v>42142</c:v>
                </c:pt>
                <c:pt idx="137" formatCode="m/d/yyyy">
                  <c:v>42172</c:v>
                </c:pt>
                <c:pt idx="142" formatCode="m/d/yyyy">
                  <c:v>42204</c:v>
                </c:pt>
                <c:pt idx="147" formatCode="m/d/yyyy">
                  <c:v>42233</c:v>
                </c:pt>
                <c:pt idx="152" formatCode="m/d/yyyy">
                  <c:v>42263</c:v>
                </c:pt>
                <c:pt idx="157" formatCode="m/d/yyyy">
                  <c:v>42292</c:v>
                </c:pt>
                <c:pt idx="162" formatCode="m/d/yyyy">
                  <c:v>42323</c:v>
                </c:pt>
                <c:pt idx="167" formatCode="m/d/yyyy">
                  <c:v>42354</c:v>
                </c:pt>
                <c:pt idx="172" formatCode="m/d/yyyy">
                  <c:v>42388</c:v>
                </c:pt>
                <c:pt idx="177" formatCode="m/d/yyyy">
                  <c:v>42418</c:v>
                </c:pt>
              </c:numCache>
            </c:numRef>
          </c:xVal>
          <c:yVal>
            <c:numRef>
              <c:f>'Electric Summary (2)'!$P$4:$P$181</c:f>
              <c:numCache>
                <c:formatCode>General</c:formatCode>
                <c:ptCount val="178"/>
                <c:pt idx="2" formatCode="#,##0">
                  <c:v>3324</c:v>
                </c:pt>
                <c:pt idx="7" formatCode="#,##0">
                  <c:v>3360</c:v>
                </c:pt>
                <c:pt idx="12" formatCode="#,##0">
                  <c:v>3786</c:v>
                </c:pt>
                <c:pt idx="17" formatCode="#,##0">
                  <c:v>3516</c:v>
                </c:pt>
                <c:pt idx="22" formatCode="#,##0">
                  <c:v>3767</c:v>
                </c:pt>
                <c:pt idx="27" formatCode="#,##0">
                  <c:v>3694</c:v>
                </c:pt>
                <c:pt idx="32" formatCode="#,##0">
                  <c:v>4549</c:v>
                </c:pt>
                <c:pt idx="37" formatCode="#,##0">
                  <c:v>3964</c:v>
                </c:pt>
                <c:pt idx="42" formatCode="#,##0">
                  <c:v>3575</c:v>
                </c:pt>
                <c:pt idx="47" formatCode="#,##0">
                  <c:v>3338</c:v>
                </c:pt>
                <c:pt idx="52" formatCode="#,##0">
                  <c:v>2761</c:v>
                </c:pt>
                <c:pt idx="57" formatCode="#,##0">
                  <c:v>3237</c:v>
                </c:pt>
                <c:pt idx="62" formatCode="#,##0">
                  <c:v>3278</c:v>
                </c:pt>
                <c:pt idx="67" formatCode="#,##0">
                  <c:v>3607</c:v>
                </c:pt>
                <c:pt idx="72" formatCode="#,##0">
                  <c:v>3717</c:v>
                </c:pt>
                <c:pt idx="77" formatCode="#,##0">
                  <c:v>3552</c:v>
                </c:pt>
                <c:pt idx="82" formatCode="#,##0">
                  <c:v>3808</c:v>
                </c:pt>
                <c:pt idx="87" formatCode="#,##0">
                  <c:v>3850</c:v>
                </c:pt>
                <c:pt idx="92" formatCode="#,##0">
                  <c:v>4362</c:v>
                </c:pt>
                <c:pt idx="97" formatCode="#,##0">
                  <c:v>4330</c:v>
                </c:pt>
                <c:pt idx="102" formatCode="#,##0">
                  <c:v>3722</c:v>
                </c:pt>
                <c:pt idx="107" formatCode="#,##0">
                  <c:v>3315</c:v>
                </c:pt>
                <c:pt idx="112" formatCode="#,##0">
                  <c:v>2958</c:v>
                </c:pt>
                <c:pt idx="117" formatCode="#,##0">
                  <c:v>3301</c:v>
                </c:pt>
                <c:pt idx="122" formatCode="#,##0">
                  <c:v>3607</c:v>
                </c:pt>
                <c:pt idx="127" formatCode="#,##0">
                  <c:v>3726</c:v>
                </c:pt>
                <c:pt idx="132" formatCode="#,##0">
                  <c:v>3776</c:v>
                </c:pt>
                <c:pt idx="137" formatCode="#,##0">
                  <c:v>3639</c:v>
                </c:pt>
                <c:pt idx="142" formatCode="#,##0">
                  <c:v>3914</c:v>
                </c:pt>
                <c:pt idx="147" formatCode="#,##0">
                  <c:v>4531</c:v>
                </c:pt>
                <c:pt idx="152" formatCode="#,##0">
                  <c:v>4599</c:v>
                </c:pt>
                <c:pt idx="157" formatCode="#,##0">
                  <c:v>4778</c:v>
                </c:pt>
                <c:pt idx="162" formatCode="#,##0">
                  <c:v>3909</c:v>
                </c:pt>
                <c:pt idx="167" formatCode="#,##0">
                  <c:v>3635</c:v>
                </c:pt>
                <c:pt idx="172" formatCode="#,##0">
                  <c:v>3095</c:v>
                </c:pt>
                <c:pt idx="177" formatCode="#,##0">
                  <c:v>3690</c:v>
                </c:pt>
              </c:numCache>
            </c:numRef>
          </c:yVal>
          <c:smooth val="0"/>
          <c:extLst>
            <c:ext xmlns:c16="http://schemas.microsoft.com/office/drawing/2014/chart" uri="{C3380CC4-5D6E-409C-BE32-E72D297353CC}">
              <c16:uniqueId val="{00000021-44FB-4F08-9EE7-B219EABC0D5A}"/>
            </c:ext>
          </c:extLst>
        </c:ser>
        <c:dLbls>
          <c:showLegendKey val="0"/>
          <c:showVal val="0"/>
          <c:showCatName val="0"/>
          <c:showSerName val="0"/>
          <c:showPercent val="0"/>
          <c:showBubbleSize val="0"/>
        </c:dLbls>
        <c:axId val="582497832"/>
        <c:axId val="582499792"/>
      </c:scatterChart>
      <c:valAx>
        <c:axId val="582497832"/>
        <c:scaling>
          <c:orientation val="minMax"/>
        </c:scaling>
        <c:delete val="0"/>
        <c:axPos val="b"/>
        <c:majorGridlines>
          <c:spPr>
            <a:ln w="9525" cap="flat" cmpd="sng" algn="ctr">
              <a:solidFill>
                <a:schemeClr val="tx1">
                  <a:lumMod val="15000"/>
                  <a:lumOff val="85000"/>
                </a:schemeClr>
              </a:solidFill>
              <a:round/>
            </a:ln>
            <a:effectLst/>
          </c:spPr>
        </c:majorGridlines>
        <c:numFmt formatCode="m/d/yy;@" sourceLinked="0"/>
        <c:majorTickMark val="none"/>
        <c:minorTickMark val="none"/>
        <c:tickLblPos val="nextTo"/>
        <c:spPr>
          <a:noFill/>
          <a:ln w="9525" cap="flat" cmpd="sng" algn="ctr">
            <a:solidFill>
              <a:schemeClr val="tx1">
                <a:lumMod val="25000"/>
                <a:lumOff val="75000"/>
              </a:schemeClr>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2499792"/>
        <c:crosses val="autoZero"/>
        <c:crossBetween val="midCat"/>
      </c:valAx>
      <c:valAx>
        <c:axId val="582499792"/>
        <c:scaling>
          <c:orientation val="minMax"/>
        </c:scaling>
        <c:delete val="0"/>
        <c:axPos val="r"/>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2497832"/>
        <c:crosses val="max"/>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0.29353</cdr:x>
      <cdr:y>0.31489</cdr:y>
    </cdr:from>
    <cdr:to>
      <cdr:x>0.29353</cdr:x>
      <cdr:y>0.70018</cdr:y>
    </cdr:to>
    <cdr:cxnSp macro="">
      <cdr:nvCxnSpPr>
        <cdr:cNvPr id="3" name="Straight Connector 2">
          <a:extLst xmlns:a="http://schemas.openxmlformats.org/drawingml/2006/main">
            <a:ext uri="{FF2B5EF4-FFF2-40B4-BE49-F238E27FC236}">
              <a16:creationId xmlns:a16="http://schemas.microsoft.com/office/drawing/2014/main" id="{4CC61948-9C2E-4C7E-A5C0-16D2C04E2486}"/>
            </a:ext>
          </a:extLst>
        </cdr:cNvPr>
        <cdr:cNvCxnSpPr/>
      </cdr:nvCxnSpPr>
      <cdr:spPr>
        <a:xfrm xmlns:a="http://schemas.openxmlformats.org/drawingml/2006/main">
          <a:off x="2573509" y="1703891"/>
          <a:ext cx="0" cy="2084832"/>
        </a:xfrm>
        <a:prstGeom xmlns:a="http://schemas.openxmlformats.org/drawingml/2006/main" prst="line">
          <a:avLst/>
        </a:prstGeom>
        <a:ln xmlns:a="http://schemas.openxmlformats.org/drawingml/2006/main" w="25400">
          <a:solidFill>
            <a:srgbClr val="FF0000"/>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0.51806</cdr:x>
      <cdr:y>0.31489</cdr:y>
    </cdr:from>
    <cdr:to>
      <cdr:x>0.51806</cdr:x>
      <cdr:y>0.70018</cdr:y>
    </cdr:to>
    <cdr:cxnSp macro="">
      <cdr:nvCxnSpPr>
        <cdr:cNvPr id="4" name="Straight Connector 3">
          <a:extLst xmlns:a="http://schemas.openxmlformats.org/drawingml/2006/main">
            <a:ext uri="{FF2B5EF4-FFF2-40B4-BE49-F238E27FC236}">
              <a16:creationId xmlns:a16="http://schemas.microsoft.com/office/drawing/2014/main" id="{07B4A528-8C95-42AB-AA70-93D842DE0ACC}"/>
            </a:ext>
          </a:extLst>
        </cdr:cNvPr>
        <cdr:cNvCxnSpPr/>
      </cdr:nvCxnSpPr>
      <cdr:spPr>
        <a:xfrm xmlns:a="http://schemas.openxmlformats.org/drawingml/2006/main">
          <a:off x="4542073" y="1703891"/>
          <a:ext cx="0" cy="2084832"/>
        </a:xfrm>
        <a:prstGeom xmlns:a="http://schemas.openxmlformats.org/drawingml/2006/main" prst="line">
          <a:avLst/>
        </a:prstGeom>
        <a:ln xmlns:a="http://schemas.openxmlformats.org/drawingml/2006/main" w="25400">
          <a:solidFill>
            <a:srgbClr val="FF0000"/>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0.74819</cdr:x>
      <cdr:y>0.31489</cdr:y>
    </cdr:from>
    <cdr:to>
      <cdr:x>0.74819</cdr:x>
      <cdr:y>0.70018</cdr:y>
    </cdr:to>
    <cdr:cxnSp macro="">
      <cdr:nvCxnSpPr>
        <cdr:cNvPr id="5" name="Straight Connector 4">
          <a:extLst xmlns:a="http://schemas.openxmlformats.org/drawingml/2006/main">
            <a:ext uri="{FF2B5EF4-FFF2-40B4-BE49-F238E27FC236}">
              <a16:creationId xmlns:a16="http://schemas.microsoft.com/office/drawing/2014/main" id="{AA079735-3C83-4C08-83BB-C6146455A4FD}"/>
            </a:ext>
          </a:extLst>
        </cdr:cNvPr>
        <cdr:cNvCxnSpPr/>
      </cdr:nvCxnSpPr>
      <cdr:spPr>
        <a:xfrm xmlns:a="http://schemas.openxmlformats.org/drawingml/2006/main">
          <a:off x="6559785" y="1703891"/>
          <a:ext cx="0" cy="2084832"/>
        </a:xfrm>
        <a:prstGeom xmlns:a="http://schemas.openxmlformats.org/drawingml/2006/main" prst="line">
          <a:avLst/>
        </a:prstGeom>
        <a:ln xmlns:a="http://schemas.openxmlformats.org/drawingml/2006/main" w="25400">
          <a:solidFill>
            <a:srgbClr val="FF0000"/>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0.11555</cdr:x>
      <cdr:y>0.62112</cdr:y>
    </cdr:from>
    <cdr:to>
      <cdr:x>0.17476</cdr:x>
      <cdr:y>0.66946</cdr:y>
    </cdr:to>
    <cdr:sp macro="" textlink="">
      <cdr:nvSpPr>
        <cdr:cNvPr id="6" name="TextBox 5"/>
        <cdr:cNvSpPr txBox="1"/>
      </cdr:nvSpPr>
      <cdr:spPr>
        <a:xfrm xmlns:a="http://schemas.openxmlformats.org/drawingml/2006/main">
          <a:off x="1013123" y="3360924"/>
          <a:ext cx="519113" cy="261610"/>
        </a:xfrm>
        <a:prstGeom xmlns:a="http://schemas.openxmlformats.org/drawingml/2006/main" prst="rect">
          <a:avLst/>
        </a:prstGeom>
      </cdr:spPr>
      <cdr:txBody>
        <a:bodyPr xmlns:a="http://schemas.openxmlformats.org/drawingml/2006/main" vertOverflow="clip" wrap="square" rtlCol="0">
          <a:spAutoFit/>
        </a:bodyPr>
        <a:lstStyle xmlns:a="http://schemas.openxmlformats.org/drawingml/2006/main"/>
        <a:p xmlns:a="http://schemas.openxmlformats.org/drawingml/2006/main">
          <a:pPr algn="ctr"/>
          <a:r>
            <a:rPr lang="en-US" sz="1100" dirty="0"/>
            <a:t>2013</a:t>
          </a:r>
        </a:p>
      </cdr:txBody>
    </cdr:sp>
  </cdr:relSizeAnchor>
  <cdr:relSizeAnchor xmlns:cdr="http://schemas.openxmlformats.org/drawingml/2006/chartDrawing">
    <cdr:from>
      <cdr:x>0.36416</cdr:x>
      <cdr:y>0.62112</cdr:y>
    </cdr:from>
    <cdr:to>
      <cdr:x>0.42337</cdr:x>
      <cdr:y>0.66946</cdr:y>
    </cdr:to>
    <cdr:sp macro="" textlink="">
      <cdr:nvSpPr>
        <cdr:cNvPr id="8" name="TextBox 1"/>
        <cdr:cNvSpPr txBox="1"/>
      </cdr:nvSpPr>
      <cdr:spPr>
        <a:xfrm xmlns:a="http://schemas.openxmlformats.org/drawingml/2006/main">
          <a:off x="3192761" y="3360924"/>
          <a:ext cx="519113" cy="261610"/>
        </a:xfrm>
        <a:prstGeom xmlns:a="http://schemas.openxmlformats.org/drawingml/2006/main" prst="rect">
          <a:avLst/>
        </a:prstGeom>
      </cdr:spPr>
      <cdr:txBody>
        <a:bodyPr xmlns:a="http://schemas.openxmlformats.org/drawingml/2006/main" wrap="square" rtlCol="0">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sz="1100" dirty="0"/>
            <a:t>2014</a:t>
          </a:r>
        </a:p>
      </cdr:txBody>
    </cdr:sp>
  </cdr:relSizeAnchor>
  <cdr:relSizeAnchor xmlns:cdr="http://schemas.openxmlformats.org/drawingml/2006/chartDrawing">
    <cdr:from>
      <cdr:x>0.61186</cdr:x>
      <cdr:y>0.62112</cdr:y>
    </cdr:from>
    <cdr:to>
      <cdr:x>0.67107</cdr:x>
      <cdr:y>0.66946</cdr:y>
    </cdr:to>
    <cdr:sp macro="" textlink="">
      <cdr:nvSpPr>
        <cdr:cNvPr id="9" name="TextBox 1"/>
        <cdr:cNvSpPr txBox="1"/>
      </cdr:nvSpPr>
      <cdr:spPr>
        <a:xfrm xmlns:a="http://schemas.openxmlformats.org/drawingml/2006/main">
          <a:off x="5364461" y="3360924"/>
          <a:ext cx="519113" cy="261610"/>
        </a:xfrm>
        <a:prstGeom xmlns:a="http://schemas.openxmlformats.org/drawingml/2006/main" prst="rect">
          <a:avLst/>
        </a:prstGeom>
      </cdr:spPr>
      <cdr:txBody>
        <a:bodyPr xmlns:a="http://schemas.openxmlformats.org/drawingml/2006/main" wrap="square" rtlCol="0">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sz="1100" dirty="0"/>
            <a:t>2015</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A575AA-3E04-4FA3-BF6D-AEE24A2438E2}" type="datetimeFigureOut">
              <a:rPr lang="en-US" smtClean="0"/>
              <a:t>1/28/2026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6EC772-C784-40F3-A428-4B7D248786E8}" type="slidenum">
              <a:rPr lang="en-US" smtClean="0"/>
              <a:t>‹#›</a:t>
            </a:fld>
            <a:endParaRPr lang="en-US"/>
          </a:p>
        </p:txBody>
      </p:sp>
    </p:spTree>
    <p:extLst>
      <p:ext uri="{BB962C8B-B14F-4D97-AF65-F5344CB8AC3E}">
        <p14:creationId xmlns:p14="http://schemas.microsoft.com/office/powerpoint/2010/main" val="3009800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50/90 RULE, AFFINITY LAWS,</a:t>
            </a:r>
            <a:r>
              <a:rPr lang="en-US" baseline="0" dirty="0"/>
              <a:t> THERMAL STORAGE.</a:t>
            </a:r>
            <a:r>
              <a:rPr lang="en-US" dirty="0"/>
              <a:t> </a:t>
            </a:r>
          </a:p>
          <a:p>
            <a:r>
              <a:rPr lang="en-US" dirty="0"/>
              <a:t>The numerator is the sum of the annual peak loads in individual buildings, and the denominator is the annual peak load of the multi-building community. Thus, a diversity factor of 1 means the peak loads of the individual buildings are perfectly coincident with each other, while a diversity factor of 2 implies that the community peak is half the sum of the individual building peaks. As a general rule, the higher the diversity factor of a set of buildings, the more benefit that can be derived by sharing resources across buildings. It’s important to note, for siting considerations, that shared systems could be in the form of central installations connected to multiple buildings or distributed installations that are connected by virtue of being behind the same master meter and POI with the utility grid.</a:t>
            </a:r>
          </a:p>
          <a:p>
            <a:r>
              <a:rPr lang="en-US" dirty="0"/>
              <a:t>Also, using 8760 hours gives the opportunity to enhance the performance of the Thermal Highway© </a:t>
            </a:r>
          </a:p>
          <a:p>
            <a:endParaRPr lang="en-US" dirty="0"/>
          </a:p>
        </p:txBody>
      </p:sp>
      <p:sp>
        <p:nvSpPr>
          <p:cNvPr id="4" name="Slide Number Placeholder 3"/>
          <p:cNvSpPr>
            <a:spLocks noGrp="1"/>
          </p:cNvSpPr>
          <p:nvPr>
            <p:ph type="sldNum" sz="quarter" idx="10"/>
          </p:nvPr>
        </p:nvSpPr>
        <p:spPr/>
        <p:txBody>
          <a:bodyPr/>
          <a:lstStyle/>
          <a:p>
            <a:pPr defTabSz="966612">
              <a:defRPr/>
            </a:pPr>
            <a:fld id="{1FCFB477-4385-4B3A-9493-CD03BE7A44CF}" type="slidenum">
              <a:rPr lang="en-US">
                <a:solidFill>
                  <a:prstClr val="black"/>
                </a:solidFill>
                <a:latin typeface="Calibri" panose="020F0502020204030204"/>
              </a:rPr>
              <a:pPr defTabSz="966612">
                <a:defRPr/>
              </a:pPr>
              <a:t>4</a:t>
            </a:fld>
            <a:endParaRPr lang="en-US">
              <a:solidFill>
                <a:prstClr val="black"/>
              </a:solidFill>
              <a:latin typeface="Calibri" panose="020F0502020204030204"/>
            </a:endParaRPr>
          </a:p>
        </p:txBody>
      </p:sp>
    </p:spTree>
    <p:extLst>
      <p:ext uri="{BB962C8B-B14F-4D97-AF65-F5344CB8AC3E}">
        <p14:creationId xmlns:p14="http://schemas.microsoft.com/office/powerpoint/2010/main" val="23847921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66612">
              <a:defRPr/>
            </a:pPr>
            <a:fld id="{1FCFB477-4385-4B3A-9493-CD03BE7A44CF}" type="slidenum">
              <a:rPr lang="en-US">
                <a:solidFill>
                  <a:prstClr val="black"/>
                </a:solidFill>
                <a:latin typeface="Calibri" panose="020F0502020204030204"/>
              </a:rPr>
              <a:pPr defTabSz="966612">
                <a:defRPr/>
              </a:pPr>
              <a:t>11</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2678866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traditional heating ventilation and air conditioning (HVAC) system can consume as much as 22 kWh/sf/yr. </a:t>
            </a:r>
          </a:p>
          <a:p>
            <a:r>
              <a:rPr lang="en-US" dirty="0"/>
              <a:t>A GeoExchange system consumers about 10 kWh/s.f./yr. </a:t>
            </a:r>
          </a:p>
          <a:p>
            <a:r>
              <a:rPr lang="en-US" dirty="0"/>
              <a:t>The campus GeoExchange system provides up to 89% of the energy needed to heat and cool connected buildings (1,139,860 sf), resulting in energy savings in excess of $1,094,268.60 / year. </a:t>
            </a:r>
          </a:p>
          <a:p>
            <a:r>
              <a:rPr lang="en-US" dirty="0"/>
              <a:t>Conservative estimates show our Carbon footprint has been reduced by 7,881 metric tons/yr through the use of our GeoExchange system when compared to traditional HVAC systems.</a:t>
            </a:r>
          </a:p>
          <a:p>
            <a:endParaRPr lang="en-US" dirty="0"/>
          </a:p>
        </p:txBody>
      </p:sp>
      <p:sp>
        <p:nvSpPr>
          <p:cNvPr id="4" name="Slide Number Placeholder 3"/>
          <p:cNvSpPr>
            <a:spLocks noGrp="1"/>
          </p:cNvSpPr>
          <p:nvPr>
            <p:ph type="sldNum" sz="quarter" idx="10"/>
          </p:nvPr>
        </p:nvSpPr>
        <p:spPr/>
        <p:txBody>
          <a:bodyPr/>
          <a:lstStyle/>
          <a:p>
            <a:fld id="{ECC2CFFD-EA2B-4756-A1DE-664D95E0AEAC}" type="slidenum">
              <a:rPr lang="en-US" smtClean="0"/>
              <a:t>14</a:t>
            </a:fld>
            <a:endParaRPr lang="en-US" dirty="0"/>
          </a:p>
        </p:txBody>
      </p:sp>
    </p:spTree>
    <p:extLst>
      <p:ext uri="{BB962C8B-B14F-4D97-AF65-F5344CB8AC3E}">
        <p14:creationId xmlns:p14="http://schemas.microsoft.com/office/powerpoint/2010/main" val="12451484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defTabSz="966612">
              <a:defRPr/>
            </a:pPr>
            <a:fld id="{905B317C-AB55-4B46-9DAF-9833E2F22A68}" type="slidenum">
              <a:rPr lang="en-US">
                <a:solidFill>
                  <a:prstClr val="black"/>
                </a:solidFill>
                <a:latin typeface="Calibri" panose="020F0502020204030204"/>
              </a:rPr>
              <a:pPr defTabSz="966612">
                <a:defRPr/>
              </a:pPr>
              <a:t>18</a:t>
            </a:fld>
            <a:endParaRPr lang="en-US">
              <a:solidFill>
                <a:prstClr val="black"/>
              </a:solidFill>
              <a:latin typeface="Calibri" panose="020F0502020204030204"/>
            </a:endParaRPr>
          </a:p>
        </p:txBody>
      </p:sp>
    </p:spTree>
    <p:extLst>
      <p:ext uri="{BB962C8B-B14F-4D97-AF65-F5344CB8AC3E}">
        <p14:creationId xmlns:p14="http://schemas.microsoft.com/office/powerpoint/2010/main" val="160331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2D02F-04DA-F0ED-1A45-83B80185C1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5F68187-FBC3-3C0B-12F0-26B7A81752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50DF3AB-3EFF-7275-06DC-7B8C2E1D0425}"/>
              </a:ext>
            </a:extLst>
          </p:cNvPr>
          <p:cNvSpPr>
            <a:spLocks noGrp="1"/>
          </p:cNvSpPr>
          <p:nvPr>
            <p:ph type="dt" sz="half" idx="10"/>
          </p:nvPr>
        </p:nvSpPr>
        <p:spPr/>
        <p:txBody>
          <a:bodyPr/>
          <a:lstStyle/>
          <a:p>
            <a:fld id="{EB0B5E94-4CBB-4DFD-AEB7-BFDEB5363B45}" type="datetimeFigureOut">
              <a:rPr lang="en-US" smtClean="0"/>
              <a:t>1/28/2026</a:t>
            </a:fld>
            <a:endParaRPr lang="en-US"/>
          </a:p>
        </p:txBody>
      </p:sp>
      <p:sp>
        <p:nvSpPr>
          <p:cNvPr id="5" name="Footer Placeholder 4">
            <a:extLst>
              <a:ext uri="{FF2B5EF4-FFF2-40B4-BE49-F238E27FC236}">
                <a16:creationId xmlns:a16="http://schemas.microsoft.com/office/drawing/2014/main" id="{99D7DE45-785F-8F16-EBCD-EDEAE244E9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1A8A54-B95F-D9B5-1BAD-183BC441D017}"/>
              </a:ext>
            </a:extLst>
          </p:cNvPr>
          <p:cNvSpPr>
            <a:spLocks noGrp="1"/>
          </p:cNvSpPr>
          <p:nvPr>
            <p:ph type="sldNum" sz="quarter" idx="12"/>
          </p:nvPr>
        </p:nvSpPr>
        <p:spPr/>
        <p:txBody>
          <a:bodyPr/>
          <a:lstStyle/>
          <a:p>
            <a:fld id="{44767C61-F430-43FB-95F3-45A4C550B450}" type="slidenum">
              <a:rPr lang="en-US" smtClean="0"/>
              <a:t>‹#›</a:t>
            </a:fld>
            <a:endParaRPr lang="en-US"/>
          </a:p>
        </p:txBody>
      </p:sp>
    </p:spTree>
    <p:extLst>
      <p:ext uri="{BB962C8B-B14F-4D97-AF65-F5344CB8AC3E}">
        <p14:creationId xmlns:p14="http://schemas.microsoft.com/office/powerpoint/2010/main" val="691364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F434E-83E9-0D8E-C573-0174DC76ED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23BC71-4247-1ADF-787B-438B611E6C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79142B-E53E-C6A5-8189-D44DCEEB4288}"/>
              </a:ext>
            </a:extLst>
          </p:cNvPr>
          <p:cNvSpPr>
            <a:spLocks noGrp="1"/>
          </p:cNvSpPr>
          <p:nvPr>
            <p:ph type="dt" sz="half" idx="10"/>
          </p:nvPr>
        </p:nvSpPr>
        <p:spPr/>
        <p:txBody>
          <a:bodyPr/>
          <a:lstStyle/>
          <a:p>
            <a:fld id="{EB0B5E94-4CBB-4DFD-AEB7-BFDEB5363B45}" type="datetimeFigureOut">
              <a:rPr lang="en-US" smtClean="0"/>
              <a:t>1/28/2026</a:t>
            </a:fld>
            <a:endParaRPr lang="en-US"/>
          </a:p>
        </p:txBody>
      </p:sp>
      <p:sp>
        <p:nvSpPr>
          <p:cNvPr id="5" name="Footer Placeholder 4">
            <a:extLst>
              <a:ext uri="{FF2B5EF4-FFF2-40B4-BE49-F238E27FC236}">
                <a16:creationId xmlns:a16="http://schemas.microsoft.com/office/drawing/2014/main" id="{6FC2D580-5219-1D06-FE07-13F31DE595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0A7EA7-FCED-F9FF-25D3-DE5D72E1454A}"/>
              </a:ext>
            </a:extLst>
          </p:cNvPr>
          <p:cNvSpPr>
            <a:spLocks noGrp="1"/>
          </p:cNvSpPr>
          <p:nvPr>
            <p:ph type="sldNum" sz="quarter" idx="12"/>
          </p:nvPr>
        </p:nvSpPr>
        <p:spPr/>
        <p:txBody>
          <a:bodyPr/>
          <a:lstStyle/>
          <a:p>
            <a:fld id="{44767C61-F430-43FB-95F3-45A4C550B450}" type="slidenum">
              <a:rPr lang="en-US" smtClean="0"/>
              <a:t>‹#›</a:t>
            </a:fld>
            <a:endParaRPr lang="en-US"/>
          </a:p>
        </p:txBody>
      </p:sp>
    </p:spTree>
    <p:extLst>
      <p:ext uri="{BB962C8B-B14F-4D97-AF65-F5344CB8AC3E}">
        <p14:creationId xmlns:p14="http://schemas.microsoft.com/office/powerpoint/2010/main" val="2197214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6760E-CB1D-4BBA-096D-76E0B8CD5A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C902447-9763-7CAA-0AA0-2BB0B9BD68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9F3F81-9725-6AFD-8DAE-1AE618C76AD1}"/>
              </a:ext>
            </a:extLst>
          </p:cNvPr>
          <p:cNvSpPr>
            <a:spLocks noGrp="1"/>
          </p:cNvSpPr>
          <p:nvPr>
            <p:ph type="dt" sz="half" idx="10"/>
          </p:nvPr>
        </p:nvSpPr>
        <p:spPr/>
        <p:txBody>
          <a:bodyPr/>
          <a:lstStyle/>
          <a:p>
            <a:fld id="{EB0B5E94-4CBB-4DFD-AEB7-BFDEB5363B45}" type="datetimeFigureOut">
              <a:rPr lang="en-US" smtClean="0"/>
              <a:t>1/28/2026</a:t>
            </a:fld>
            <a:endParaRPr lang="en-US"/>
          </a:p>
        </p:txBody>
      </p:sp>
      <p:sp>
        <p:nvSpPr>
          <p:cNvPr id="5" name="Footer Placeholder 4">
            <a:extLst>
              <a:ext uri="{FF2B5EF4-FFF2-40B4-BE49-F238E27FC236}">
                <a16:creationId xmlns:a16="http://schemas.microsoft.com/office/drawing/2014/main" id="{28F60A29-3B70-F7C7-9E3F-AAA192075D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CCE31F-335F-1269-D31F-A4A5C002B6FA}"/>
              </a:ext>
            </a:extLst>
          </p:cNvPr>
          <p:cNvSpPr>
            <a:spLocks noGrp="1"/>
          </p:cNvSpPr>
          <p:nvPr>
            <p:ph type="sldNum" sz="quarter" idx="12"/>
          </p:nvPr>
        </p:nvSpPr>
        <p:spPr/>
        <p:txBody>
          <a:bodyPr/>
          <a:lstStyle/>
          <a:p>
            <a:fld id="{44767C61-F430-43FB-95F3-45A4C550B450}" type="slidenum">
              <a:rPr lang="en-US" smtClean="0"/>
              <a:t>‹#›</a:t>
            </a:fld>
            <a:endParaRPr lang="en-US"/>
          </a:p>
        </p:txBody>
      </p:sp>
    </p:spTree>
    <p:extLst>
      <p:ext uri="{BB962C8B-B14F-4D97-AF65-F5344CB8AC3E}">
        <p14:creationId xmlns:p14="http://schemas.microsoft.com/office/powerpoint/2010/main" val="14687051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F4BE4-E279-D76C-097A-177FE97ACA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F6FB0D-3A8A-EFCA-22C6-F750986383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7E4D5C-BE73-4604-9919-1B63A5013C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DD91E5-E8E3-A33E-2879-01873A83802A}"/>
              </a:ext>
            </a:extLst>
          </p:cNvPr>
          <p:cNvSpPr>
            <a:spLocks noGrp="1"/>
          </p:cNvSpPr>
          <p:nvPr>
            <p:ph type="dt" sz="half" idx="10"/>
          </p:nvPr>
        </p:nvSpPr>
        <p:spPr/>
        <p:txBody>
          <a:bodyPr/>
          <a:lstStyle/>
          <a:p>
            <a:fld id="{EB0B5E94-4CBB-4DFD-AEB7-BFDEB5363B45}" type="datetimeFigureOut">
              <a:rPr lang="en-US" smtClean="0"/>
              <a:t>1/28/2026</a:t>
            </a:fld>
            <a:endParaRPr lang="en-US"/>
          </a:p>
        </p:txBody>
      </p:sp>
      <p:sp>
        <p:nvSpPr>
          <p:cNvPr id="6" name="Footer Placeholder 5">
            <a:extLst>
              <a:ext uri="{FF2B5EF4-FFF2-40B4-BE49-F238E27FC236}">
                <a16:creationId xmlns:a16="http://schemas.microsoft.com/office/drawing/2014/main" id="{8A5E6E10-6BC7-EA39-5C1D-749693DCD0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5B80D9-FE72-1100-48D5-5F9C58C15201}"/>
              </a:ext>
            </a:extLst>
          </p:cNvPr>
          <p:cNvSpPr>
            <a:spLocks noGrp="1"/>
          </p:cNvSpPr>
          <p:nvPr>
            <p:ph type="sldNum" sz="quarter" idx="12"/>
          </p:nvPr>
        </p:nvSpPr>
        <p:spPr/>
        <p:txBody>
          <a:bodyPr/>
          <a:lstStyle/>
          <a:p>
            <a:fld id="{44767C61-F430-43FB-95F3-45A4C550B450}" type="slidenum">
              <a:rPr lang="en-US" smtClean="0"/>
              <a:t>‹#›</a:t>
            </a:fld>
            <a:endParaRPr lang="en-US"/>
          </a:p>
        </p:txBody>
      </p:sp>
    </p:spTree>
    <p:extLst>
      <p:ext uri="{BB962C8B-B14F-4D97-AF65-F5344CB8AC3E}">
        <p14:creationId xmlns:p14="http://schemas.microsoft.com/office/powerpoint/2010/main" val="3956385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5A1F0-95AD-001C-D844-41168B7835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6A33850-96B1-805C-8DE5-93D8ACCDB1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ADED53-A3C2-98F0-11EF-9251E4E623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3A6041A-801B-25A1-221D-908D82B3F1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ED39E7-6BDF-855D-4C93-E5C8026375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C75B9C3-FFFF-97E0-3717-D04F5E0BFD80}"/>
              </a:ext>
            </a:extLst>
          </p:cNvPr>
          <p:cNvSpPr>
            <a:spLocks noGrp="1"/>
          </p:cNvSpPr>
          <p:nvPr>
            <p:ph type="dt" sz="half" idx="10"/>
          </p:nvPr>
        </p:nvSpPr>
        <p:spPr/>
        <p:txBody>
          <a:bodyPr/>
          <a:lstStyle/>
          <a:p>
            <a:fld id="{EB0B5E94-4CBB-4DFD-AEB7-BFDEB5363B45}" type="datetimeFigureOut">
              <a:rPr lang="en-US" smtClean="0"/>
              <a:t>1/28/2026</a:t>
            </a:fld>
            <a:endParaRPr lang="en-US"/>
          </a:p>
        </p:txBody>
      </p:sp>
      <p:sp>
        <p:nvSpPr>
          <p:cNvPr id="8" name="Footer Placeholder 7">
            <a:extLst>
              <a:ext uri="{FF2B5EF4-FFF2-40B4-BE49-F238E27FC236}">
                <a16:creationId xmlns:a16="http://schemas.microsoft.com/office/drawing/2014/main" id="{34043E02-1D5C-48F8-D6CE-B6893F4183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7FA1A9-8A31-8B3D-B0DE-B511A49BBE93}"/>
              </a:ext>
            </a:extLst>
          </p:cNvPr>
          <p:cNvSpPr>
            <a:spLocks noGrp="1"/>
          </p:cNvSpPr>
          <p:nvPr>
            <p:ph type="sldNum" sz="quarter" idx="12"/>
          </p:nvPr>
        </p:nvSpPr>
        <p:spPr/>
        <p:txBody>
          <a:bodyPr/>
          <a:lstStyle/>
          <a:p>
            <a:fld id="{44767C61-F430-43FB-95F3-45A4C550B450}" type="slidenum">
              <a:rPr lang="en-US" smtClean="0"/>
              <a:t>‹#›</a:t>
            </a:fld>
            <a:endParaRPr lang="en-US"/>
          </a:p>
        </p:txBody>
      </p:sp>
    </p:spTree>
    <p:extLst>
      <p:ext uri="{BB962C8B-B14F-4D97-AF65-F5344CB8AC3E}">
        <p14:creationId xmlns:p14="http://schemas.microsoft.com/office/powerpoint/2010/main" val="2555195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5E6DE-C929-11B7-CAEE-3953CA29F99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C80398D-6B4F-9703-9937-D7A763814437}"/>
              </a:ext>
            </a:extLst>
          </p:cNvPr>
          <p:cNvSpPr>
            <a:spLocks noGrp="1"/>
          </p:cNvSpPr>
          <p:nvPr>
            <p:ph type="dt" sz="half" idx="10"/>
          </p:nvPr>
        </p:nvSpPr>
        <p:spPr/>
        <p:txBody>
          <a:bodyPr/>
          <a:lstStyle/>
          <a:p>
            <a:fld id="{EB0B5E94-4CBB-4DFD-AEB7-BFDEB5363B45}" type="datetimeFigureOut">
              <a:rPr lang="en-US" smtClean="0"/>
              <a:t>1/28/2026</a:t>
            </a:fld>
            <a:endParaRPr lang="en-US"/>
          </a:p>
        </p:txBody>
      </p:sp>
      <p:sp>
        <p:nvSpPr>
          <p:cNvPr id="4" name="Footer Placeholder 3">
            <a:extLst>
              <a:ext uri="{FF2B5EF4-FFF2-40B4-BE49-F238E27FC236}">
                <a16:creationId xmlns:a16="http://schemas.microsoft.com/office/drawing/2014/main" id="{D04BAFED-00FC-EE26-5285-923389C587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C9BA40-8DF9-319B-A6CB-1459FBA186BA}"/>
              </a:ext>
            </a:extLst>
          </p:cNvPr>
          <p:cNvSpPr>
            <a:spLocks noGrp="1"/>
          </p:cNvSpPr>
          <p:nvPr>
            <p:ph type="sldNum" sz="quarter" idx="12"/>
          </p:nvPr>
        </p:nvSpPr>
        <p:spPr/>
        <p:txBody>
          <a:bodyPr/>
          <a:lstStyle/>
          <a:p>
            <a:fld id="{44767C61-F430-43FB-95F3-45A4C550B450}" type="slidenum">
              <a:rPr lang="en-US" smtClean="0"/>
              <a:t>‹#›</a:t>
            </a:fld>
            <a:endParaRPr lang="en-US"/>
          </a:p>
        </p:txBody>
      </p:sp>
    </p:spTree>
    <p:extLst>
      <p:ext uri="{BB962C8B-B14F-4D97-AF65-F5344CB8AC3E}">
        <p14:creationId xmlns:p14="http://schemas.microsoft.com/office/powerpoint/2010/main" val="3085240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B9F494-9C8B-1436-5AD4-F6CE025E1939}"/>
              </a:ext>
            </a:extLst>
          </p:cNvPr>
          <p:cNvSpPr>
            <a:spLocks noGrp="1"/>
          </p:cNvSpPr>
          <p:nvPr>
            <p:ph type="dt" sz="half" idx="10"/>
          </p:nvPr>
        </p:nvSpPr>
        <p:spPr/>
        <p:txBody>
          <a:bodyPr/>
          <a:lstStyle/>
          <a:p>
            <a:fld id="{EB0B5E94-4CBB-4DFD-AEB7-BFDEB5363B45}" type="datetimeFigureOut">
              <a:rPr lang="en-US" smtClean="0"/>
              <a:t>1/28/2026</a:t>
            </a:fld>
            <a:endParaRPr lang="en-US"/>
          </a:p>
        </p:txBody>
      </p:sp>
      <p:sp>
        <p:nvSpPr>
          <p:cNvPr id="3" name="Footer Placeholder 2">
            <a:extLst>
              <a:ext uri="{FF2B5EF4-FFF2-40B4-BE49-F238E27FC236}">
                <a16:creationId xmlns:a16="http://schemas.microsoft.com/office/drawing/2014/main" id="{EA7FE3A0-F7C8-DB5C-4F71-6A20A52A3D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9225D9A-A572-F71A-BCAA-BD5148FE23EF}"/>
              </a:ext>
            </a:extLst>
          </p:cNvPr>
          <p:cNvSpPr>
            <a:spLocks noGrp="1"/>
          </p:cNvSpPr>
          <p:nvPr>
            <p:ph type="sldNum" sz="quarter" idx="12"/>
          </p:nvPr>
        </p:nvSpPr>
        <p:spPr/>
        <p:txBody>
          <a:bodyPr/>
          <a:lstStyle/>
          <a:p>
            <a:fld id="{44767C61-F430-43FB-95F3-45A4C550B450}" type="slidenum">
              <a:rPr lang="en-US" smtClean="0"/>
              <a:t>‹#›</a:t>
            </a:fld>
            <a:endParaRPr lang="en-US"/>
          </a:p>
        </p:txBody>
      </p:sp>
    </p:spTree>
    <p:extLst>
      <p:ext uri="{BB962C8B-B14F-4D97-AF65-F5344CB8AC3E}">
        <p14:creationId xmlns:p14="http://schemas.microsoft.com/office/powerpoint/2010/main" val="1523170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7C306-686E-EDA7-B427-37AB33D105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D7AEC1-8BEA-CE00-75FE-2CBF53911F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BD1376-1055-F5FC-71AD-994842858F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75095-4F95-8061-30ED-83C07FFEBAE1}"/>
              </a:ext>
            </a:extLst>
          </p:cNvPr>
          <p:cNvSpPr>
            <a:spLocks noGrp="1"/>
          </p:cNvSpPr>
          <p:nvPr>
            <p:ph type="dt" sz="half" idx="10"/>
          </p:nvPr>
        </p:nvSpPr>
        <p:spPr/>
        <p:txBody>
          <a:bodyPr/>
          <a:lstStyle/>
          <a:p>
            <a:fld id="{EB0B5E94-4CBB-4DFD-AEB7-BFDEB5363B45}" type="datetimeFigureOut">
              <a:rPr lang="en-US" smtClean="0"/>
              <a:t>1/28/2026</a:t>
            </a:fld>
            <a:endParaRPr lang="en-US"/>
          </a:p>
        </p:txBody>
      </p:sp>
      <p:sp>
        <p:nvSpPr>
          <p:cNvPr id="6" name="Footer Placeholder 5">
            <a:extLst>
              <a:ext uri="{FF2B5EF4-FFF2-40B4-BE49-F238E27FC236}">
                <a16:creationId xmlns:a16="http://schemas.microsoft.com/office/drawing/2014/main" id="{EED6B6F0-96DC-CA80-B2BC-9AF9B5611E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201D5F-746C-55ED-9C07-5013A55486F9}"/>
              </a:ext>
            </a:extLst>
          </p:cNvPr>
          <p:cNvSpPr>
            <a:spLocks noGrp="1"/>
          </p:cNvSpPr>
          <p:nvPr>
            <p:ph type="sldNum" sz="quarter" idx="12"/>
          </p:nvPr>
        </p:nvSpPr>
        <p:spPr/>
        <p:txBody>
          <a:bodyPr/>
          <a:lstStyle/>
          <a:p>
            <a:fld id="{44767C61-F430-43FB-95F3-45A4C550B450}" type="slidenum">
              <a:rPr lang="en-US" smtClean="0"/>
              <a:t>‹#›</a:t>
            </a:fld>
            <a:endParaRPr lang="en-US"/>
          </a:p>
        </p:txBody>
      </p:sp>
    </p:spTree>
    <p:extLst>
      <p:ext uri="{BB962C8B-B14F-4D97-AF65-F5344CB8AC3E}">
        <p14:creationId xmlns:p14="http://schemas.microsoft.com/office/powerpoint/2010/main" val="1209076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1CC83-5AF9-E9BA-B8C6-0D1B8C45F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C17A9C4-4C04-928E-30B8-9E4D83F552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FFF7157-C3A6-5C44-B68A-898A23E1F9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BD71A8-8029-71D9-9D4B-DE88085B4658}"/>
              </a:ext>
            </a:extLst>
          </p:cNvPr>
          <p:cNvSpPr>
            <a:spLocks noGrp="1"/>
          </p:cNvSpPr>
          <p:nvPr>
            <p:ph type="dt" sz="half" idx="10"/>
          </p:nvPr>
        </p:nvSpPr>
        <p:spPr/>
        <p:txBody>
          <a:bodyPr/>
          <a:lstStyle/>
          <a:p>
            <a:fld id="{EB0B5E94-4CBB-4DFD-AEB7-BFDEB5363B45}" type="datetimeFigureOut">
              <a:rPr lang="en-US" smtClean="0"/>
              <a:t>1/28/2026</a:t>
            </a:fld>
            <a:endParaRPr lang="en-US"/>
          </a:p>
        </p:txBody>
      </p:sp>
      <p:sp>
        <p:nvSpPr>
          <p:cNvPr id="6" name="Footer Placeholder 5">
            <a:extLst>
              <a:ext uri="{FF2B5EF4-FFF2-40B4-BE49-F238E27FC236}">
                <a16:creationId xmlns:a16="http://schemas.microsoft.com/office/drawing/2014/main" id="{8C10D494-6A90-9938-3690-3226FB62A4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72AB80-ED5B-E932-D492-E6EE1453B732}"/>
              </a:ext>
            </a:extLst>
          </p:cNvPr>
          <p:cNvSpPr>
            <a:spLocks noGrp="1"/>
          </p:cNvSpPr>
          <p:nvPr>
            <p:ph type="sldNum" sz="quarter" idx="12"/>
          </p:nvPr>
        </p:nvSpPr>
        <p:spPr/>
        <p:txBody>
          <a:bodyPr/>
          <a:lstStyle/>
          <a:p>
            <a:fld id="{44767C61-F430-43FB-95F3-45A4C550B450}" type="slidenum">
              <a:rPr lang="en-US" smtClean="0"/>
              <a:t>‹#›</a:t>
            </a:fld>
            <a:endParaRPr lang="en-US"/>
          </a:p>
        </p:txBody>
      </p:sp>
    </p:spTree>
    <p:extLst>
      <p:ext uri="{BB962C8B-B14F-4D97-AF65-F5344CB8AC3E}">
        <p14:creationId xmlns:p14="http://schemas.microsoft.com/office/powerpoint/2010/main" val="191799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71F07-F0F4-F1A3-78C0-3241DA354A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2E3D97C-6C28-79AE-F148-FDB282684F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3F0F4-B501-7276-47A3-7AC5F5E28079}"/>
              </a:ext>
            </a:extLst>
          </p:cNvPr>
          <p:cNvSpPr>
            <a:spLocks noGrp="1"/>
          </p:cNvSpPr>
          <p:nvPr>
            <p:ph type="dt" sz="half" idx="10"/>
          </p:nvPr>
        </p:nvSpPr>
        <p:spPr/>
        <p:txBody>
          <a:bodyPr/>
          <a:lstStyle/>
          <a:p>
            <a:fld id="{EB0B5E94-4CBB-4DFD-AEB7-BFDEB5363B45}" type="datetimeFigureOut">
              <a:rPr lang="en-US" smtClean="0"/>
              <a:t>1/28/2026</a:t>
            </a:fld>
            <a:endParaRPr lang="en-US"/>
          </a:p>
        </p:txBody>
      </p:sp>
      <p:sp>
        <p:nvSpPr>
          <p:cNvPr id="5" name="Footer Placeholder 4">
            <a:extLst>
              <a:ext uri="{FF2B5EF4-FFF2-40B4-BE49-F238E27FC236}">
                <a16:creationId xmlns:a16="http://schemas.microsoft.com/office/drawing/2014/main" id="{342E0755-323C-FF1F-1EBF-A74AEEF350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7B285E-B7B0-E6B4-FD5F-91FFBF1BA1E8}"/>
              </a:ext>
            </a:extLst>
          </p:cNvPr>
          <p:cNvSpPr>
            <a:spLocks noGrp="1"/>
          </p:cNvSpPr>
          <p:nvPr>
            <p:ph type="sldNum" sz="quarter" idx="12"/>
          </p:nvPr>
        </p:nvSpPr>
        <p:spPr/>
        <p:txBody>
          <a:bodyPr/>
          <a:lstStyle/>
          <a:p>
            <a:fld id="{44767C61-F430-43FB-95F3-45A4C550B450}" type="slidenum">
              <a:rPr lang="en-US" smtClean="0"/>
              <a:t>‹#›</a:t>
            </a:fld>
            <a:endParaRPr lang="en-US"/>
          </a:p>
        </p:txBody>
      </p:sp>
    </p:spTree>
    <p:extLst>
      <p:ext uri="{BB962C8B-B14F-4D97-AF65-F5344CB8AC3E}">
        <p14:creationId xmlns:p14="http://schemas.microsoft.com/office/powerpoint/2010/main" val="2696705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85DFCF-8EAF-3BFA-9565-60D00F71DC6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50063FB-413B-9125-4AE7-E6280C02AE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803327-36EC-73C4-0A7A-A0D077BD159C}"/>
              </a:ext>
            </a:extLst>
          </p:cNvPr>
          <p:cNvSpPr>
            <a:spLocks noGrp="1"/>
          </p:cNvSpPr>
          <p:nvPr>
            <p:ph type="dt" sz="half" idx="10"/>
          </p:nvPr>
        </p:nvSpPr>
        <p:spPr/>
        <p:txBody>
          <a:bodyPr/>
          <a:lstStyle/>
          <a:p>
            <a:fld id="{EB0B5E94-4CBB-4DFD-AEB7-BFDEB5363B45}" type="datetimeFigureOut">
              <a:rPr lang="en-US" smtClean="0"/>
              <a:t>1/28/2026</a:t>
            </a:fld>
            <a:endParaRPr lang="en-US"/>
          </a:p>
        </p:txBody>
      </p:sp>
      <p:sp>
        <p:nvSpPr>
          <p:cNvPr id="5" name="Footer Placeholder 4">
            <a:extLst>
              <a:ext uri="{FF2B5EF4-FFF2-40B4-BE49-F238E27FC236}">
                <a16:creationId xmlns:a16="http://schemas.microsoft.com/office/drawing/2014/main" id="{EB51D120-BC1F-D55A-BD07-0F0D1487EE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AB3B71-6179-072D-8E66-827943609FA1}"/>
              </a:ext>
            </a:extLst>
          </p:cNvPr>
          <p:cNvSpPr>
            <a:spLocks noGrp="1"/>
          </p:cNvSpPr>
          <p:nvPr>
            <p:ph type="sldNum" sz="quarter" idx="12"/>
          </p:nvPr>
        </p:nvSpPr>
        <p:spPr/>
        <p:txBody>
          <a:bodyPr/>
          <a:lstStyle/>
          <a:p>
            <a:fld id="{44767C61-F430-43FB-95F3-45A4C550B450}" type="slidenum">
              <a:rPr lang="en-US" smtClean="0"/>
              <a:t>‹#›</a:t>
            </a:fld>
            <a:endParaRPr lang="en-US"/>
          </a:p>
        </p:txBody>
      </p:sp>
    </p:spTree>
    <p:extLst>
      <p:ext uri="{BB962C8B-B14F-4D97-AF65-F5344CB8AC3E}">
        <p14:creationId xmlns:p14="http://schemas.microsoft.com/office/powerpoint/2010/main" val="4114461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31421B-1EC3-C417-DDB3-12092242A1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0E78D7-05A4-45DE-6C4E-241D55D806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A527E6-D238-B843-E2FC-C7E9C6067F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B0B5E94-4CBB-4DFD-AEB7-BFDEB5363B45}" type="datetimeFigureOut">
              <a:rPr lang="en-US" smtClean="0"/>
              <a:t>1/28/2026</a:t>
            </a:fld>
            <a:endParaRPr lang="en-US"/>
          </a:p>
        </p:txBody>
      </p:sp>
      <p:sp>
        <p:nvSpPr>
          <p:cNvPr id="5" name="Footer Placeholder 4">
            <a:extLst>
              <a:ext uri="{FF2B5EF4-FFF2-40B4-BE49-F238E27FC236}">
                <a16:creationId xmlns:a16="http://schemas.microsoft.com/office/drawing/2014/main" id="{6371B927-4317-4FA8-AEA9-8FB4FBF1B7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4046BC4-0921-77C1-6B16-11740C0D57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767C61-F430-43FB-95F3-45A4C550B450}" type="slidenum">
              <a:rPr lang="en-US" smtClean="0"/>
              <a:t>‹#›</a:t>
            </a:fld>
            <a:endParaRPr lang="en-US"/>
          </a:p>
        </p:txBody>
      </p:sp>
    </p:spTree>
    <p:extLst>
      <p:ext uri="{BB962C8B-B14F-4D97-AF65-F5344CB8AC3E}">
        <p14:creationId xmlns:p14="http://schemas.microsoft.com/office/powerpoint/2010/main" val="3914192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mailto:dcsmith@soundgt.com" TargetMode="External"/><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hyperlink" Target="mailto:csmith@greyedgegroup.com"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hyperlink" Target="NREL%2075528.pdf"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hyperlink" Target="NREL%20Energy%20Master%20Planning%2078495.pdf"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chart" Target="../charts/chart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jpeg"/><Relationship Id="rId9"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8.tmp"/><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jpe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hyperlink" Target="mailto:csmith@greyedgegroup.com" TargetMode="External"/><Relationship Id="rId2" Type="http://schemas.openxmlformats.org/officeDocument/2006/relationships/hyperlink" Target="mailto:dcsmith@soundgt.com" TargetMode="External"/><Relationship Id="rId1" Type="http://schemas.openxmlformats.org/officeDocument/2006/relationships/slideLayout" Target="../slideLayouts/slideLayout6.xml"/><Relationship Id="rId6" Type="http://schemas.openxmlformats.org/officeDocument/2006/relationships/image" Target="../media/image1.jpg"/><Relationship Id="rId5" Type="http://schemas.openxmlformats.org/officeDocument/2006/relationships/image" Target="../media/image6.png"/><Relationship Id="rId4" Type="http://schemas.openxmlformats.org/officeDocument/2006/relationships/image" Target="../media/image5.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43A04-23DA-4CFD-1168-4FD8CD089647}"/>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46429E1D-2072-5687-9C0C-C47247EC5E32}"/>
              </a:ext>
            </a:extLst>
          </p:cNvPr>
          <p:cNvSpPr>
            <a:spLocks noGrp="1"/>
          </p:cNvSpPr>
          <p:nvPr>
            <p:ph type="subTitle" idx="1"/>
          </p:nvPr>
        </p:nvSpPr>
        <p:spPr/>
        <p:txBody>
          <a:bodyPr/>
          <a:lstStyle/>
          <a:p>
            <a:endParaRPr lang="en-US"/>
          </a:p>
        </p:txBody>
      </p:sp>
      <p:pic>
        <p:nvPicPr>
          <p:cNvPr id="4" name="Picture 3">
            <a:extLst>
              <a:ext uri="{FF2B5EF4-FFF2-40B4-BE49-F238E27FC236}">
                <a16:creationId xmlns:a16="http://schemas.microsoft.com/office/drawing/2014/main" id="{A3E45114-C7A5-F59D-299F-C311C81E059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12192000" cy="6858000"/>
          </a:xfrm>
          <a:prstGeom prst="rect">
            <a:avLst/>
          </a:prstGeom>
        </p:spPr>
      </p:pic>
      <p:pic>
        <p:nvPicPr>
          <p:cNvPr id="5" name="Picture 4">
            <a:extLst>
              <a:ext uri="{FF2B5EF4-FFF2-40B4-BE49-F238E27FC236}">
                <a16:creationId xmlns:a16="http://schemas.microsoft.com/office/drawing/2014/main" id="{C8D1EA10-4404-4A68-68BA-2CF2F2E7BD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29649" y="843999"/>
            <a:ext cx="4117894" cy="1270954"/>
          </a:xfrm>
          <a:prstGeom prst="rect">
            <a:avLst/>
          </a:prstGeom>
        </p:spPr>
      </p:pic>
      <p:pic>
        <p:nvPicPr>
          <p:cNvPr id="6" name="Picture 5">
            <a:extLst>
              <a:ext uri="{FF2B5EF4-FFF2-40B4-BE49-F238E27FC236}">
                <a16:creationId xmlns:a16="http://schemas.microsoft.com/office/drawing/2014/main" id="{1A0CF4F1-C302-EEA6-CABF-A8D4AD1500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94798" y="5797742"/>
            <a:ext cx="2202113" cy="631997"/>
          </a:xfrm>
          <a:prstGeom prst="rect">
            <a:avLst/>
          </a:prstGeom>
          <a:effectLst/>
        </p:spPr>
      </p:pic>
      <p:sp>
        <p:nvSpPr>
          <p:cNvPr id="7" name="TextBox 6">
            <a:extLst>
              <a:ext uri="{FF2B5EF4-FFF2-40B4-BE49-F238E27FC236}">
                <a16:creationId xmlns:a16="http://schemas.microsoft.com/office/drawing/2014/main" id="{E1CD3EF5-EE72-0EFE-82AC-02DBB7EDC0E5}"/>
              </a:ext>
            </a:extLst>
          </p:cNvPr>
          <p:cNvSpPr txBox="1"/>
          <p:nvPr/>
        </p:nvSpPr>
        <p:spPr>
          <a:xfrm>
            <a:off x="4129649" y="428265"/>
            <a:ext cx="4117894"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Proxima Nova Cond" panose="02000506030000020004" pitchFamily="2" charset="0"/>
              </a:rPr>
              <a:t>INTERNATIONAL DISTRICT ENERGY ASSOCIATION’S </a:t>
            </a:r>
          </a:p>
        </p:txBody>
      </p:sp>
    </p:spTree>
    <p:extLst>
      <p:ext uri="{BB962C8B-B14F-4D97-AF65-F5344CB8AC3E}">
        <p14:creationId xmlns:p14="http://schemas.microsoft.com/office/powerpoint/2010/main" val="3094524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CBFF414-33BB-43B2-AF81-7BDD211FFDDB}"/>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51681A6-C7C0-43A9-A019-3267D3F9D512}" type="slidenum">
              <a:rPr lang="en-US" smtClean="0"/>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ubtitle 2">
            <a:extLst>
              <a:ext uri="{FF2B5EF4-FFF2-40B4-BE49-F238E27FC236}">
                <a16:creationId xmlns:a16="http://schemas.microsoft.com/office/drawing/2014/main" id="{5B8BF59C-0BAD-4482-A189-47A6C4558552}"/>
              </a:ext>
            </a:extLst>
          </p:cNvPr>
          <p:cNvSpPr txBox="1">
            <a:spLocks/>
          </p:cNvSpPr>
          <p:nvPr/>
        </p:nvSpPr>
        <p:spPr>
          <a:xfrm>
            <a:off x="381906" y="220751"/>
            <a:ext cx="11529424" cy="1555497"/>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3500" kern="1200">
                <a:solidFill>
                  <a:srgbClr val="003399"/>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3500" kern="1200">
                <a:solidFill>
                  <a:srgbClr val="003399"/>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3500" kern="1200">
                <a:solidFill>
                  <a:srgbClr val="003399"/>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3500" kern="1200">
                <a:solidFill>
                  <a:srgbClr val="003399"/>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3500" kern="1200">
                <a:solidFill>
                  <a:srgbClr val="003399"/>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ctr" defTabSz="914400" rtl="0" eaLnBrk="0" fontAlgn="base" latinLnBrk="0" hangingPunct="0">
              <a:lnSpc>
                <a:spcPct val="90000"/>
              </a:lnSpc>
              <a:spcBef>
                <a:spcPct val="0"/>
              </a:spcBef>
              <a:spcAft>
                <a:spcPct val="0"/>
              </a:spcAft>
              <a:buClrTx/>
              <a:buSzTx/>
              <a:buFontTx/>
              <a:buNone/>
              <a:tabLst/>
              <a:defRPr/>
            </a:pPr>
            <a:endParaRPr kumimoji="0" lang="en-US" altLang="en-US" sz="3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algn="ctr" eaLnBrk="0" fontAlgn="base" hangingPunct="0">
              <a:spcBef>
                <a:spcPct val="0"/>
              </a:spcBef>
              <a:spcAft>
                <a:spcPct val="0"/>
              </a:spcAft>
              <a:buNone/>
              <a:defRPr/>
            </a:pPr>
            <a:r>
              <a:rPr lang="en-US" b="1" dirty="0"/>
              <a:t>Beyond the Pipes: How Thermal Networks Advance Equity, Resilience, and Conservation</a:t>
            </a:r>
            <a:endParaRPr lang="en-US" sz="5400" b="1" baseline="60000" dirty="0">
              <a:solidFill>
                <a:prstClr val="black"/>
              </a:solidFill>
            </a:endParaRPr>
          </a:p>
          <a:p>
            <a:pPr algn="ctr" eaLnBrk="0" fontAlgn="base" hangingPunct="0">
              <a:spcBef>
                <a:spcPct val="0"/>
              </a:spcBef>
              <a:spcAft>
                <a:spcPct val="0"/>
              </a:spcAft>
              <a:buNone/>
              <a:defRPr/>
            </a:pPr>
            <a:endParaRPr lang="en-US" sz="5400" b="1" baseline="60000" dirty="0"/>
          </a:p>
          <a:p>
            <a:pPr marL="228600" marR="0" lvl="0" indent="-228600" algn="ctr" defTabSz="914400" rtl="0" eaLnBrk="0" fontAlgn="base" latinLnBrk="0" hangingPunct="0">
              <a:lnSpc>
                <a:spcPct val="90000"/>
              </a:lnSpc>
              <a:spcBef>
                <a:spcPct val="0"/>
              </a:spcBef>
              <a:spcAft>
                <a:spcPct val="0"/>
              </a:spcAft>
              <a:buClrTx/>
              <a:buSzTx/>
              <a:buFontTx/>
              <a:buNone/>
              <a:tabLst/>
              <a:defRPr/>
            </a:pPr>
            <a:r>
              <a:rPr kumimoji="0" lang="en-US" altLang="en-US" sz="3400" b="1"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Energy</a:t>
            </a:r>
            <a:r>
              <a:rPr kumimoji="0" lang="en-US" altLang="en-US" sz="3400" b="0"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 </a:t>
            </a:r>
            <a:r>
              <a:rPr kumimoji="0" lang="en-US" altLang="en-US" sz="3400" b="1" i="1"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harvested</a:t>
            </a:r>
            <a:r>
              <a:rPr kumimoji="0" lang="en-US" altLang="en-US" sz="3400" b="0"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 </a:t>
            </a:r>
            <a:r>
              <a:rPr kumimoji="0" lang="en-US" altLang="en-US" sz="3400" b="1" i="1"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moved</a:t>
            </a:r>
            <a:r>
              <a:rPr kumimoji="0" lang="en-US" altLang="en-US" sz="3400" b="0"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 and </a:t>
            </a:r>
            <a:r>
              <a:rPr kumimoji="0" lang="en-US" altLang="en-US" sz="3400" b="1" i="1"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reused.</a:t>
            </a:r>
          </a:p>
          <a:p>
            <a:pPr marL="228600" marR="0" lvl="0" indent="-228600" algn="ctr" defTabSz="914400" rtl="0" eaLnBrk="0" fontAlgn="base" latinLnBrk="0" hangingPunct="0">
              <a:lnSpc>
                <a:spcPct val="90000"/>
              </a:lnSpc>
              <a:spcBef>
                <a:spcPct val="0"/>
              </a:spcBef>
              <a:spcAft>
                <a:spcPct val="0"/>
              </a:spcAft>
              <a:buClrTx/>
              <a:buSzTx/>
              <a:buFontTx/>
              <a:buNone/>
              <a:tabLst/>
              <a:defRPr/>
            </a:pPr>
            <a:endParaRPr kumimoji="0" lang="en-US" altLang="en-US" sz="3800" b="1" i="1"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endParaRPr>
          </a:p>
          <a:p>
            <a:pPr marL="228600" marR="0" lvl="0" indent="-228600" algn="ctr" defTabSz="914400" rtl="0" eaLnBrk="0" fontAlgn="base" latinLnBrk="0" hangingPunct="0">
              <a:lnSpc>
                <a:spcPct val="90000"/>
              </a:lnSpc>
              <a:spcBef>
                <a:spcPct val="0"/>
              </a:spcBef>
              <a:spcAft>
                <a:spcPct val="0"/>
              </a:spcAft>
              <a:buClrTx/>
              <a:buSzTx/>
              <a:buFont typeface="Arial" panose="020B0604020202020204" pitchFamily="34" charset="0"/>
              <a:buNone/>
              <a:tabLst/>
              <a:defRPr/>
            </a:pPr>
            <a:endParaRPr kumimoji="0" lang="en-US" altLang="en-US" sz="2500" b="1"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endParaRPr>
          </a:p>
          <a:p>
            <a:pPr marL="228600" marR="0" lvl="0" indent="-228600" algn="ctr" defTabSz="914400" rtl="0" eaLnBrk="0" fontAlgn="base" latinLnBrk="0" hangingPunct="0">
              <a:lnSpc>
                <a:spcPct val="90000"/>
              </a:lnSpc>
              <a:spcBef>
                <a:spcPct val="0"/>
              </a:spcBef>
              <a:spcAft>
                <a:spcPct val="0"/>
              </a:spcAft>
              <a:buClrTx/>
              <a:buSzTx/>
              <a:buFont typeface="Arial" panose="020B0604020202020204" pitchFamily="34" charset="0"/>
              <a:buNone/>
              <a:tabLst/>
              <a:defRPr/>
            </a:pPr>
            <a:endParaRPr kumimoji="0" lang="en-US" altLang="en-US" sz="4900" b="1"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srgbClr val="003399"/>
              </a:solidFill>
              <a:effectLst/>
              <a:uLnTx/>
              <a:uFillTx/>
              <a:latin typeface="Arial" panose="020B0604020202020204" pitchFamily="34" charset="0"/>
              <a:ea typeface="+mn-ea"/>
              <a:cs typeface="Arial" panose="020B0604020202020204" pitchFamily="34" charset="0"/>
            </a:endParaRPr>
          </a:p>
        </p:txBody>
      </p:sp>
      <p:pic>
        <p:nvPicPr>
          <p:cNvPr id="2050" name="Picture 2">
            <a:extLst>
              <a:ext uri="{FF2B5EF4-FFF2-40B4-BE49-F238E27FC236}">
                <a16:creationId xmlns:a16="http://schemas.microsoft.com/office/drawing/2014/main" id="{F4576362-0525-47C1-A913-9F2E82175F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143" y="1855600"/>
            <a:ext cx="5392266" cy="363122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D5E3FD3-0DAB-4F0E-A5DA-A4396FD3AD55}"/>
              </a:ext>
            </a:extLst>
          </p:cNvPr>
          <p:cNvSpPr txBox="1"/>
          <p:nvPr/>
        </p:nvSpPr>
        <p:spPr>
          <a:xfrm>
            <a:off x="5379387" y="2409328"/>
            <a:ext cx="6329834" cy="276998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 Grey Edge Group</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solidFill>
                  <a:prstClr val="black"/>
                </a:solidFill>
                <a:latin typeface="Arial" panose="020B0604020202020204" pitchFamily="34" charset="0"/>
                <a:cs typeface="Arial" panose="020B0604020202020204" pitchFamily="34" charset="0"/>
              </a:rPr>
              <a:t>and</a:t>
            </a:r>
            <a:endPar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Sound Geothermal Corporation</a:t>
            </a:r>
            <a:endParaRPr lang="en-US" sz="2400" b="1" dirty="0">
              <a:solidFill>
                <a:prstClr val="black"/>
              </a:solidFill>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Cary Smith</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002060"/>
                </a:solidFill>
                <a:latin typeface="Arial" panose="020B0604020202020204" pitchFamily="34" charset="0"/>
                <a:cs typeface="Arial" panose="020B0604020202020204" pitchFamily="34" charset="0"/>
                <a:hlinkClick r:id="rId3"/>
              </a:rPr>
              <a:t>dcsmith@soundgt.com</a:t>
            </a:r>
            <a:endParaRPr lang="en-US" sz="1600" b="1" dirty="0">
              <a:solidFill>
                <a:srgbClr val="002060"/>
              </a:solidFill>
              <a:latin typeface="Arial" panose="020B0604020202020204" pitchFamily="34" charset="0"/>
              <a:cs typeface="Arial" panose="020B0604020202020204" pitchFamily="34" charset="0"/>
            </a:endParaRPr>
          </a:p>
          <a:p>
            <a:pPr algn="ctr"/>
            <a:r>
              <a:rPr lang="en-US" sz="1600" b="1" dirty="0">
                <a:solidFill>
                  <a:srgbClr val="002060"/>
                </a:solidFill>
                <a:latin typeface="Arial" panose="020B0604020202020204" pitchFamily="34" charset="0"/>
                <a:cs typeface="Arial" panose="020B0604020202020204" pitchFamily="34" charset="0"/>
                <a:hlinkClick r:id="rId4"/>
              </a:rPr>
              <a:t>csmith@greyedgegroup.com</a:t>
            </a:r>
            <a:endParaRPr lang="en-US" sz="1600" b="1" dirty="0">
              <a:solidFill>
                <a:srgbClr val="002060"/>
              </a:solidFill>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2" descr="SGT Logo Inside Green SGT">
            <a:extLst>
              <a:ext uri="{FF2B5EF4-FFF2-40B4-BE49-F238E27FC236}">
                <a16:creationId xmlns:a16="http://schemas.microsoft.com/office/drawing/2014/main" id="{13333681-9DFC-4F70-BB63-22C671789A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81158" y="5154804"/>
            <a:ext cx="1323946" cy="910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FD875662-4968-E1EB-41C7-8A1BC8B785DB}"/>
              </a:ext>
            </a:extLst>
          </p:cNvPr>
          <p:cNvPicPr>
            <a:picLocks noChangeAspect="1"/>
          </p:cNvPicPr>
          <p:nvPr/>
        </p:nvPicPr>
        <p:blipFill>
          <a:blip r:embed="rId6"/>
          <a:stretch>
            <a:fillRect/>
          </a:stretch>
        </p:blipFill>
        <p:spPr>
          <a:xfrm>
            <a:off x="8760889" y="5337664"/>
            <a:ext cx="1877061" cy="606134"/>
          </a:xfrm>
          <a:prstGeom prst="rect">
            <a:avLst/>
          </a:prstGeom>
        </p:spPr>
      </p:pic>
    </p:spTree>
    <p:extLst>
      <p:ext uri="{BB962C8B-B14F-4D97-AF65-F5344CB8AC3E}">
        <p14:creationId xmlns:p14="http://schemas.microsoft.com/office/powerpoint/2010/main" val="823823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4A8D9-168C-2D75-B916-8FCFDCF234AD}"/>
              </a:ext>
            </a:extLst>
          </p:cNvPr>
          <p:cNvSpPr>
            <a:spLocks noGrp="1"/>
          </p:cNvSpPr>
          <p:nvPr>
            <p:ph type="title"/>
          </p:nvPr>
        </p:nvSpPr>
        <p:spPr>
          <a:xfrm>
            <a:off x="838200" y="365125"/>
            <a:ext cx="10515600" cy="717717"/>
          </a:xfrm>
        </p:spPr>
        <p:txBody>
          <a:bodyPr>
            <a:normAutofit/>
          </a:bodyPr>
          <a:lstStyle/>
          <a:p>
            <a:pPr algn="ctr"/>
            <a:r>
              <a:rPr lang="en-US" sz="3600" dirty="0"/>
              <a:t>Ambient Temperature Loop (ATL)</a:t>
            </a:r>
          </a:p>
        </p:txBody>
      </p:sp>
      <p:sp>
        <p:nvSpPr>
          <p:cNvPr id="3" name="TextBox 2">
            <a:extLst>
              <a:ext uri="{FF2B5EF4-FFF2-40B4-BE49-F238E27FC236}">
                <a16:creationId xmlns:a16="http://schemas.microsoft.com/office/drawing/2014/main" id="{40B281F1-C18B-670E-90EB-372455448034}"/>
              </a:ext>
            </a:extLst>
          </p:cNvPr>
          <p:cNvSpPr txBox="1"/>
          <p:nvPr/>
        </p:nvSpPr>
        <p:spPr>
          <a:xfrm>
            <a:off x="914400" y="1813426"/>
            <a:ext cx="5287878" cy="4801314"/>
          </a:xfrm>
          <a:prstGeom prst="rect">
            <a:avLst/>
          </a:prstGeom>
          <a:noFill/>
        </p:spPr>
        <p:txBody>
          <a:bodyPr wrap="square" rtlCol="0">
            <a:spAutoFit/>
          </a:bodyPr>
          <a:lstStyle/>
          <a:p>
            <a:r>
              <a:rPr lang="en-US" b="1" u="sng" dirty="0"/>
              <a:t>An ambient temperature loop (ATL):</a:t>
            </a:r>
            <a:r>
              <a:rPr lang="en-US" b="1" dirty="0"/>
              <a:t>  </a:t>
            </a:r>
            <a:r>
              <a:rPr lang="en-US" dirty="0"/>
              <a:t> A single pipe. non-consumptive, closed loop, heating and cooling system that circulates a heat transfer fluid at a temperature, close to the outdoor ambient temperature through a network of pipes to supply heat pump source/sink fluid. </a:t>
            </a:r>
          </a:p>
          <a:p>
            <a:endParaRPr lang="en-US" dirty="0"/>
          </a:p>
          <a:p>
            <a:r>
              <a:rPr lang="en-US" dirty="0"/>
              <a:t>The ATL is independently pumped, and assets (</a:t>
            </a:r>
            <a:r>
              <a:rPr lang="en-US" dirty="0" err="1"/>
              <a:t>borefields</a:t>
            </a:r>
            <a:r>
              <a:rPr lang="en-US" dirty="0"/>
              <a:t>, etc.) are attached in primary-secondary configuration thus hydraulically separating them from the main system.</a:t>
            </a:r>
          </a:p>
          <a:p>
            <a:endParaRPr lang="en-US" dirty="0"/>
          </a:p>
          <a:p>
            <a:r>
              <a:rPr lang="en-US" dirty="0"/>
              <a:t>Typically, the temperatures of the distribution system range between 45° F and 95° F. </a:t>
            </a:r>
          </a:p>
          <a:p>
            <a:endParaRPr lang="en-US" dirty="0"/>
          </a:p>
          <a:p>
            <a:r>
              <a:rPr lang="en-US" dirty="0"/>
              <a:t>Used for multi-building applications of any size.</a:t>
            </a:r>
          </a:p>
          <a:p>
            <a:endParaRPr lang="en-US" dirty="0"/>
          </a:p>
        </p:txBody>
      </p:sp>
      <p:sp>
        <p:nvSpPr>
          <p:cNvPr id="5" name="TextBox 4">
            <a:extLst>
              <a:ext uri="{FF2B5EF4-FFF2-40B4-BE49-F238E27FC236}">
                <a16:creationId xmlns:a16="http://schemas.microsoft.com/office/drawing/2014/main" id="{24CB206E-3B5B-3D64-B9F2-E2B690E04597}"/>
              </a:ext>
            </a:extLst>
          </p:cNvPr>
          <p:cNvSpPr txBox="1"/>
          <p:nvPr/>
        </p:nvSpPr>
        <p:spPr>
          <a:xfrm>
            <a:off x="914400" y="1167095"/>
            <a:ext cx="10515600" cy="646331"/>
          </a:xfrm>
          <a:prstGeom prst="rect">
            <a:avLst/>
          </a:prstGeom>
          <a:noFill/>
        </p:spPr>
        <p:txBody>
          <a:bodyPr wrap="square" rtlCol="0">
            <a:spAutoFit/>
          </a:bodyPr>
          <a:lstStyle/>
          <a:p>
            <a:r>
              <a:rPr lang="en-US" dirty="0"/>
              <a:t>This presentation assumes the audience has a fundamental understanding of one-pipe district systems.</a:t>
            </a:r>
          </a:p>
          <a:p>
            <a:endParaRPr lang="en-US" dirty="0"/>
          </a:p>
        </p:txBody>
      </p:sp>
      <p:pic>
        <p:nvPicPr>
          <p:cNvPr id="6" name="Picture 5" descr="A diagram of a city&#10;&#10;AI-generated content may be incorrect.">
            <a:extLst>
              <a:ext uri="{FF2B5EF4-FFF2-40B4-BE49-F238E27FC236}">
                <a16:creationId xmlns:a16="http://schemas.microsoft.com/office/drawing/2014/main" id="{94B1D4A2-C374-8E36-39C8-4E145B43F2D7}"/>
              </a:ext>
            </a:extLst>
          </p:cNvPr>
          <p:cNvPicPr>
            <a:picLocks noChangeAspect="1"/>
          </p:cNvPicPr>
          <p:nvPr/>
        </p:nvPicPr>
        <p:blipFill>
          <a:blip r:embed="rId2"/>
          <a:stretch>
            <a:fillRect/>
          </a:stretch>
        </p:blipFill>
        <p:spPr>
          <a:xfrm>
            <a:off x="6346658" y="2195763"/>
            <a:ext cx="5071967" cy="3591426"/>
          </a:xfrm>
          <a:prstGeom prst="rect">
            <a:avLst/>
          </a:prstGeom>
        </p:spPr>
      </p:pic>
      <p:pic>
        <p:nvPicPr>
          <p:cNvPr id="7" name="Picture 2" descr="SGT Logo Inside Green SGT">
            <a:extLst>
              <a:ext uri="{FF2B5EF4-FFF2-40B4-BE49-F238E27FC236}">
                <a16:creationId xmlns:a16="http://schemas.microsoft.com/office/drawing/2014/main" id="{79FF3A2A-2B2D-6F82-BE63-E5D9D8FE28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07467" y="6086127"/>
            <a:ext cx="591299" cy="406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17A92EC0-A4D2-128D-E629-079048CA3339}"/>
              </a:ext>
            </a:extLst>
          </p:cNvPr>
          <p:cNvPicPr>
            <a:picLocks noChangeAspect="1"/>
          </p:cNvPicPr>
          <p:nvPr/>
        </p:nvPicPr>
        <p:blipFill>
          <a:blip r:embed="rId4"/>
          <a:stretch>
            <a:fillRect/>
          </a:stretch>
        </p:blipFill>
        <p:spPr>
          <a:xfrm>
            <a:off x="10580294" y="6132949"/>
            <a:ext cx="838331" cy="270711"/>
          </a:xfrm>
          <a:prstGeom prst="rect">
            <a:avLst/>
          </a:prstGeom>
        </p:spPr>
      </p:pic>
    </p:spTree>
    <p:extLst>
      <p:ext uri="{BB962C8B-B14F-4D97-AF65-F5344CB8AC3E}">
        <p14:creationId xmlns:p14="http://schemas.microsoft.com/office/powerpoint/2010/main" val="1634873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7267"/>
            <a:ext cx="10515600" cy="1299753"/>
          </a:xfrm>
        </p:spPr>
        <p:txBody>
          <a:bodyPr>
            <a:normAutofit fontScale="90000"/>
          </a:bodyPr>
          <a:lstStyle/>
          <a:p>
            <a:pPr algn="ctr">
              <a:lnSpc>
                <a:spcPct val="100000"/>
              </a:lnSpc>
            </a:pPr>
            <a:r>
              <a:rPr lang="en-US" sz="4000" dirty="0"/>
              <a:t>What is the difference between a</a:t>
            </a:r>
            <a:br>
              <a:rPr lang="en-US" sz="4000" dirty="0"/>
            </a:br>
            <a:r>
              <a:rPr lang="en-US" sz="4000" dirty="0"/>
              <a:t>Central Loop and an Ambient Temperature Loop(ATL)</a:t>
            </a:r>
            <a:r>
              <a:rPr lang="en-US" dirty="0"/>
              <a:t>?</a:t>
            </a:r>
            <a:br>
              <a:rPr lang="en-US" dirty="0"/>
            </a:br>
            <a:endParaRPr lang="en-US" dirty="0"/>
          </a:p>
        </p:txBody>
      </p:sp>
      <p:sp>
        <p:nvSpPr>
          <p:cNvPr id="3" name="Content Placeholder 2"/>
          <p:cNvSpPr>
            <a:spLocks noGrp="1"/>
          </p:cNvSpPr>
          <p:nvPr>
            <p:ph idx="1"/>
          </p:nvPr>
        </p:nvSpPr>
        <p:spPr>
          <a:xfrm>
            <a:off x="1078605" y="1746666"/>
            <a:ext cx="10515600" cy="4530038"/>
          </a:xfrm>
        </p:spPr>
        <p:txBody>
          <a:bodyPr>
            <a:normAutofit fontScale="85000" lnSpcReduction="20000"/>
          </a:bodyPr>
          <a:lstStyle/>
          <a:p>
            <a:r>
              <a:rPr lang="en-US" dirty="0"/>
              <a:t>Captures Building(s) </a:t>
            </a:r>
            <a:r>
              <a:rPr lang="en-US" dirty="0">
                <a:solidFill>
                  <a:srgbClr val="FF0000"/>
                </a:solidFill>
              </a:rPr>
              <a:t>DIVERSITY</a:t>
            </a:r>
            <a:r>
              <a:rPr lang="en-US" dirty="0"/>
              <a:t>- </a:t>
            </a:r>
            <a:r>
              <a:rPr lang="en-US" sz="1900" dirty="0"/>
              <a:t>The condition where the sum of the different building or system zone/facility loads is less than the sum of the peak operations loads.</a:t>
            </a:r>
          </a:p>
          <a:p>
            <a:r>
              <a:rPr lang="en-US" dirty="0"/>
              <a:t>Net loads are generally less than the sum of the peak facility loads</a:t>
            </a:r>
            <a:r>
              <a:rPr lang="en-US" sz="1900" dirty="0"/>
              <a:t>.  Usually occurring when the conditions require simultaneous heating and cooling or balanced heating and cooling.</a:t>
            </a:r>
          </a:p>
          <a:p>
            <a:r>
              <a:rPr lang="en-US" dirty="0"/>
              <a:t>Plug and play attachments augment the loop ope</a:t>
            </a:r>
            <a:r>
              <a:rPr lang="en-US" sz="2600" dirty="0"/>
              <a:t>ration so that the system is optimal in balanced, part load, or full load.</a:t>
            </a:r>
          </a:p>
          <a:p>
            <a:r>
              <a:rPr lang="en-US" dirty="0"/>
              <a:t>Actively Uses boreholes as thermal storage rather than only sink/source.</a:t>
            </a:r>
          </a:p>
          <a:p>
            <a:pPr marL="0" indent="0">
              <a:buNone/>
            </a:pPr>
            <a:endParaRPr lang="en-US" dirty="0"/>
          </a:p>
          <a:p>
            <a:pPr marL="0" indent="0">
              <a:buNone/>
            </a:pPr>
            <a:r>
              <a:rPr lang="en-US" u="sng" dirty="0"/>
              <a:t>An ATL harvests and stores the energy we normally throw away. </a:t>
            </a:r>
          </a:p>
          <a:p>
            <a:pPr marL="457200" lvl="1" indent="0">
              <a:buNone/>
            </a:pPr>
            <a:r>
              <a:rPr lang="en-US" dirty="0"/>
              <a:t>Manage the system. Driving the system transport fluid to a near-ambient conditions “makes the heat pumps happy”.  </a:t>
            </a:r>
            <a:r>
              <a:rPr lang="en-US" u="sng" dirty="0"/>
              <a:t>Drive the system to balance.</a:t>
            </a:r>
          </a:p>
          <a:p>
            <a:pPr marL="457200" lvl="1" indent="0">
              <a:buNone/>
            </a:pPr>
            <a:endParaRPr lang="en-US" u="sng" dirty="0"/>
          </a:p>
          <a:p>
            <a:pPr marL="0" indent="0">
              <a:buNone/>
            </a:pPr>
            <a:r>
              <a:rPr lang="en-US" sz="1300" b="1" baseline="30000" dirty="0">
                <a:hlinkClick r:id="rId3" action="ppaction://hlinkfile"/>
              </a:rPr>
              <a:t>1</a:t>
            </a:r>
            <a:r>
              <a:rPr lang="en-US" sz="1300" baseline="30000" dirty="0">
                <a:hlinkClick r:id="rId3" action="ppaction://hlinkfile"/>
              </a:rPr>
              <a:t> </a:t>
            </a:r>
            <a:r>
              <a:rPr lang="en-US" sz="1300" dirty="0">
                <a:hlinkClick r:id="rId3" action="ppaction://hlinkfile"/>
              </a:rPr>
              <a:t>“Connected Communities: A Multi Building Energy Management Approach”, RMI, NREL, May 2020 Technical Report, NREL/tp-5500-75528</a:t>
            </a:r>
            <a:endParaRPr lang="en-US" sz="1300" dirty="0"/>
          </a:p>
          <a:p>
            <a:pPr marL="0" indent="0">
              <a:buNone/>
            </a:pPr>
            <a:r>
              <a:rPr lang="en-US" sz="1300" b="1" baseline="30000" dirty="0">
                <a:hlinkClick r:id="rId4" action="ppaction://hlinkfile"/>
              </a:rPr>
              <a:t>2</a:t>
            </a:r>
            <a:r>
              <a:rPr lang="en-US" sz="1300" dirty="0">
                <a:hlinkClick r:id="rId4" action="ppaction://hlinkfile"/>
              </a:rPr>
              <a:t> “A Guide to Energy Master Planning of High-Performance Districts and C</a:t>
            </a:r>
            <a:r>
              <a:rPr lang="en-US" sz="1300" dirty="0"/>
              <a:t>ommunities” A Guide to Energy Master Planning of High-Performance Districts and Communities. Golden, CO: National Renewable Energy Laboratory. NREL/TP-5500-78495. https://www.nrel.gov/docs/fy21osti/78495.pdf. L Presentation</a:t>
            </a:r>
          </a:p>
          <a:p>
            <a:pPr marL="0" indent="0">
              <a:buNone/>
            </a:pPr>
            <a:endParaRPr lang="en-US" sz="1300" dirty="0"/>
          </a:p>
          <a:p>
            <a:pPr marL="0" indent="0">
              <a:buNone/>
            </a:pPr>
            <a:endParaRPr lang="en-US" sz="2100" dirty="0"/>
          </a:p>
          <a:p>
            <a:endParaRPr lang="en-US" sz="2100" dirty="0"/>
          </a:p>
          <a:p>
            <a:endParaRPr lang="en-US" sz="2200" dirty="0"/>
          </a:p>
          <a:p>
            <a:endParaRPr lang="en-US" sz="2200" dirty="0"/>
          </a:p>
          <a:p>
            <a:endParaRPr lang="en-US" sz="2200" dirty="0"/>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042CF76-7DE5-4B12-AF3A-A1E98A37947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4" name="Picture 2" descr="SGT Logo Inside Green SGT">
            <a:extLst>
              <a:ext uri="{FF2B5EF4-FFF2-40B4-BE49-F238E27FC236}">
                <a16:creationId xmlns:a16="http://schemas.microsoft.com/office/drawing/2014/main" id="{1EE4D90A-6DD3-642E-856E-BEBE33541D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06776" y="5934018"/>
            <a:ext cx="613954" cy="422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672A494F-8B33-1B8C-6217-B3BB45F90CB8}"/>
              </a:ext>
            </a:extLst>
          </p:cNvPr>
          <p:cNvPicPr>
            <a:picLocks noChangeAspect="1"/>
          </p:cNvPicPr>
          <p:nvPr/>
        </p:nvPicPr>
        <p:blipFill>
          <a:blip r:embed="rId6"/>
          <a:stretch>
            <a:fillRect/>
          </a:stretch>
        </p:blipFill>
        <p:spPr>
          <a:xfrm>
            <a:off x="10483349" y="6075267"/>
            <a:ext cx="870451" cy="281083"/>
          </a:xfrm>
          <a:prstGeom prst="rect">
            <a:avLst/>
          </a:prstGeom>
        </p:spPr>
      </p:pic>
    </p:spTree>
    <p:extLst>
      <p:ext uri="{BB962C8B-B14F-4D97-AF65-F5344CB8AC3E}">
        <p14:creationId xmlns:p14="http://schemas.microsoft.com/office/powerpoint/2010/main" val="612982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60B2E-96C4-8F1A-BF13-1A1542C0CCF2}"/>
              </a:ext>
            </a:extLst>
          </p:cNvPr>
          <p:cNvSpPr>
            <a:spLocks noGrp="1"/>
          </p:cNvSpPr>
          <p:nvPr>
            <p:ph type="title"/>
          </p:nvPr>
        </p:nvSpPr>
        <p:spPr>
          <a:xfrm>
            <a:off x="838200" y="365125"/>
            <a:ext cx="10515600" cy="940301"/>
          </a:xfrm>
        </p:spPr>
        <p:txBody>
          <a:bodyPr>
            <a:normAutofit/>
          </a:bodyPr>
          <a:lstStyle/>
          <a:p>
            <a:r>
              <a:rPr lang="en-US" sz="3600" b="1" dirty="0"/>
              <a:t>Colorado Mesa University Total Connected Load</a:t>
            </a:r>
            <a:r>
              <a:rPr lang="en-US" sz="3600" dirty="0"/>
              <a:t> </a:t>
            </a:r>
          </a:p>
        </p:txBody>
      </p:sp>
      <p:sp>
        <p:nvSpPr>
          <p:cNvPr id="3" name="Content Placeholder 2">
            <a:extLst>
              <a:ext uri="{FF2B5EF4-FFF2-40B4-BE49-F238E27FC236}">
                <a16:creationId xmlns:a16="http://schemas.microsoft.com/office/drawing/2014/main" id="{2F688533-126A-5EE5-0FC8-F4FA4709423F}"/>
              </a:ext>
            </a:extLst>
          </p:cNvPr>
          <p:cNvSpPr>
            <a:spLocks noGrp="1"/>
          </p:cNvSpPr>
          <p:nvPr>
            <p:ph idx="1"/>
          </p:nvPr>
        </p:nvSpPr>
        <p:spPr>
          <a:xfrm>
            <a:off x="1628274" y="1251284"/>
            <a:ext cx="8454189" cy="5149515"/>
          </a:xfrm>
        </p:spPr>
        <p:txBody>
          <a:bodyPr>
            <a:normAutofit fontScale="77500" lnSpcReduction="20000"/>
          </a:bodyPr>
          <a:lstStyle/>
          <a:p>
            <a:pPr marL="0" indent="0">
              <a:buNone/>
            </a:pPr>
            <a:r>
              <a:rPr lang="en-US" sz="4100" dirty="0">
                <a:solidFill>
                  <a:schemeClr val="tx2">
                    <a:lumMod val="75000"/>
                    <a:lumOff val="25000"/>
                  </a:schemeClr>
                </a:solidFill>
              </a:rPr>
              <a:t>2025 Attached Buildings:  1,669,235 SF</a:t>
            </a:r>
          </a:p>
          <a:p>
            <a:pPr marL="0" indent="0">
              <a:buNone/>
            </a:pPr>
            <a:endParaRPr lang="en-US" sz="4100" dirty="0">
              <a:solidFill>
                <a:schemeClr val="tx2">
                  <a:lumMod val="75000"/>
                  <a:lumOff val="25000"/>
                </a:schemeClr>
              </a:solidFill>
            </a:endParaRPr>
          </a:p>
          <a:p>
            <a:pPr marL="457200" lvl="1" indent="0">
              <a:buNone/>
            </a:pPr>
            <a:r>
              <a:rPr lang="en-US" b="1" dirty="0"/>
              <a:t>Cumulative System Load </a:t>
            </a:r>
          </a:p>
          <a:p>
            <a:pPr lvl="2"/>
            <a:r>
              <a:rPr lang="en-US" sz="2400" dirty="0"/>
              <a:t>4,179 tons of heating (building)</a:t>
            </a:r>
          </a:p>
          <a:p>
            <a:pPr lvl="2"/>
            <a:r>
              <a:rPr lang="en-US" sz="2400" dirty="0"/>
              <a:t>4,502 tons of cooling (building)</a:t>
            </a:r>
          </a:p>
          <a:p>
            <a:pPr marL="914400" lvl="2" indent="0">
              <a:buNone/>
            </a:pPr>
            <a:endParaRPr lang="en-US" sz="2400" dirty="0"/>
          </a:p>
          <a:p>
            <a:pPr marL="457200" lvl="1" indent="0">
              <a:buNone/>
            </a:pPr>
            <a:r>
              <a:rPr lang="en-US" b="1" dirty="0"/>
              <a:t>Field Capacity and Peaking Equipment Capacity</a:t>
            </a:r>
          </a:p>
          <a:p>
            <a:pPr lvl="2"/>
            <a:r>
              <a:rPr lang="en-US" sz="2400" dirty="0"/>
              <a:t>2,231 tons of heating (loop field) + </a:t>
            </a:r>
            <a:r>
              <a:rPr lang="en-US" sz="1500" dirty="0"/>
              <a:t>883 tons boilers (usually not used)</a:t>
            </a:r>
          </a:p>
          <a:p>
            <a:pPr lvl="2"/>
            <a:r>
              <a:rPr lang="en-US" sz="2400" dirty="0"/>
              <a:t>1,878 tons of cooling (loop field) + </a:t>
            </a:r>
            <a:r>
              <a:rPr lang="en-US" sz="1500" dirty="0"/>
              <a:t>2,850 tons towers (peaking only)</a:t>
            </a:r>
          </a:p>
          <a:p>
            <a:pPr lvl="2"/>
            <a:r>
              <a:rPr lang="en-US" sz="2500" dirty="0"/>
              <a:t>696 boreholes or 81.8 feet per ton</a:t>
            </a:r>
          </a:p>
          <a:p>
            <a:pPr lvl="2"/>
            <a:r>
              <a:rPr lang="en-US" sz="2500" dirty="0"/>
              <a:t>Diversity Factors - 48% heating / 52% cooling</a:t>
            </a:r>
          </a:p>
          <a:p>
            <a:pPr lvl="2"/>
            <a:endParaRPr lang="en-US" sz="2400" dirty="0">
              <a:solidFill>
                <a:schemeClr val="tx2">
                  <a:lumMod val="75000"/>
                  <a:lumOff val="25000"/>
                </a:schemeClr>
              </a:solidFill>
            </a:endParaRPr>
          </a:p>
          <a:p>
            <a:pPr marL="457200" lvl="1" indent="0">
              <a:buNone/>
            </a:pPr>
            <a:r>
              <a:rPr lang="en-US" b="1" dirty="0"/>
              <a:t>Flow and Temperature Range</a:t>
            </a:r>
          </a:p>
          <a:p>
            <a:pPr lvl="2"/>
            <a:r>
              <a:rPr lang="en-US" sz="2400" dirty="0"/>
              <a:t>Typical Maximum flow 4,800 GPM</a:t>
            </a:r>
          </a:p>
          <a:p>
            <a:pPr lvl="2"/>
            <a:r>
              <a:rPr lang="en-US" sz="2400" dirty="0"/>
              <a:t>Typical Minimum flow 850 GPM</a:t>
            </a:r>
          </a:p>
          <a:p>
            <a:pPr lvl="2"/>
            <a:r>
              <a:rPr lang="en-US" sz="2400" dirty="0"/>
              <a:t>Average flow 2,200 GPM</a:t>
            </a:r>
          </a:p>
          <a:p>
            <a:pPr lvl="2"/>
            <a:r>
              <a:rPr lang="en-US" sz="2400" dirty="0"/>
              <a:t>Min temp (winter) 45°F; max temp (summer) 95°F</a:t>
            </a:r>
          </a:p>
        </p:txBody>
      </p:sp>
      <p:pic>
        <p:nvPicPr>
          <p:cNvPr id="4" name="Picture 2" descr="SGT Logo Inside Green SGT">
            <a:extLst>
              <a:ext uri="{FF2B5EF4-FFF2-40B4-BE49-F238E27FC236}">
                <a16:creationId xmlns:a16="http://schemas.microsoft.com/office/drawing/2014/main" id="{C50ACB1E-DDEB-112E-3DFB-0315A7CADC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07467" y="6086127"/>
            <a:ext cx="591299" cy="406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A14B5820-B931-89BC-1EA3-67642AD00C32}"/>
              </a:ext>
            </a:extLst>
          </p:cNvPr>
          <p:cNvPicPr>
            <a:picLocks noChangeAspect="1"/>
          </p:cNvPicPr>
          <p:nvPr/>
        </p:nvPicPr>
        <p:blipFill>
          <a:blip r:embed="rId3"/>
          <a:stretch>
            <a:fillRect/>
          </a:stretch>
        </p:blipFill>
        <p:spPr>
          <a:xfrm>
            <a:off x="10580294" y="6132949"/>
            <a:ext cx="838331" cy="270711"/>
          </a:xfrm>
          <a:prstGeom prst="rect">
            <a:avLst/>
          </a:prstGeom>
        </p:spPr>
      </p:pic>
    </p:spTree>
    <p:extLst>
      <p:ext uri="{BB962C8B-B14F-4D97-AF65-F5344CB8AC3E}">
        <p14:creationId xmlns:p14="http://schemas.microsoft.com/office/powerpoint/2010/main" val="252097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D0855-92BC-30A1-BEFF-D51EE618FA84}"/>
              </a:ext>
            </a:extLst>
          </p:cNvPr>
          <p:cNvSpPr>
            <a:spLocks noGrp="1"/>
          </p:cNvSpPr>
          <p:nvPr>
            <p:ph type="title"/>
          </p:nvPr>
        </p:nvSpPr>
        <p:spPr/>
        <p:txBody>
          <a:bodyPr/>
          <a:lstStyle/>
          <a:p>
            <a:r>
              <a:rPr lang="en-US" dirty="0"/>
              <a:t>Part load analysis is your friend </a:t>
            </a:r>
          </a:p>
        </p:txBody>
      </p:sp>
      <p:sp>
        <p:nvSpPr>
          <p:cNvPr id="3" name="Content Placeholder 2">
            <a:extLst>
              <a:ext uri="{FF2B5EF4-FFF2-40B4-BE49-F238E27FC236}">
                <a16:creationId xmlns:a16="http://schemas.microsoft.com/office/drawing/2014/main" id="{620F28C3-11E7-15A5-9BFB-77B32ECE02CD}"/>
              </a:ext>
            </a:extLst>
          </p:cNvPr>
          <p:cNvSpPr>
            <a:spLocks noGrp="1"/>
          </p:cNvSpPr>
          <p:nvPr>
            <p:ph idx="1"/>
          </p:nvPr>
        </p:nvSpPr>
        <p:spPr/>
        <p:txBody>
          <a:bodyPr/>
          <a:lstStyle/>
          <a:p>
            <a:pPr marL="0" indent="0">
              <a:buNone/>
            </a:pPr>
            <a:r>
              <a:rPr lang="en-US" dirty="0"/>
              <a:t>The majority of the energy used in an ATL is pump power,</a:t>
            </a:r>
          </a:p>
          <a:p>
            <a:pPr marL="0" indent="0">
              <a:buNone/>
            </a:pPr>
            <a:r>
              <a:rPr lang="en-US" dirty="0"/>
              <a:t>Use the Pumping affinity laws to optimize pumping.</a:t>
            </a:r>
          </a:p>
          <a:p>
            <a:pPr marL="0" indent="0">
              <a:buNone/>
            </a:pPr>
            <a:r>
              <a:rPr lang="en-US" dirty="0"/>
              <a:t>	</a:t>
            </a:r>
          </a:p>
          <a:p>
            <a:pPr marL="0" indent="0">
              <a:buNone/>
            </a:pPr>
            <a:r>
              <a:rPr lang="en-US" dirty="0"/>
              <a:t>Remember:</a:t>
            </a:r>
          </a:p>
          <a:p>
            <a:pPr marL="457200" lvl="1" indent="0">
              <a:buNone/>
            </a:pPr>
            <a:r>
              <a:rPr lang="en-US" dirty="0"/>
              <a:t>	1/2 reduction in flow (+/- 7,000 hours per year) yields:</a:t>
            </a:r>
          </a:p>
          <a:p>
            <a:pPr marL="457200" lvl="1" indent="0">
              <a:buNone/>
            </a:pPr>
            <a:r>
              <a:rPr lang="en-US" dirty="0"/>
              <a:t>		Reduced fluid friction to 1/4 of full load head loss.</a:t>
            </a:r>
          </a:p>
          <a:p>
            <a:pPr marL="457200" lvl="1" indent="0">
              <a:buNone/>
            </a:pPr>
            <a:r>
              <a:rPr lang="en-US" dirty="0"/>
              <a:t>		Reduced power consumed to 1/8 of full load use.</a:t>
            </a:r>
          </a:p>
        </p:txBody>
      </p:sp>
      <p:pic>
        <p:nvPicPr>
          <p:cNvPr id="4" name="Picture 2" descr="SGT Logo Inside Green SGT">
            <a:extLst>
              <a:ext uri="{FF2B5EF4-FFF2-40B4-BE49-F238E27FC236}">
                <a16:creationId xmlns:a16="http://schemas.microsoft.com/office/drawing/2014/main" id="{26BAF347-78A3-2FE3-CD9D-4F5393DECD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07467" y="6086127"/>
            <a:ext cx="591299" cy="406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DBE8BF49-0E4C-B191-5097-ADA843BC35FC}"/>
              </a:ext>
            </a:extLst>
          </p:cNvPr>
          <p:cNvPicPr>
            <a:picLocks noChangeAspect="1"/>
          </p:cNvPicPr>
          <p:nvPr/>
        </p:nvPicPr>
        <p:blipFill>
          <a:blip r:embed="rId3"/>
          <a:stretch>
            <a:fillRect/>
          </a:stretch>
        </p:blipFill>
        <p:spPr>
          <a:xfrm>
            <a:off x="10580294" y="6132949"/>
            <a:ext cx="838331" cy="270711"/>
          </a:xfrm>
          <a:prstGeom prst="rect">
            <a:avLst/>
          </a:prstGeom>
        </p:spPr>
      </p:pic>
    </p:spTree>
    <p:extLst>
      <p:ext uri="{BB962C8B-B14F-4D97-AF65-F5344CB8AC3E}">
        <p14:creationId xmlns:p14="http://schemas.microsoft.com/office/powerpoint/2010/main" val="466720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60026-ECA8-4578-9A5B-0EEF9D011863}"/>
              </a:ext>
            </a:extLst>
          </p:cNvPr>
          <p:cNvSpPr>
            <a:spLocks noGrp="1"/>
          </p:cNvSpPr>
          <p:nvPr>
            <p:ph type="title"/>
          </p:nvPr>
        </p:nvSpPr>
        <p:spPr>
          <a:xfrm>
            <a:off x="847272" y="55212"/>
            <a:ext cx="10364451" cy="852836"/>
          </a:xfrm>
        </p:spPr>
        <p:txBody>
          <a:bodyPr>
            <a:normAutofit fontScale="90000"/>
          </a:bodyPr>
          <a:lstStyle/>
          <a:p>
            <a:r>
              <a:rPr lang="en-US" dirty="0"/>
              <a:t>Part Load Analysis, The core of DESIGN of an ATL</a:t>
            </a:r>
          </a:p>
        </p:txBody>
      </p:sp>
      <p:pic>
        <p:nvPicPr>
          <p:cNvPr id="6" name="Picture 2">
            <a:extLst>
              <a:ext uri="{FF2B5EF4-FFF2-40B4-BE49-F238E27FC236}">
                <a16:creationId xmlns:a16="http://schemas.microsoft.com/office/drawing/2014/main" id="{10C5B710-5F5A-43AB-8432-D8F4386987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646" y="2086708"/>
            <a:ext cx="4512459" cy="3150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079E7BF8-1DDE-49A1-A1A3-17ADEA9AFE36}"/>
              </a:ext>
            </a:extLst>
          </p:cNvPr>
          <p:cNvSpPr txBox="1"/>
          <p:nvPr/>
        </p:nvSpPr>
        <p:spPr>
          <a:xfrm>
            <a:off x="2845441" y="1126528"/>
            <a:ext cx="636811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mn-ea"/>
                <a:cs typeface="+mn-cs"/>
              </a:rPr>
              <a:t>% of Peak Load vs. % of Annual Hours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lide Number Placeholder 1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042CF76-7DE5-4B12-AF3A-A1E98A37947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C40AE9C7-0403-B9C6-A744-90D72CAF120B}"/>
              </a:ext>
            </a:extLst>
          </p:cNvPr>
          <p:cNvPicPr>
            <a:picLocks noChangeAspect="1"/>
          </p:cNvPicPr>
          <p:nvPr/>
        </p:nvPicPr>
        <p:blipFill>
          <a:blip r:embed="rId3"/>
          <a:stretch>
            <a:fillRect/>
          </a:stretch>
        </p:blipFill>
        <p:spPr>
          <a:xfrm>
            <a:off x="4981413" y="2086708"/>
            <a:ext cx="6729941" cy="3286705"/>
          </a:xfrm>
          <a:prstGeom prst="rect">
            <a:avLst/>
          </a:prstGeom>
        </p:spPr>
      </p:pic>
      <p:sp>
        <p:nvSpPr>
          <p:cNvPr id="8" name="TextBox 7">
            <a:extLst>
              <a:ext uri="{FF2B5EF4-FFF2-40B4-BE49-F238E27FC236}">
                <a16:creationId xmlns:a16="http://schemas.microsoft.com/office/drawing/2014/main" id="{55378E67-0C5E-1BF5-FDE4-5629BFE911C4}"/>
              </a:ext>
            </a:extLst>
          </p:cNvPr>
          <p:cNvSpPr txBox="1"/>
          <p:nvPr/>
        </p:nvSpPr>
        <p:spPr>
          <a:xfrm>
            <a:off x="7471610" y="1786273"/>
            <a:ext cx="2400300" cy="369332"/>
          </a:xfrm>
          <a:prstGeom prst="rect">
            <a:avLst/>
          </a:prstGeom>
          <a:noFill/>
        </p:spPr>
        <p:txBody>
          <a:bodyPr wrap="square" rtlCol="0">
            <a:spAutoFit/>
          </a:bodyPr>
          <a:lstStyle/>
          <a:p>
            <a:pPr algn="ctr"/>
            <a:r>
              <a:rPr lang="en-US" dirty="0"/>
              <a:t>Sample Bin Data</a:t>
            </a:r>
          </a:p>
        </p:txBody>
      </p:sp>
      <p:pic>
        <p:nvPicPr>
          <p:cNvPr id="3" name="Picture 2" descr="SGT Logo Inside Green SGT">
            <a:extLst>
              <a:ext uri="{FF2B5EF4-FFF2-40B4-BE49-F238E27FC236}">
                <a16:creationId xmlns:a16="http://schemas.microsoft.com/office/drawing/2014/main" id="{F4854BB2-5A62-C34F-AD89-F27C2B9739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07467" y="6086127"/>
            <a:ext cx="591299" cy="406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7AEF71AB-F722-DCA9-58FF-F7E47215CEFB}"/>
              </a:ext>
            </a:extLst>
          </p:cNvPr>
          <p:cNvPicPr>
            <a:picLocks noChangeAspect="1"/>
          </p:cNvPicPr>
          <p:nvPr/>
        </p:nvPicPr>
        <p:blipFill>
          <a:blip r:embed="rId5"/>
          <a:stretch>
            <a:fillRect/>
          </a:stretch>
        </p:blipFill>
        <p:spPr>
          <a:xfrm>
            <a:off x="10580294" y="6132949"/>
            <a:ext cx="838331" cy="270711"/>
          </a:xfrm>
          <a:prstGeom prst="rect">
            <a:avLst/>
          </a:prstGeom>
        </p:spPr>
      </p:pic>
    </p:spTree>
    <p:extLst>
      <p:ext uri="{BB962C8B-B14F-4D97-AF65-F5344CB8AC3E}">
        <p14:creationId xmlns:p14="http://schemas.microsoft.com/office/powerpoint/2010/main" val="4232165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CAB4E8-2111-4900-81B6-37BC3F61B86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aphicFrame>
        <p:nvGraphicFramePr>
          <p:cNvPr id="3" name="Chart 2"/>
          <p:cNvGraphicFramePr>
            <a:graphicFrameLocks/>
          </p:cNvGraphicFramePr>
          <p:nvPr/>
        </p:nvGraphicFramePr>
        <p:xfrm>
          <a:off x="1712259" y="931613"/>
          <a:ext cx="8767483" cy="5411096"/>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p:cNvSpPr/>
          <p:nvPr/>
        </p:nvSpPr>
        <p:spPr>
          <a:xfrm>
            <a:off x="2414016" y="2987040"/>
            <a:ext cx="6412992" cy="54864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A2C407E5-4DC3-4E37-B697-13241F1D5CAB}"/>
              </a:ext>
            </a:extLst>
          </p:cNvPr>
          <p:cNvSpPr txBox="1"/>
          <p:nvPr/>
        </p:nvSpPr>
        <p:spPr>
          <a:xfrm>
            <a:off x="1970843" y="2010195"/>
            <a:ext cx="207737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alibri" panose="020F0502020204030204"/>
                <a:ea typeface="+mn-ea"/>
                <a:cs typeface="+mn-cs"/>
              </a:rPr>
              <a:t>800,000 sq. ft.</a:t>
            </a:r>
          </a:p>
        </p:txBody>
      </p:sp>
      <p:sp>
        <p:nvSpPr>
          <p:cNvPr id="6" name="TextBox 5">
            <a:extLst>
              <a:ext uri="{FF2B5EF4-FFF2-40B4-BE49-F238E27FC236}">
                <a16:creationId xmlns:a16="http://schemas.microsoft.com/office/drawing/2014/main" id="{62194214-A47F-491F-B8D5-04F52D31CC68}"/>
              </a:ext>
            </a:extLst>
          </p:cNvPr>
          <p:cNvSpPr txBox="1"/>
          <p:nvPr/>
        </p:nvSpPr>
        <p:spPr>
          <a:xfrm>
            <a:off x="7679065" y="1965475"/>
            <a:ext cx="207737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sng" strike="noStrike" kern="1200" cap="none" spc="0" normalizeH="0" baseline="0" noProof="0" dirty="0">
                <a:ln>
                  <a:noFill/>
                </a:ln>
                <a:solidFill>
                  <a:srgbClr val="FF0000"/>
                </a:solidFill>
                <a:effectLst/>
                <a:uLnTx/>
                <a:uFillTx/>
                <a:latin typeface="Calibri" panose="020F0502020204030204"/>
                <a:ea typeface="+mn-ea"/>
                <a:cs typeface="+mn-cs"/>
              </a:rPr>
              <a:t>1,200,000 sq. ft.</a:t>
            </a:r>
          </a:p>
        </p:txBody>
      </p:sp>
      <p:sp>
        <p:nvSpPr>
          <p:cNvPr id="7" name="TextBox 6">
            <a:extLst>
              <a:ext uri="{FF2B5EF4-FFF2-40B4-BE49-F238E27FC236}">
                <a16:creationId xmlns:a16="http://schemas.microsoft.com/office/drawing/2014/main" id="{5A474014-98A0-4CFE-9DA7-DA3A0B60C328}"/>
              </a:ext>
            </a:extLst>
          </p:cNvPr>
          <p:cNvSpPr txBox="1"/>
          <p:nvPr/>
        </p:nvSpPr>
        <p:spPr>
          <a:xfrm>
            <a:off x="1049046" y="3351014"/>
            <a:ext cx="9217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 Mw</a:t>
            </a:r>
          </a:p>
        </p:txBody>
      </p:sp>
      <p:sp>
        <p:nvSpPr>
          <p:cNvPr id="8" name="TextBox 7">
            <a:extLst>
              <a:ext uri="{FF2B5EF4-FFF2-40B4-BE49-F238E27FC236}">
                <a16:creationId xmlns:a16="http://schemas.microsoft.com/office/drawing/2014/main" id="{D1AD375A-39C5-47B5-A158-7F4CED89A302}"/>
              </a:ext>
            </a:extLst>
          </p:cNvPr>
          <p:cNvSpPr txBox="1"/>
          <p:nvPr/>
        </p:nvSpPr>
        <p:spPr>
          <a:xfrm>
            <a:off x="1049046" y="2802374"/>
            <a:ext cx="9217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 Mw</a:t>
            </a:r>
          </a:p>
        </p:txBody>
      </p:sp>
      <p:sp>
        <p:nvSpPr>
          <p:cNvPr id="9" name="Oval 8">
            <a:extLst>
              <a:ext uri="{FF2B5EF4-FFF2-40B4-BE49-F238E27FC236}">
                <a16:creationId xmlns:a16="http://schemas.microsoft.com/office/drawing/2014/main" id="{60C154A9-C144-47A9-B318-C8A971C36CDC}"/>
              </a:ext>
            </a:extLst>
          </p:cNvPr>
          <p:cNvSpPr/>
          <p:nvPr/>
        </p:nvSpPr>
        <p:spPr>
          <a:xfrm>
            <a:off x="7679065" y="2410332"/>
            <a:ext cx="742141" cy="548640"/>
          </a:xfrm>
          <a:prstGeom prst="ellipse">
            <a:avLst/>
          </a:prstGeom>
          <a:solidFill>
            <a:schemeClr val="bg1">
              <a:alpha val="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F7D23B3F-B9F1-420F-9285-59371BA42D44}"/>
              </a:ext>
            </a:extLst>
          </p:cNvPr>
          <p:cNvCxnSpPr>
            <a:cxnSpLocks/>
          </p:cNvCxnSpPr>
          <p:nvPr/>
        </p:nvCxnSpPr>
        <p:spPr>
          <a:xfrm flipH="1" flipV="1">
            <a:off x="8600863" y="2789178"/>
            <a:ext cx="1612653" cy="652999"/>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87D4F09-3F51-41A1-A3FF-5005E8379290}"/>
              </a:ext>
            </a:extLst>
          </p:cNvPr>
          <p:cNvSpPr txBox="1"/>
          <p:nvPr/>
        </p:nvSpPr>
        <p:spPr>
          <a:xfrm>
            <a:off x="10086391" y="3256267"/>
            <a:ext cx="2077374"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alibri" panose="020F0502020204030204"/>
                <a:ea typeface="+mn-ea"/>
                <a:cs typeface="+mn-cs"/>
              </a:rPr>
              <a:t>New Library coming on-line and students return.</a:t>
            </a:r>
          </a:p>
        </p:txBody>
      </p:sp>
      <p:sp>
        <p:nvSpPr>
          <p:cNvPr id="10" name="TextBox 9">
            <a:extLst>
              <a:ext uri="{FF2B5EF4-FFF2-40B4-BE49-F238E27FC236}">
                <a16:creationId xmlns:a16="http://schemas.microsoft.com/office/drawing/2014/main" id="{2745167B-CE3D-4FC5-AB9D-631890100406}"/>
              </a:ext>
            </a:extLst>
          </p:cNvPr>
          <p:cNvSpPr txBox="1"/>
          <p:nvPr/>
        </p:nvSpPr>
        <p:spPr>
          <a:xfrm>
            <a:off x="643689" y="163319"/>
            <a:ext cx="9986211"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Electric Demand – Power Requirement – Load leveling</a:t>
            </a:r>
          </a:p>
        </p:txBody>
      </p:sp>
      <p:sp>
        <p:nvSpPr>
          <p:cNvPr id="12" name="TextBox 11">
            <a:extLst>
              <a:ext uri="{FF2B5EF4-FFF2-40B4-BE49-F238E27FC236}">
                <a16:creationId xmlns:a16="http://schemas.microsoft.com/office/drawing/2014/main" id="{5BD95659-1ADA-43F6-A96F-46BBC6B1F2C2}"/>
              </a:ext>
            </a:extLst>
          </p:cNvPr>
          <p:cNvSpPr txBox="1"/>
          <p:nvPr/>
        </p:nvSpPr>
        <p:spPr>
          <a:xfrm>
            <a:off x="913266" y="6026364"/>
            <a:ext cx="917312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B050"/>
                </a:solidFill>
                <a:effectLst/>
                <a:uLnTx/>
                <a:uFillTx/>
                <a:latin typeface="Calibri" panose="020F0502020204030204"/>
                <a:ea typeface="+mn-ea"/>
                <a:cs typeface="+mn-cs"/>
              </a:rPr>
              <a:t>1 MW CHP would provide significant demand reduction and help keep the demand window between 3 and 4 MW.</a:t>
            </a:r>
          </a:p>
        </p:txBody>
      </p:sp>
      <p:cxnSp>
        <p:nvCxnSpPr>
          <p:cNvPr id="16" name="Straight Arrow Connector 15">
            <a:extLst>
              <a:ext uri="{FF2B5EF4-FFF2-40B4-BE49-F238E27FC236}">
                <a16:creationId xmlns:a16="http://schemas.microsoft.com/office/drawing/2014/main" id="{2E49BB65-2DE0-4522-B64B-6D47461F98E1}"/>
              </a:ext>
            </a:extLst>
          </p:cNvPr>
          <p:cNvCxnSpPr/>
          <p:nvPr/>
        </p:nvCxnSpPr>
        <p:spPr>
          <a:xfrm>
            <a:off x="3826626" y="2194861"/>
            <a:ext cx="394577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3" name="Picture 2" descr="SGT Logo Inside Green SGT">
            <a:extLst>
              <a:ext uri="{FF2B5EF4-FFF2-40B4-BE49-F238E27FC236}">
                <a16:creationId xmlns:a16="http://schemas.microsoft.com/office/drawing/2014/main" id="{AD121763-F8E9-0E2B-EB0E-E3E54BBA27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07467" y="6086127"/>
            <a:ext cx="591299" cy="406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a:extLst>
              <a:ext uri="{FF2B5EF4-FFF2-40B4-BE49-F238E27FC236}">
                <a16:creationId xmlns:a16="http://schemas.microsoft.com/office/drawing/2014/main" id="{AB7E6BFB-4CD0-43BF-FCE3-F0389A3F00E1}"/>
              </a:ext>
            </a:extLst>
          </p:cNvPr>
          <p:cNvPicPr>
            <a:picLocks noChangeAspect="1"/>
          </p:cNvPicPr>
          <p:nvPr/>
        </p:nvPicPr>
        <p:blipFill>
          <a:blip r:embed="rId4"/>
          <a:stretch>
            <a:fillRect/>
          </a:stretch>
        </p:blipFill>
        <p:spPr>
          <a:xfrm>
            <a:off x="10580294" y="6132949"/>
            <a:ext cx="838331" cy="270711"/>
          </a:xfrm>
          <a:prstGeom prst="rect">
            <a:avLst/>
          </a:prstGeom>
        </p:spPr>
      </p:pic>
    </p:spTree>
    <p:extLst>
      <p:ext uri="{BB962C8B-B14F-4D97-AF65-F5344CB8AC3E}">
        <p14:creationId xmlns:p14="http://schemas.microsoft.com/office/powerpoint/2010/main" val="3069971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CCB4FE-9FA2-462E-8077-A26036B925B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CAB4E8-2111-4900-81B6-37BC3F61B86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BEFF450D-5EAA-4C1D-A1DF-025ECC56FB8D}"/>
              </a:ext>
            </a:extLst>
          </p:cNvPr>
          <p:cNvSpPr txBox="1"/>
          <p:nvPr/>
        </p:nvSpPr>
        <p:spPr>
          <a:xfrm>
            <a:off x="1064795" y="84371"/>
            <a:ext cx="9563840" cy="135421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Leveling Load: WSU Initial Economic Results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~39% of Normal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7B456A32-6D9D-4939-BE21-48FA23745D8E}"/>
              </a:ext>
            </a:extLst>
          </p:cNvPr>
          <p:cNvPicPr/>
          <p:nvPr/>
        </p:nvPicPr>
        <p:blipFill rotWithShape="1">
          <a:blip r:embed="rId2"/>
          <a:srcRect l="20924" t="24994" r="18264" b="20690"/>
          <a:stretch/>
        </p:blipFill>
        <p:spPr bwMode="auto">
          <a:xfrm>
            <a:off x="204557" y="2004061"/>
            <a:ext cx="5841311" cy="3057525"/>
          </a:xfrm>
          <a:prstGeom prst="rect">
            <a:avLst/>
          </a:prstGeom>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7C7EC94C-318D-4D51-A243-56FB01CA8DE5}"/>
              </a:ext>
            </a:extLst>
          </p:cNvPr>
          <p:cNvSpPr txBox="1"/>
          <p:nvPr/>
        </p:nvSpPr>
        <p:spPr>
          <a:xfrm>
            <a:off x="1563365" y="1265184"/>
            <a:ext cx="873476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Energy Intensity for one 400,000 sq. ft. Section – RED Area is mid-day-energy concentration.</a:t>
            </a:r>
          </a:p>
        </p:txBody>
      </p:sp>
      <p:pic>
        <p:nvPicPr>
          <p:cNvPr id="7" name="Picture 6">
            <a:extLst>
              <a:ext uri="{FF2B5EF4-FFF2-40B4-BE49-F238E27FC236}">
                <a16:creationId xmlns:a16="http://schemas.microsoft.com/office/drawing/2014/main" id="{FC2DEB76-B72F-4C5F-9C8F-DAA0614F6BAA}"/>
              </a:ext>
            </a:extLst>
          </p:cNvPr>
          <p:cNvPicPr/>
          <p:nvPr/>
        </p:nvPicPr>
        <p:blipFill rotWithShape="1">
          <a:blip r:embed="rId3"/>
          <a:srcRect l="21169" t="13179" r="17527" b="21142"/>
          <a:stretch/>
        </p:blipFill>
        <p:spPr bwMode="auto">
          <a:xfrm>
            <a:off x="6233833" y="2806451"/>
            <a:ext cx="5693158" cy="3693795"/>
          </a:xfrm>
          <a:prstGeom prst="rect">
            <a:avLst/>
          </a:prstGeom>
          <a:ln>
            <a:noFill/>
          </a:ln>
          <a:extLst>
            <a:ext uri="{53640926-AAD7-44D8-BBD7-CCE9431645EC}">
              <a14:shadowObscured xmlns:a14="http://schemas.microsoft.com/office/drawing/2010/main"/>
            </a:ext>
          </a:extLst>
        </p:spPr>
      </p:pic>
      <p:sp>
        <p:nvSpPr>
          <p:cNvPr id="8" name="TextBox 7">
            <a:extLst>
              <a:ext uri="{FF2B5EF4-FFF2-40B4-BE49-F238E27FC236}">
                <a16:creationId xmlns:a16="http://schemas.microsoft.com/office/drawing/2014/main" id="{317F6FFD-7874-47C4-8FCC-A346F4E38ACB}"/>
              </a:ext>
            </a:extLst>
          </p:cNvPr>
          <p:cNvSpPr txBox="1"/>
          <p:nvPr/>
        </p:nvSpPr>
        <p:spPr>
          <a:xfrm>
            <a:off x="6784042" y="1897318"/>
            <a:ext cx="231289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Before Heat Pumps and Central System</a:t>
            </a:r>
          </a:p>
        </p:txBody>
      </p:sp>
      <p:sp>
        <p:nvSpPr>
          <p:cNvPr id="11" name="TextBox 10">
            <a:extLst>
              <a:ext uri="{FF2B5EF4-FFF2-40B4-BE49-F238E27FC236}">
                <a16:creationId xmlns:a16="http://schemas.microsoft.com/office/drawing/2014/main" id="{85E37E6D-166A-44A6-988B-E70097CEF8EA}"/>
              </a:ext>
            </a:extLst>
          </p:cNvPr>
          <p:cNvSpPr txBox="1"/>
          <p:nvPr/>
        </p:nvSpPr>
        <p:spPr>
          <a:xfrm>
            <a:off x="4630270" y="5316070"/>
            <a:ext cx="15329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After</a:t>
            </a:r>
          </a:p>
        </p:txBody>
      </p:sp>
      <p:sp>
        <p:nvSpPr>
          <p:cNvPr id="12" name="TextBox 11">
            <a:extLst>
              <a:ext uri="{FF2B5EF4-FFF2-40B4-BE49-F238E27FC236}">
                <a16:creationId xmlns:a16="http://schemas.microsoft.com/office/drawing/2014/main" id="{7380145C-4AA2-4F09-8A29-062A6D321059}"/>
              </a:ext>
            </a:extLst>
          </p:cNvPr>
          <p:cNvSpPr txBox="1"/>
          <p:nvPr/>
        </p:nvSpPr>
        <p:spPr>
          <a:xfrm>
            <a:off x="265009" y="5061586"/>
            <a:ext cx="3732129"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Before:  Central Plant fuel costs: $12,800 per month </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(January)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After: Start-up of Central Loop System fuel costs:  $2,700/month </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(January).</a:t>
            </a:r>
          </a:p>
        </p:txBody>
      </p:sp>
      <p:sp>
        <p:nvSpPr>
          <p:cNvPr id="6" name="Date Placeholder 5">
            <a:extLst>
              <a:ext uri="{FF2B5EF4-FFF2-40B4-BE49-F238E27FC236}">
                <a16:creationId xmlns:a16="http://schemas.microsoft.com/office/drawing/2014/main" id="{1ECC982A-30EA-4F7D-909B-0FC497E2C2BC}"/>
              </a:ext>
            </a:extLst>
          </p:cNvPr>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D98B76E-5E0A-40E4-B91C-2EEBC2E6BB28}" type="datetime1">
              <a:rPr kumimoji="0" lang="en-US" sz="1000" b="0" i="0" u="none" strike="noStrike" kern="1200" cap="none" spc="0" normalizeH="0" baseline="0" noProof="0" smtClean="0">
                <a:ln>
                  <a:noFill/>
                </a:ln>
                <a:solidFill>
                  <a:prstClr val="black">
                    <a:tint val="75000"/>
                  </a:prstClr>
                </a:solidFill>
                <a:effectLst/>
                <a:uLnTx/>
                <a:uFillTx/>
                <a:latin typeface="Tw Cen MT" panose="020B06020201040206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1/28/2026</a:t>
            </a:fld>
            <a:endParaRPr kumimoji="0" lang="en-US" sz="1000" b="0" i="0" u="none" strike="noStrike" kern="1200" cap="none" spc="0" normalizeH="0" baseline="0" noProof="0" dirty="0">
              <a:ln>
                <a:noFill/>
              </a:ln>
              <a:solidFill>
                <a:prstClr val="black">
                  <a:tint val="75000"/>
                </a:prstClr>
              </a:solidFill>
              <a:effectLst/>
              <a:uLnTx/>
              <a:uFillTx/>
              <a:latin typeface="Tw Cen MT" panose="020B0602020104020603"/>
              <a:ea typeface="+mn-ea"/>
              <a:cs typeface="+mn-cs"/>
            </a:endParaRPr>
          </a:p>
        </p:txBody>
      </p:sp>
      <p:sp>
        <p:nvSpPr>
          <p:cNvPr id="10" name="TextBox 9">
            <a:extLst>
              <a:ext uri="{FF2B5EF4-FFF2-40B4-BE49-F238E27FC236}">
                <a16:creationId xmlns:a16="http://schemas.microsoft.com/office/drawing/2014/main" id="{F2AAD0F3-890E-4E90-993C-819BEA14C360}"/>
              </a:ext>
            </a:extLst>
          </p:cNvPr>
          <p:cNvSpPr txBox="1"/>
          <p:nvPr/>
        </p:nvSpPr>
        <p:spPr>
          <a:xfrm>
            <a:off x="7834050" y="3849150"/>
            <a:ext cx="94801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rPr>
              <a:t>EUI &lt;35</a:t>
            </a:r>
          </a:p>
        </p:txBody>
      </p:sp>
      <p:sp>
        <p:nvSpPr>
          <p:cNvPr id="13" name="TextBox 12">
            <a:extLst>
              <a:ext uri="{FF2B5EF4-FFF2-40B4-BE49-F238E27FC236}">
                <a16:creationId xmlns:a16="http://schemas.microsoft.com/office/drawing/2014/main" id="{71713041-ADBA-4023-B3D3-65B09B450219}"/>
              </a:ext>
            </a:extLst>
          </p:cNvPr>
          <p:cNvSpPr txBox="1"/>
          <p:nvPr/>
        </p:nvSpPr>
        <p:spPr>
          <a:xfrm>
            <a:off x="2198120" y="2254865"/>
            <a:ext cx="948018"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rPr>
              <a:t>EUI 89</a:t>
            </a:r>
          </a:p>
        </p:txBody>
      </p:sp>
      <p:pic>
        <p:nvPicPr>
          <p:cNvPr id="9" name="Picture 2" descr="SGT Logo Inside Green SGT">
            <a:extLst>
              <a:ext uri="{FF2B5EF4-FFF2-40B4-BE49-F238E27FC236}">
                <a16:creationId xmlns:a16="http://schemas.microsoft.com/office/drawing/2014/main" id="{B9C7F8CF-8B5A-B166-8E06-0F6DCAA2E6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3240" y="6314727"/>
            <a:ext cx="591299" cy="406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a:extLst>
              <a:ext uri="{FF2B5EF4-FFF2-40B4-BE49-F238E27FC236}">
                <a16:creationId xmlns:a16="http://schemas.microsoft.com/office/drawing/2014/main" id="{60C1C433-5DC4-F013-8EC9-B4A88081C09D}"/>
              </a:ext>
            </a:extLst>
          </p:cNvPr>
          <p:cNvPicPr>
            <a:picLocks noChangeAspect="1"/>
          </p:cNvPicPr>
          <p:nvPr/>
        </p:nvPicPr>
        <p:blipFill>
          <a:blip r:embed="rId5"/>
          <a:stretch>
            <a:fillRect/>
          </a:stretch>
        </p:blipFill>
        <p:spPr>
          <a:xfrm>
            <a:off x="10586067" y="6361549"/>
            <a:ext cx="838331" cy="270711"/>
          </a:xfrm>
          <a:prstGeom prst="rect">
            <a:avLst/>
          </a:prstGeom>
        </p:spPr>
      </p:pic>
    </p:spTree>
    <p:extLst>
      <p:ext uri="{BB962C8B-B14F-4D97-AF65-F5344CB8AC3E}">
        <p14:creationId xmlns:p14="http://schemas.microsoft.com/office/powerpoint/2010/main" val="4225220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6489700" y="3403600"/>
            <a:ext cx="381000" cy="127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p:cNvSpPr/>
          <p:nvPr/>
        </p:nvSpPr>
        <p:spPr>
          <a:xfrm rot="5400000">
            <a:off x="6678613" y="3582988"/>
            <a:ext cx="254000" cy="127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p:cNvSpPr/>
          <p:nvPr/>
        </p:nvSpPr>
        <p:spPr>
          <a:xfrm>
            <a:off x="7065963" y="3756025"/>
            <a:ext cx="254000" cy="127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p:cNvSpPr/>
          <p:nvPr/>
        </p:nvSpPr>
        <p:spPr>
          <a:xfrm rot="5400000">
            <a:off x="7154863" y="3692525"/>
            <a:ext cx="254000" cy="127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99338" name="Picture 6" descr="\\SSERV001\Public\Sound Geothermal Documents\Marketing, Advertising &amp; Training\Posters\Mesa State Poster\CMU Materials for Slides\CMU_v_2 Colo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4800" y="133351"/>
            <a:ext cx="2362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9" name="TextBox 7"/>
          <p:cNvSpPr txBox="1">
            <a:spLocks noChangeArrowheads="1"/>
          </p:cNvSpPr>
          <p:nvPr/>
        </p:nvSpPr>
        <p:spPr bwMode="auto">
          <a:xfrm>
            <a:off x="4065813" y="328395"/>
            <a:ext cx="5606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System Water Savings</a:t>
            </a:r>
          </a:p>
        </p:txBody>
      </p:sp>
      <p:sp>
        <p:nvSpPr>
          <p:cNvPr id="99340" name="Line 8"/>
          <p:cNvSpPr>
            <a:spLocks noChangeShapeType="1"/>
          </p:cNvSpPr>
          <p:nvPr/>
        </p:nvSpPr>
        <p:spPr bwMode="auto">
          <a:xfrm>
            <a:off x="1524000" y="1131888"/>
            <a:ext cx="9144000" cy="0"/>
          </a:xfrm>
          <a:prstGeom prst="line">
            <a:avLst/>
          </a:prstGeom>
          <a:noFill/>
          <a:ln w="50800">
            <a:solidFill>
              <a:srgbClr val="00206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Content Placeholder 1"/>
          <p:cNvSpPr>
            <a:spLocks noGrp="1"/>
          </p:cNvSpPr>
          <p:nvPr>
            <p:ph idx="1"/>
          </p:nvPr>
        </p:nvSpPr>
        <p:spPr>
          <a:xfrm>
            <a:off x="1001163" y="2268655"/>
            <a:ext cx="10515600" cy="4231734"/>
          </a:xfrm>
        </p:spPr>
        <p:txBody>
          <a:bodyPr>
            <a:normAutofit lnSpcReduction="10000"/>
          </a:bodyPr>
          <a:lstStyle/>
          <a:p>
            <a:pPr marL="0" indent="0">
              <a:lnSpc>
                <a:spcPct val="100000"/>
              </a:lnSpc>
              <a:spcBef>
                <a:spcPts val="600"/>
              </a:spcBef>
              <a:buNone/>
            </a:pPr>
            <a:r>
              <a:rPr lang="en-US" sz="2800" b="1" u="sng" dirty="0"/>
              <a:t>Without District System:</a:t>
            </a:r>
          </a:p>
          <a:p>
            <a:pPr>
              <a:lnSpc>
                <a:spcPct val="100000"/>
              </a:lnSpc>
              <a:spcBef>
                <a:spcPts val="600"/>
              </a:spcBef>
            </a:pPr>
            <a:r>
              <a:rPr lang="en-US" sz="2400" dirty="0"/>
              <a:t>Towers Required  </a:t>
            </a:r>
            <a:r>
              <a:rPr lang="en-US" sz="2400" dirty="0">
                <a:solidFill>
                  <a:schemeClr val="tx1"/>
                </a:solidFill>
              </a:rPr>
              <a:t>~ 4,400 tons </a:t>
            </a:r>
            <a:r>
              <a:rPr lang="en-US" sz="2400" dirty="0"/>
              <a:t>( Nominal plus CT energy)</a:t>
            </a:r>
          </a:p>
          <a:p>
            <a:pPr>
              <a:lnSpc>
                <a:spcPct val="100000"/>
              </a:lnSpc>
              <a:spcBef>
                <a:spcPts val="600"/>
              </a:spcBef>
            </a:pPr>
            <a:r>
              <a:rPr lang="en-US" sz="2400" dirty="0"/>
              <a:t>Calculated water use: </a:t>
            </a:r>
            <a:r>
              <a:rPr lang="en-US" sz="2400" dirty="0">
                <a:solidFill>
                  <a:schemeClr val="tx1"/>
                </a:solidFill>
              </a:rPr>
              <a:t>29 MM gallons/yr. </a:t>
            </a:r>
            <a:r>
              <a:rPr lang="en-US" sz="1200" dirty="0"/>
              <a:t>(2,400 EFLRH)</a:t>
            </a:r>
          </a:p>
          <a:p>
            <a:pPr>
              <a:lnSpc>
                <a:spcPct val="100000"/>
              </a:lnSpc>
              <a:spcBef>
                <a:spcPts val="600"/>
              </a:spcBef>
            </a:pPr>
            <a:r>
              <a:rPr lang="en-US" sz="2400" u="sng" dirty="0"/>
              <a:t>Load 1,568 kW</a:t>
            </a:r>
          </a:p>
          <a:p>
            <a:pPr marL="0" indent="0">
              <a:lnSpc>
                <a:spcPct val="100000"/>
              </a:lnSpc>
              <a:spcBef>
                <a:spcPts val="0"/>
              </a:spcBef>
              <a:buNone/>
            </a:pPr>
            <a:endParaRPr lang="en-US" sz="1600" b="1" u="sng" dirty="0"/>
          </a:p>
          <a:p>
            <a:pPr marL="0" indent="0">
              <a:lnSpc>
                <a:spcPct val="100000"/>
              </a:lnSpc>
              <a:spcBef>
                <a:spcPts val="600"/>
              </a:spcBef>
              <a:buNone/>
            </a:pPr>
            <a:r>
              <a:rPr lang="en-US" sz="2800" b="1" u="sng" dirty="0"/>
              <a:t>With District System:</a:t>
            </a:r>
            <a:endParaRPr lang="en-US" sz="2400" dirty="0"/>
          </a:p>
          <a:p>
            <a:pPr>
              <a:lnSpc>
                <a:spcPct val="100000"/>
              </a:lnSpc>
              <a:spcBef>
                <a:spcPts val="600"/>
              </a:spcBef>
            </a:pPr>
            <a:r>
              <a:rPr lang="en-US" sz="2400" dirty="0"/>
              <a:t>Existing tower system: </a:t>
            </a:r>
            <a:r>
              <a:rPr lang="en-US" sz="2400" dirty="0">
                <a:solidFill>
                  <a:schemeClr val="tx1"/>
                </a:solidFill>
              </a:rPr>
              <a:t>1,500 tons used</a:t>
            </a:r>
          </a:p>
          <a:p>
            <a:pPr>
              <a:lnSpc>
                <a:spcPct val="100000"/>
              </a:lnSpc>
              <a:spcBef>
                <a:spcPts val="600"/>
              </a:spcBef>
            </a:pPr>
            <a:r>
              <a:rPr lang="en-US" sz="2400" dirty="0"/>
              <a:t>Estimated Water Use: </a:t>
            </a:r>
            <a:r>
              <a:rPr lang="en-US" sz="2400" dirty="0">
                <a:solidFill>
                  <a:schemeClr val="tx1"/>
                </a:solidFill>
              </a:rPr>
              <a:t>9 MM gallons/yr</a:t>
            </a:r>
            <a:r>
              <a:rPr lang="en-US" sz="2400" dirty="0"/>
              <a:t>. </a:t>
            </a:r>
            <a:r>
              <a:rPr lang="en-US" sz="1200" dirty="0"/>
              <a:t>(2,400 EFLRH)</a:t>
            </a:r>
          </a:p>
          <a:p>
            <a:pPr>
              <a:lnSpc>
                <a:spcPct val="100000"/>
              </a:lnSpc>
              <a:spcBef>
                <a:spcPts val="600"/>
              </a:spcBef>
            </a:pPr>
            <a:r>
              <a:rPr lang="en-US" sz="2400" u="sng" dirty="0"/>
              <a:t>Load: 370 kW</a:t>
            </a:r>
          </a:p>
          <a:p>
            <a:pPr>
              <a:lnSpc>
                <a:spcPct val="100000"/>
              </a:lnSpc>
              <a:spcBef>
                <a:spcPts val="600"/>
              </a:spcBef>
            </a:pPr>
            <a:r>
              <a:rPr lang="en-US" sz="2400" dirty="0"/>
              <a:t>Reduce or eliminate combustion for heating and domestic hot water.</a:t>
            </a:r>
          </a:p>
        </p:txBody>
      </p:sp>
      <p:sp>
        <p:nvSpPr>
          <p:cNvPr id="16" name="TextBox 15"/>
          <p:cNvSpPr txBox="1">
            <a:spLocks noChangeArrowheads="1"/>
          </p:cNvSpPr>
          <p:nvPr/>
        </p:nvSpPr>
        <p:spPr bwMode="auto">
          <a:xfrm>
            <a:off x="959667" y="1270551"/>
            <a:ext cx="1049296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800" b="1" i="0" u="none" strike="noStrike" kern="1200" cap="none" spc="0" normalizeH="0" baseline="0" noProof="0" dirty="0">
                <a:ln>
                  <a:noFill/>
                </a:ln>
                <a:solidFill>
                  <a:srgbClr val="17375E"/>
                </a:solidFill>
                <a:effectLst/>
                <a:uLnTx/>
                <a:uFillTx/>
                <a:latin typeface="Calibri" panose="020F0502020204030204" pitchFamily="34" charset="0"/>
                <a:ea typeface="+mn-ea"/>
                <a:cs typeface="+mn-cs"/>
              </a:rPr>
              <a:t>Goal:  Optimize energy savings and minimize water use.</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800" b="1" i="0" u="none" strike="noStrike" kern="1200" cap="none" spc="0" normalizeH="0" baseline="0" noProof="0" dirty="0">
                <a:ln>
                  <a:noFill/>
                </a:ln>
                <a:solidFill>
                  <a:srgbClr val="17375E"/>
                </a:solidFill>
                <a:effectLst/>
                <a:uLnTx/>
                <a:uFillTx/>
                <a:latin typeface="Calibri" panose="020F0502020204030204" pitchFamily="34" charset="0"/>
                <a:ea typeface="+mn-ea"/>
                <a:cs typeface="+mn-cs"/>
              </a:rPr>
              <a:t>Reduce cooling tower water and reduce electric load.</a:t>
            </a:r>
          </a:p>
        </p:txBody>
      </p:sp>
      <p:sp>
        <p:nvSpPr>
          <p:cNvPr id="12" name="TextBox 7">
            <a:extLst>
              <a:ext uri="{FF2B5EF4-FFF2-40B4-BE49-F238E27FC236}">
                <a16:creationId xmlns:a16="http://schemas.microsoft.com/office/drawing/2014/main" id="{F0717F71-3CFD-4A92-9125-FFB494CE3460}"/>
              </a:ext>
            </a:extLst>
          </p:cNvPr>
          <p:cNvSpPr txBox="1">
            <a:spLocks noChangeArrowheads="1"/>
          </p:cNvSpPr>
          <p:nvPr/>
        </p:nvSpPr>
        <p:spPr bwMode="auto">
          <a:xfrm>
            <a:off x="3686400" y="5400557"/>
            <a:ext cx="5606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Tower Energy Savings: ~ $230,000/yr</a:t>
            </a:r>
            <a:endParaRPr kumimoji="0" lang="en-US" sz="36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pic>
        <p:nvPicPr>
          <p:cNvPr id="3" name="Picture 2" descr="SGT Logo Inside Green SGT">
            <a:extLst>
              <a:ext uri="{FF2B5EF4-FFF2-40B4-BE49-F238E27FC236}">
                <a16:creationId xmlns:a16="http://schemas.microsoft.com/office/drawing/2014/main" id="{6DAF5AA7-E5F2-F883-218E-5E025FAF64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5173" y="6182856"/>
            <a:ext cx="591299" cy="406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8FBB705B-FAF2-1ECF-112F-32898CF3A881}"/>
              </a:ext>
            </a:extLst>
          </p:cNvPr>
          <p:cNvPicPr>
            <a:picLocks noChangeAspect="1"/>
          </p:cNvPicPr>
          <p:nvPr/>
        </p:nvPicPr>
        <p:blipFill>
          <a:blip r:embed="rId4"/>
          <a:stretch>
            <a:fillRect/>
          </a:stretch>
        </p:blipFill>
        <p:spPr>
          <a:xfrm>
            <a:off x="10668000" y="6229678"/>
            <a:ext cx="838331" cy="270711"/>
          </a:xfrm>
          <a:prstGeom prst="rect">
            <a:avLst/>
          </a:prstGeom>
        </p:spPr>
      </p:pic>
    </p:spTree>
    <p:extLst>
      <p:ext uri="{BB962C8B-B14F-4D97-AF65-F5344CB8AC3E}">
        <p14:creationId xmlns:p14="http://schemas.microsoft.com/office/powerpoint/2010/main" val="2183289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14FF8-8BB1-4BBB-9E54-B5B0B1645C5F}"/>
              </a:ext>
            </a:extLst>
          </p:cNvPr>
          <p:cNvSpPr>
            <a:spLocks noGrp="1"/>
          </p:cNvSpPr>
          <p:nvPr>
            <p:ph type="title"/>
          </p:nvPr>
        </p:nvSpPr>
        <p:spPr/>
        <p:txBody>
          <a:bodyPr>
            <a:normAutofit/>
          </a:bodyPr>
          <a:lstStyle/>
          <a:p>
            <a:pPr algn="ctr"/>
            <a:r>
              <a:rPr lang="en-US" sz="3200" dirty="0" err="1"/>
              <a:t>Borefield</a:t>
            </a:r>
            <a:r>
              <a:rPr lang="en-US" sz="3200" dirty="0"/>
              <a:t> Use Changes From Sink/Source to Thermal Storage</a:t>
            </a:r>
          </a:p>
        </p:txBody>
      </p:sp>
      <p:pic>
        <p:nvPicPr>
          <p:cNvPr id="4" name="Picture 3">
            <a:extLst>
              <a:ext uri="{FF2B5EF4-FFF2-40B4-BE49-F238E27FC236}">
                <a16:creationId xmlns:a16="http://schemas.microsoft.com/office/drawing/2014/main" id="{745FA981-33FB-48CB-80B6-D43F5C5A2CAF}"/>
              </a:ext>
            </a:extLst>
          </p:cNvPr>
          <p:cNvPicPr>
            <a:picLocks noChangeAspect="1"/>
          </p:cNvPicPr>
          <p:nvPr/>
        </p:nvPicPr>
        <p:blipFill>
          <a:blip r:embed="rId3"/>
          <a:stretch>
            <a:fillRect/>
          </a:stretch>
        </p:blipFill>
        <p:spPr>
          <a:xfrm>
            <a:off x="3823002" y="2286674"/>
            <a:ext cx="3934127" cy="3076515"/>
          </a:xfrm>
          <a:prstGeom prst="rect">
            <a:avLst/>
          </a:prstGeom>
        </p:spPr>
      </p:pic>
      <p:sp>
        <p:nvSpPr>
          <p:cNvPr id="11" name="TextBox 10">
            <a:extLst>
              <a:ext uri="{FF2B5EF4-FFF2-40B4-BE49-F238E27FC236}">
                <a16:creationId xmlns:a16="http://schemas.microsoft.com/office/drawing/2014/main" id="{D015EC68-2EC8-4D61-B226-4DFB30298184}"/>
              </a:ext>
            </a:extLst>
          </p:cNvPr>
          <p:cNvSpPr txBox="1"/>
          <p:nvPr/>
        </p:nvSpPr>
        <p:spPr>
          <a:xfrm>
            <a:off x="3909331" y="1804015"/>
            <a:ext cx="304472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Closed Loop – Primary Battery</a:t>
            </a:r>
          </a:p>
        </p:txBody>
      </p:sp>
      <p:sp>
        <p:nvSpPr>
          <p:cNvPr id="13" name="TextBox 12">
            <a:extLst>
              <a:ext uri="{FF2B5EF4-FFF2-40B4-BE49-F238E27FC236}">
                <a16:creationId xmlns:a16="http://schemas.microsoft.com/office/drawing/2014/main" id="{2B0764AA-E229-428D-8F92-685C9E34E9D8}"/>
              </a:ext>
            </a:extLst>
          </p:cNvPr>
          <p:cNvSpPr txBox="1"/>
          <p:nvPr/>
        </p:nvSpPr>
        <p:spPr>
          <a:xfrm>
            <a:off x="843280" y="3025338"/>
            <a:ext cx="232664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Open Loop</a:t>
            </a:r>
          </a:p>
        </p:txBody>
      </p:sp>
      <p:sp>
        <p:nvSpPr>
          <p:cNvPr id="23" name="TextBox 22">
            <a:extLst>
              <a:ext uri="{FF2B5EF4-FFF2-40B4-BE49-F238E27FC236}">
                <a16:creationId xmlns:a16="http://schemas.microsoft.com/office/drawing/2014/main" id="{ABB06E34-D6DB-49E0-8509-7A64E42E65EE}"/>
              </a:ext>
            </a:extLst>
          </p:cNvPr>
          <p:cNvSpPr txBox="1"/>
          <p:nvPr/>
        </p:nvSpPr>
        <p:spPr>
          <a:xfrm>
            <a:off x="640871" y="5218145"/>
            <a:ext cx="3786462"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Phase Change – additional thermal storage and system stability </a:t>
            </a:r>
          </a:p>
        </p:txBody>
      </p:sp>
      <p:pic>
        <p:nvPicPr>
          <p:cNvPr id="3" name="Picture 2" descr="G:\Photos\MissionCentre\MissionCentreOffExt.jpg">
            <a:extLst>
              <a:ext uri="{FF2B5EF4-FFF2-40B4-BE49-F238E27FC236}">
                <a16:creationId xmlns:a16="http://schemas.microsoft.com/office/drawing/2014/main" id="{7B4417B9-E20C-44C8-9B54-372EE6167CE9}"/>
              </a:ext>
            </a:extLst>
          </p:cNvPr>
          <p:cNvPicPr>
            <a:picLocks noChangeAspect="1" noChangeArrowheads="1"/>
          </p:cNvPicPr>
          <p:nvPr/>
        </p:nvPicPr>
        <p:blipFill rotWithShape="1">
          <a:blip r:embed="rId4">
            <a:clrChange>
              <a:clrFrom>
                <a:srgbClr val="3768B7"/>
              </a:clrFrom>
              <a:clrTo>
                <a:srgbClr val="3768B7">
                  <a:alpha val="0"/>
                </a:srgbClr>
              </a:clrTo>
            </a:clrChange>
            <a:extLst>
              <a:ext uri="{28A0092B-C50C-407E-A947-70E740481C1C}">
                <a14:useLocalDpi xmlns:a14="http://schemas.microsoft.com/office/drawing/2010/main" val="0"/>
              </a:ext>
            </a:extLst>
          </a:blip>
          <a:srcRect t="8447"/>
          <a:stretch/>
        </p:blipFill>
        <p:spPr bwMode="auto">
          <a:xfrm>
            <a:off x="494667" y="2113352"/>
            <a:ext cx="2617511" cy="1451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See the source image">
            <a:extLst>
              <a:ext uri="{FF2B5EF4-FFF2-40B4-BE49-F238E27FC236}">
                <a16:creationId xmlns:a16="http://schemas.microsoft.com/office/drawing/2014/main" id="{933EF383-B78B-48BE-BE06-DD456CDDB3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59659" y="1343993"/>
            <a:ext cx="2473632" cy="215098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7B08E5D-C5A2-4B95-86A3-5BB4A3887501}"/>
              </a:ext>
            </a:extLst>
          </p:cNvPr>
          <p:cNvSpPr txBox="1"/>
          <p:nvPr/>
        </p:nvSpPr>
        <p:spPr>
          <a:xfrm>
            <a:off x="838200" y="3779520"/>
            <a:ext cx="1945640"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Magic of controls:  Floor to floor temporary storage</a:t>
            </a:r>
          </a:p>
        </p:txBody>
      </p:sp>
      <p:pic>
        <p:nvPicPr>
          <p:cNvPr id="6" name="Picture 5">
            <a:extLst>
              <a:ext uri="{FF2B5EF4-FFF2-40B4-BE49-F238E27FC236}">
                <a16:creationId xmlns:a16="http://schemas.microsoft.com/office/drawing/2014/main" id="{583304B6-08B3-41E0-B959-58396C3ABF98}"/>
              </a:ext>
            </a:extLst>
          </p:cNvPr>
          <p:cNvPicPr>
            <a:picLocks noChangeAspect="1"/>
          </p:cNvPicPr>
          <p:nvPr/>
        </p:nvPicPr>
        <p:blipFill>
          <a:blip r:embed="rId6"/>
          <a:stretch>
            <a:fillRect/>
          </a:stretch>
        </p:blipFill>
        <p:spPr>
          <a:xfrm>
            <a:off x="7757129" y="3802065"/>
            <a:ext cx="3876162" cy="2616409"/>
          </a:xfrm>
          <a:prstGeom prst="rect">
            <a:avLst/>
          </a:prstGeom>
        </p:spPr>
      </p:pic>
      <p:pic>
        <p:nvPicPr>
          <p:cNvPr id="8" name="Picture 7">
            <a:extLst>
              <a:ext uri="{FF2B5EF4-FFF2-40B4-BE49-F238E27FC236}">
                <a16:creationId xmlns:a16="http://schemas.microsoft.com/office/drawing/2014/main" id="{F2731630-73D8-4830-A99B-4EEB0E7C34A8}"/>
              </a:ext>
            </a:extLst>
          </p:cNvPr>
          <p:cNvPicPr>
            <a:picLocks noChangeAspect="1"/>
          </p:cNvPicPr>
          <p:nvPr/>
        </p:nvPicPr>
        <p:blipFill>
          <a:blip r:embed="rId7"/>
          <a:stretch>
            <a:fillRect/>
          </a:stretch>
        </p:blipFill>
        <p:spPr>
          <a:xfrm>
            <a:off x="2803499" y="1499385"/>
            <a:ext cx="6664839" cy="4651091"/>
          </a:xfrm>
          <a:prstGeom prst="rect">
            <a:avLst/>
          </a:prstGeom>
        </p:spPr>
      </p:pic>
      <p:sp>
        <p:nvSpPr>
          <p:cNvPr id="14" name="Slide Number Placeholder 13"/>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042CF76-7DE5-4B12-AF3A-A1E98A37947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7" name="Picture 2" descr="SGT Logo Inside Green SGT">
            <a:extLst>
              <a:ext uri="{FF2B5EF4-FFF2-40B4-BE49-F238E27FC236}">
                <a16:creationId xmlns:a16="http://schemas.microsoft.com/office/drawing/2014/main" id="{8080C8A6-E876-2241-5EC9-86EC7377472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6788" y="6371652"/>
            <a:ext cx="591299" cy="406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a:extLst>
              <a:ext uri="{FF2B5EF4-FFF2-40B4-BE49-F238E27FC236}">
                <a16:creationId xmlns:a16="http://schemas.microsoft.com/office/drawing/2014/main" id="{EF017294-B657-262B-CEB7-FB6FD781001D}"/>
              </a:ext>
            </a:extLst>
          </p:cNvPr>
          <p:cNvPicPr>
            <a:picLocks noChangeAspect="1"/>
          </p:cNvPicPr>
          <p:nvPr/>
        </p:nvPicPr>
        <p:blipFill>
          <a:blip r:embed="rId9"/>
          <a:stretch>
            <a:fillRect/>
          </a:stretch>
        </p:blipFill>
        <p:spPr>
          <a:xfrm>
            <a:off x="5749615" y="6418474"/>
            <a:ext cx="838331" cy="270711"/>
          </a:xfrm>
          <a:prstGeom prst="rect">
            <a:avLst/>
          </a:prstGeom>
        </p:spPr>
      </p:pic>
    </p:spTree>
    <p:extLst>
      <p:ext uri="{BB962C8B-B14F-4D97-AF65-F5344CB8AC3E}">
        <p14:creationId xmlns:p14="http://schemas.microsoft.com/office/powerpoint/2010/main" val="3560384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CE0F9-FA32-1E6A-8AEF-7813F22DA33E}"/>
              </a:ext>
            </a:extLst>
          </p:cNvPr>
          <p:cNvSpPr>
            <a:spLocks noGrp="1"/>
          </p:cNvSpPr>
          <p:nvPr>
            <p:ph type="title"/>
          </p:nvPr>
        </p:nvSpPr>
        <p:spPr>
          <a:xfrm>
            <a:off x="838200" y="365125"/>
            <a:ext cx="10515600" cy="844049"/>
          </a:xfrm>
        </p:spPr>
        <p:txBody>
          <a:bodyPr>
            <a:normAutofit/>
          </a:bodyPr>
          <a:lstStyle/>
          <a:p>
            <a:pPr algn="ctr"/>
            <a:r>
              <a:rPr lang="en-US" sz="3600" dirty="0"/>
              <a:t>Thermal Storage Test – Volumetric Heat Capacity</a:t>
            </a:r>
          </a:p>
        </p:txBody>
      </p:sp>
      <p:sp>
        <p:nvSpPr>
          <p:cNvPr id="3" name="Content Placeholder 2">
            <a:extLst>
              <a:ext uri="{FF2B5EF4-FFF2-40B4-BE49-F238E27FC236}">
                <a16:creationId xmlns:a16="http://schemas.microsoft.com/office/drawing/2014/main" id="{78056F85-F7AB-CF50-09E8-B63DDD261C50}"/>
              </a:ext>
            </a:extLst>
          </p:cNvPr>
          <p:cNvSpPr>
            <a:spLocks noGrp="1"/>
          </p:cNvSpPr>
          <p:nvPr>
            <p:ph idx="1"/>
          </p:nvPr>
        </p:nvSpPr>
        <p:spPr>
          <a:xfrm>
            <a:off x="838200" y="1136984"/>
            <a:ext cx="10515600" cy="5039979"/>
          </a:xfrm>
        </p:spPr>
        <p:txBody>
          <a:bodyPr>
            <a:normAutofit fontScale="85000" lnSpcReduction="10000"/>
          </a:bodyPr>
          <a:lstStyle/>
          <a:p>
            <a:pPr marL="0" indent="0">
              <a:buNone/>
            </a:pPr>
            <a:r>
              <a:rPr lang="en-US" dirty="0"/>
              <a:t>Borehole Loading response – Deep earth temp from TC test is ~ 60°F.</a:t>
            </a:r>
          </a:p>
          <a:p>
            <a:pPr marL="0" indent="0" algn="ctr">
              <a:buNone/>
            </a:pPr>
            <a:r>
              <a:rPr lang="en-US" dirty="0"/>
              <a:t> </a:t>
            </a:r>
            <a:r>
              <a:rPr lang="en-US" b="1" dirty="0"/>
              <a:t>Putting diffusivity to work in your favor:</a:t>
            </a:r>
          </a:p>
          <a:p>
            <a:pPr marL="0" indent="0">
              <a:buNone/>
            </a:pPr>
            <a:r>
              <a:rPr lang="en-US" u="sng" dirty="0"/>
              <a:t>Test One</a:t>
            </a:r>
          </a:p>
          <a:p>
            <a:pPr marL="0" indent="0">
              <a:buNone/>
            </a:pPr>
            <a:r>
              <a:rPr lang="en-US" dirty="0"/>
              <a:t>1.  At peak cooling, we loaded a field with 95°F ATL fluid and stabilized the field 91°F to return temperature (~8 hours).</a:t>
            </a:r>
          </a:p>
          <a:p>
            <a:pPr marL="0" indent="0">
              <a:buNone/>
            </a:pPr>
            <a:r>
              <a:rPr lang="en-US" dirty="0"/>
              <a:t>Shut-in field for 24 hours. After 24 hours we checked the return temperature, the field fluid return temperature was reduced to 84°F.</a:t>
            </a:r>
          </a:p>
          <a:p>
            <a:pPr marL="0" indent="0">
              <a:buNone/>
            </a:pPr>
            <a:endParaRPr lang="en-US" dirty="0"/>
          </a:p>
          <a:p>
            <a:pPr marL="0" indent="0">
              <a:buNone/>
            </a:pPr>
            <a:r>
              <a:rPr lang="en-US" u="sng" dirty="0"/>
              <a:t>Test Two</a:t>
            </a:r>
          </a:p>
          <a:p>
            <a:pPr marL="0" indent="0">
              <a:buNone/>
            </a:pPr>
            <a:r>
              <a:rPr lang="en-US" dirty="0"/>
              <a:t>2.  At peak cooling, we loaded a field with 95°F ATL fluid and stabilized the field 91°F return temperature (~8 hours).</a:t>
            </a:r>
          </a:p>
          <a:p>
            <a:pPr marL="0" indent="0">
              <a:buNone/>
            </a:pPr>
            <a:r>
              <a:rPr lang="en-US" dirty="0"/>
              <a:t>Shut-in field for two weeks. Field fluid return temperature was reduced to 64°F.</a:t>
            </a:r>
          </a:p>
          <a:p>
            <a:pPr marL="0" indent="0">
              <a:buNone/>
            </a:pPr>
            <a:r>
              <a:rPr lang="en-US" dirty="0"/>
              <a:t>.</a:t>
            </a:r>
          </a:p>
          <a:p>
            <a:endParaRPr lang="en-US" dirty="0"/>
          </a:p>
        </p:txBody>
      </p:sp>
      <p:pic>
        <p:nvPicPr>
          <p:cNvPr id="4" name="Picture 2" descr="SGT Logo Inside Green SGT">
            <a:extLst>
              <a:ext uri="{FF2B5EF4-FFF2-40B4-BE49-F238E27FC236}">
                <a16:creationId xmlns:a16="http://schemas.microsoft.com/office/drawing/2014/main" id="{72068953-A402-D9E3-FB6C-076E45A526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07467" y="6086127"/>
            <a:ext cx="591299" cy="406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4AD04FF4-E5D2-12D2-3EC2-5706743AA0FB}"/>
              </a:ext>
            </a:extLst>
          </p:cNvPr>
          <p:cNvPicPr>
            <a:picLocks noChangeAspect="1"/>
          </p:cNvPicPr>
          <p:nvPr/>
        </p:nvPicPr>
        <p:blipFill>
          <a:blip r:embed="rId3"/>
          <a:stretch>
            <a:fillRect/>
          </a:stretch>
        </p:blipFill>
        <p:spPr>
          <a:xfrm>
            <a:off x="10580294" y="6132949"/>
            <a:ext cx="838331" cy="270711"/>
          </a:xfrm>
          <a:prstGeom prst="rect">
            <a:avLst/>
          </a:prstGeom>
        </p:spPr>
      </p:pic>
    </p:spTree>
    <p:extLst>
      <p:ext uri="{BB962C8B-B14F-4D97-AF65-F5344CB8AC3E}">
        <p14:creationId xmlns:p14="http://schemas.microsoft.com/office/powerpoint/2010/main" val="3855613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782512"/>
          </a:xfrm>
        </p:spPr>
        <p:txBody>
          <a:bodyPr>
            <a:normAutofit fontScale="90000"/>
          </a:bodyPr>
          <a:lstStyle/>
          <a:p>
            <a:r>
              <a:rPr lang="en-US" dirty="0"/>
              <a:t>Reduce Carbon Footprint </a:t>
            </a:r>
            <a:br>
              <a:rPr lang="en-US" dirty="0"/>
            </a:br>
            <a:br>
              <a:rPr lang="en-US" dirty="0"/>
            </a:br>
            <a:endParaRPr lang="en-US" dirty="0"/>
          </a:p>
        </p:txBody>
      </p:sp>
      <p:sp>
        <p:nvSpPr>
          <p:cNvPr id="7" name="Rectangle 6"/>
          <p:cNvSpPr/>
          <p:nvPr/>
        </p:nvSpPr>
        <p:spPr>
          <a:xfrm>
            <a:off x="2133600" y="1066801"/>
            <a:ext cx="8077200" cy="1384995"/>
          </a:xfrm>
          <a:prstGeom prst="rect">
            <a:avLst/>
          </a:prstGeom>
        </p:spPr>
        <p:txBody>
          <a:bodyPr wrap="square">
            <a:spAutoFit/>
          </a:bodyPr>
          <a:lstStyle/>
          <a:p>
            <a:r>
              <a:rPr lang="en-US" sz="2800" dirty="0">
                <a:solidFill>
                  <a:schemeClr val="tx2"/>
                </a:solidFill>
              </a:rPr>
              <a:t>Reduction in boiler use: Carbon footprint has been reduced by 10,114 metric tons/yr.  </a:t>
            </a:r>
            <a:r>
              <a:rPr lang="en-US" sz="2800" u="sng" dirty="0">
                <a:solidFill>
                  <a:schemeClr val="tx2"/>
                </a:solidFill>
              </a:rPr>
              <a:t>Boiler use is less than 6%/yr.</a:t>
            </a:r>
          </a:p>
        </p:txBody>
      </p:sp>
      <p:pic>
        <p:nvPicPr>
          <p:cNvPr id="10" name="Picture 9" descr="A screenshot of a computer&#10;&#10;Description automatically generated with low confidence">
            <a:extLst>
              <a:ext uri="{FF2B5EF4-FFF2-40B4-BE49-F238E27FC236}">
                <a16:creationId xmlns:a16="http://schemas.microsoft.com/office/drawing/2014/main" id="{FE2EAAE7-6451-19FD-B7E2-32BF792F88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9227" y="2731168"/>
            <a:ext cx="10233554" cy="3761707"/>
          </a:xfrm>
          <a:prstGeom prst="rect">
            <a:avLst/>
          </a:prstGeom>
        </p:spPr>
      </p:pic>
      <p:pic>
        <p:nvPicPr>
          <p:cNvPr id="3" name="Picture 2" descr="SGT Logo Inside Green SGT">
            <a:extLst>
              <a:ext uri="{FF2B5EF4-FFF2-40B4-BE49-F238E27FC236}">
                <a16:creationId xmlns:a16="http://schemas.microsoft.com/office/drawing/2014/main" id="{1368E592-6E61-A4AA-9B29-E4646F398B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07467" y="6086127"/>
            <a:ext cx="591299" cy="406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E93E8DA4-8BC1-14BB-A3B6-9362ACEDCB4A}"/>
              </a:ext>
            </a:extLst>
          </p:cNvPr>
          <p:cNvPicPr>
            <a:picLocks noChangeAspect="1"/>
          </p:cNvPicPr>
          <p:nvPr/>
        </p:nvPicPr>
        <p:blipFill>
          <a:blip r:embed="rId4"/>
          <a:stretch>
            <a:fillRect/>
          </a:stretch>
        </p:blipFill>
        <p:spPr>
          <a:xfrm>
            <a:off x="10580294" y="6132949"/>
            <a:ext cx="838331" cy="270711"/>
          </a:xfrm>
          <a:prstGeom prst="rect">
            <a:avLst/>
          </a:prstGeom>
        </p:spPr>
      </p:pic>
    </p:spTree>
    <p:extLst>
      <p:ext uri="{BB962C8B-B14F-4D97-AF65-F5344CB8AC3E}">
        <p14:creationId xmlns:p14="http://schemas.microsoft.com/office/powerpoint/2010/main" val="38429720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Reduce Annual Utility Spend </a:t>
            </a:r>
          </a:p>
        </p:txBody>
      </p:sp>
      <p:pic>
        <p:nvPicPr>
          <p:cNvPr id="4" name="Picture 3">
            <a:extLst>
              <a:ext uri="{FF2B5EF4-FFF2-40B4-BE49-F238E27FC236}">
                <a16:creationId xmlns:a16="http://schemas.microsoft.com/office/drawing/2014/main" id="{A15BB83A-4896-41B3-9D48-EB70919B9E88}"/>
              </a:ext>
            </a:extLst>
          </p:cNvPr>
          <p:cNvPicPr>
            <a:picLocks noChangeAspect="1"/>
          </p:cNvPicPr>
          <p:nvPr/>
        </p:nvPicPr>
        <p:blipFill>
          <a:blip r:embed="rId3"/>
          <a:stretch>
            <a:fillRect/>
          </a:stretch>
        </p:blipFill>
        <p:spPr>
          <a:xfrm>
            <a:off x="2667000" y="1341072"/>
            <a:ext cx="6398795" cy="4754927"/>
          </a:xfrm>
          <a:prstGeom prst="rect">
            <a:avLst/>
          </a:prstGeom>
        </p:spPr>
      </p:pic>
      <p:pic>
        <p:nvPicPr>
          <p:cNvPr id="3" name="Picture 2" descr="SGT Logo Inside Green SGT">
            <a:extLst>
              <a:ext uri="{FF2B5EF4-FFF2-40B4-BE49-F238E27FC236}">
                <a16:creationId xmlns:a16="http://schemas.microsoft.com/office/drawing/2014/main" id="{623D849C-F2D6-592A-07D0-F449F54B8E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07467" y="6086127"/>
            <a:ext cx="591299" cy="406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7B6BBFD7-018F-2ADC-1C43-DF7FC8524286}"/>
              </a:ext>
            </a:extLst>
          </p:cNvPr>
          <p:cNvPicPr>
            <a:picLocks noChangeAspect="1"/>
          </p:cNvPicPr>
          <p:nvPr/>
        </p:nvPicPr>
        <p:blipFill>
          <a:blip r:embed="rId5"/>
          <a:stretch>
            <a:fillRect/>
          </a:stretch>
        </p:blipFill>
        <p:spPr>
          <a:xfrm>
            <a:off x="10580294" y="6132949"/>
            <a:ext cx="838331" cy="270711"/>
          </a:xfrm>
          <a:prstGeom prst="rect">
            <a:avLst/>
          </a:prstGeom>
        </p:spPr>
      </p:pic>
    </p:spTree>
    <p:extLst>
      <p:ext uri="{BB962C8B-B14F-4D97-AF65-F5344CB8AC3E}">
        <p14:creationId xmlns:p14="http://schemas.microsoft.com/office/powerpoint/2010/main" val="637893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FB083-1D30-C6A6-042C-B2604D38BBB5}"/>
              </a:ext>
            </a:extLst>
          </p:cNvPr>
          <p:cNvSpPr>
            <a:spLocks noGrp="1"/>
          </p:cNvSpPr>
          <p:nvPr>
            <p:ph type="title"/>
          </p:nvPr>
        </p:nvSpPr>
        <p:spPr>
          <a:xfrm>
            <a:off x="858297" y="365126"/>
            <a:ext cx="10515600" cy="810532"/>
          </a:xfrm>
        </p:spPr>
        <p:txBody>
          <a:bodyPr anchor="t">
            <a:normAutofit fontScale="90000"/>
          </a:bodyPr>
          <a:lstStyle/>
          <a:p>
            <a:r>
              <a:rPr lang="en-US" b="1" dirty="0"/>
              <a:t>What we learned -1:</a:t>
            </a:r>
            <a:br>
              <a:rPr lang="en-US" dirty="0"/>
            </a:br>
            <a:endParaRPr lang="en-US" dirty="0"/>
          </a:p>
        </p:txBody>
      </p:sp>
      <p:sp>
        <p:nvSpPr>
          <p:cNvPr id="3" name="Content Placeholder 2">
            <a:extLst>
              <a:ext uri="{FF2B5EF4-FFF2-40B4-BE49-F238E27FC236}">
                <a16:creationId xmlns:a16="http://schemas.microsoft.com/office/drawing/2014/main" id="{0ACE8361-AF29-FD0A-A7A4-597BD19AA24A}"/>
              </a:ext>
            </a:extLst>
          </p:cNvPr>
          <p:cNvSpPr>
            <a:spLocks noGrp="1"/>
          </p:cNvSpPr>
          <p:nvPr>
            <p:ph idx="1"/>
          </p:nvPr>
        </p:nvSpPr>
        <p:spPr>
          <a:xfrm>
            <a:off x="861293" y="1347786"/>
            <a:ext cx="10931462" cy="4997748"/>
          </a:xfrm>
        </p:spPr>
        <p:txBody>
          <a:bodyPr>
            <a:noAutofit/>
          </a:bodyPr>
          <a:lstStyle/>
          <a:p>
            <a:r>
              <a:rPr lang="en-US" dirty="0"/>
              <a:t>The borehole purpose shifts from source/sink to thermal storage</a:t>
            </a:r>
          </a:p>
          <a:p>
            <a:pPr lvl="1"/>
            <a:r>
              <a:rPr lang="en-US" dirty="0"/>
              <a:t>Storage provides time for the system to respond</a:t>
            </a:r>
          </a:p>
          <a:p>
            <a:pPr lvl="1"/>
            <a:r>
              <a:rPr lang="en-US" dirty="0"/>
              <a:t>Borehole total length required is reduced.  (220 ft to 81 ft  at CMU.)</a:t>
            </a:r>
          </a:p>
          <a:p>
            <a:r>
              <a:rPr lang="en-US" dirty="0"/>
              <a:t>Borehole response-time was more important than we thought.</a:t>
            </a:r>
          </a:p>
          <a:p>
            <a:pPr lvl="1"/>
            <a:r>
              <a:rPr lang="en-US" sz="2800" dirty="0"/>
              <a:t>Load shifting is minute to minute from the near-field or season to season from the far-field.</a:t>
            </a:r>
          </a:p>
          <a:p>
            <a:r>
              <a:rPr lang="en-US" dirty="0"/>
              <a:t>Demand reduction is typical.</a:t>
            </a:r>
          </a:p>
          <a:p>
            <a:r>
              <a:rPr lang="en-US" dirty="0"/>
              <a:t>Low system operating “delta T” and a wider temperature range (45 ° F - 95 ° F) across the system increases resiliency.</a:t>
            </a:r>
          </a:p>
          <a:p>
            <a:r>
              <a:rPr lang="en-US" dirty="0"/>
              <a:t>Stable temperatures in the Central Loop were the norm.</a:t>
            </a:r>
          </a:p>
        </p:txBody>
      </p:sp>
      <p:pic>
        <p:nvPicPr>
          <p:cNvPr id="4" name="Picture 2" descr="SGT Logo Inside Green SGT">
            <a:extLst>
              <a:ext uri="{FF2B5EF4-FFF2-40B4-BE49-F238E27FC236}">
                <a16:creationId xmlns:a16="http://schemas.microsoft.com/office/drawing/2014/main" id="{FE64692F-1EB8-FE5E-4457-D9104D93D5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07467" y="6086127"/>
            <a:ext cx="591299" cy="406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181BC44E-6050-FB25-882B-5B0B4184DAF3}"/>
              </a:ext>
            </a:extLst>
          </p:cNvPr>
          <p:cNvPicPr>
            <a:picLocks noChangeAspect="1"/>
          </p:cNvPicPr>
          <p:nvPr/>
        </p:nvPicPr>
        <p:blipFill>
          <a:blip r:embed="rId3"/>
          <a:stretch>
            <a:fillRect/>
          </a:stretch>
        </p:blipFill>
        <p:spPr>
          <a:xfrm>
            <a:off x="10580294" y="6132949"/>
            <a:ext cx="838331" cy="270711"/>
          </a:xfrm>
          <a:prstGeom prst="rect">
            <a:avLst/>
          </a:prstGeom>
        </p:spPr>
      </p:pic>
    </p:spTree>
    <p:extLst>
      <p:ext uri="{BB962C8B-B14F-4D97-AF65-F5344CB8AC3E}">
        <p14:creationId xmlns:p14="http://schemas.microsoft.com/office/powerpoint/2010/main" val="3482416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5A8423A-683F-D34B-703B-9F61A123E294}"/>
              </a:ext>
            </a:extLst>
          </p:cNvPr>
          <p:cNvSpPr txBox="1"/>
          <p:nvPr/>
        </p:nvSpPr>
        <p:spPr>
          <a:xfrm flipH="1">
            <a:off x="704045" y="1200631"/>
            <a:ext cx="11254084" cy="5016758"/>
          </a:xfrm>
          <a:prstGeom prst="rect">
            <a:avLst/>
          </a:prstGeom>
          <a:noFill/>
        </p:spPr>
        <p:txBody>
          <a:bodyPr wrap="square" rtlCol="0">
            <a:spAutoFit/>
          </a:bodyPr>
          <a:lstStyle/>
          <a:p>
            <a:pPr marL="342900" indent="-342900">
              <a:buFont typeface="Arial" panose="020B0604020202020204" pitchFamily="34" charset="0"/>
              <a:buChar char="•"/>
            </a:pPr>
            <a:r>
              <a:rPr lang="en-US" sz="3200" dirty="0"/>
              <a:t>Water consumption at cooling towers is reduced significantly</a:t>
            </a:r>
          </a:p>
          <a:p>
            <a:pPr marL="342900" indent="-342900">
              <a:buFont typeface="Arial" panose="020B0604020202020204" pitchFamily="34" charset="0"/>
              <a:buChar char="•"/>
            </a:pPr>
            <a:r>
              <a:rPr lang="en-US" sz="3200" dirty="0"/>
              <a:t>Low pump speeds were normal, low energy consumption due to the affinity laws was the norm</a:t>
            </a:r>
          </a:p>
          <a:p>
            <a:pPr marL="342900" indent="-342900">
              <a:buFont typeface="Arial" panose="020B0604020202020204" pitchFamily="34" charset="0"/>
              <a:buChar char="•"/>
            </a:pPr>
            <a:r>
              <a:rPr lang="en-US" sz="3200" dirty="0"/>
              <a:t>Extended circulating time lag was an asset that stabilized the system</a:t>
            </a:r>
          </a:p>
          <a:p>
            <a:pPr marL="342900" indent="-342900">
              <a:buFont typeface="Arial" panose="020B0604020202020204" pitchFamily="34" charset="0"/>
              <a:buChar char="•"/>
            </a:pPr>
            <a:r>
              <a:rPr lang="en-US" sz="3200" dirty="0"/>
              <a:t>Opportunity to use potable water, irrigation, black/grey-water, and other assets</a:t>
            </a:r>
          </a:p>
          <a:p>
            <a:pPr marL="342900" indent="-342900">
              <a:buFont typeface="Arial" panose="020B0604020202020204" pitchFamily="34" charset="0"/>
              <a:buChar char="•"/>
            </a:pPr>
            <a:r>
              <a:rPr lang="en-US" sz="3200" dirty="0"/>
              <a:t>Building isolation was easy – Strategy: on loss of Fluid anywhere in the system.</a:t>
            </a:r>
          </a:p>
          <a:p>
            <a:pPr marL="342900" indent="-342900">
              <a:buFont typeface="Arial" panose="020B0604020202020204" pitchFamily="34" charset="0"/>
              <a:buChar char="•"/>
            </a:pPr>
            <a:r>
              <a:rPr lang="en-US" sz="3200" dirty="0"/>
              <a:t>Isolation of microdistricts was easy</a:t>
            </a:r>
          </a:p>
        </p:txBody>
      </p:sp>
      <p:sp>
        <p:nvSpPr>
          <p:cNvPr id="5" name="TextBox 4">
            <a:extLst>
              <a:ext uri="{FF2B5EF4-FFF2-40B4-BE49-F238E27FC236}">
                <a16:creationId xmlns:a16="http://schemas.microsoft.com/office/drawing/2014/main" id="{D51785C5-87C3-B2D6-21D4-99638A6C3144}"/>
              </a:ext>
            </a:extLst>
          </p:cNvPr>
          <p:cNvSpPr txBox="1"/>
          <p:nvPr/>
        </p:nvSpPr>
        <p:spPr>
          <a:xfrm>
            <a:off x="832834" y="193182"/>
            <a:ext cx="9491729" cy="707886"/>
          </a:xfrm>
          <a:prstGeom prst="rect">
            <a:avLst/>
          </a:prstGeom>
          <a:noFill/>
        </p:spPr>
        <p:txBody>
          <a:bodyPr wrap="square" rtlCol="0">
            <a:spAutoFit/>
          </a:bodyPr>
          <a:lstStyle/>
          <a:p>
            <a:r>
              <a:rPr lang="en-US" sz="4000" b="1" dirty="0"/>
              <a:t>What we learned - 2:</a:t>
            </a:r>
            <a:endParaRPr lang="en-US" sz="4000" dirty="0"/>
          </a:p>
        </p:txBody>
      </p:sp>
      <p:pic>
        <p:nvPicPr>
          <p:cNvPr id="2" name="Picture 2" descr="SGT Logo Inside Green SGT">
            <a:extLst>
              <a:ext uri="{FF2B5EF4-FFF2-40B4-BE49-F238E27FC236}">
                <a16:creationId xmlns:a16="http://schemas.microsoft.com/office/drawing/2014/main" id="{CFF73B85-8C52-6EB0-6BA4-A53ED402D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07467" y="6086127"/>
            <a:ext cx="591299" cy="406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6645A401-2402-DD18-72DD-1BE9167CB9EB}"/>
              </a:ext>
            </a:extLst>
          </p:cNvPr>
          <p:cNvPicPr>
            <a:picLocks noChangeAspect="1"/>
          </p:cNvPicPr>
          <p:nvPr/>
        </p:nvPicPr>
        <p:blipFill>
          <a:blip r:embed="rId3"/>
          <a:stretch>
            <a:fillRect/>
          </a:stretch>
        </p:blipFill>
        <p:spPr>
          <a:xfrm>
            <a:off x="10580294" y="6132949"/>
            <a:ext cx="838331" cy="270711"/>
          </a:xfrm>
          <a:prstGeom prst="rect">
            <a:avLst/>
          </a:prstGeom>
        </p:spPr>
      </p:pic>
    </p:spTree>
    <p:extLst>
      <p:ext uri="{BB962C8B-B14F-4D97-AF65-F5344CB8AC3E}">
        <p14:creationId xmlns:p14="http://schemas.microsoft.com/office/powerpoint/2010/main" val="4172631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9F6B3C-CD5F-1594-724C-D74E09E143D9}"/>
              </a:ext>
            </a:extLst>
          </p:cNvPr>
          <p:cNvSpPr>
            <a:spLocks noGrp="1"/>
          </p:cNvSpPr>
          <p:nvPr>
            <p:ph idx="1"/>
          </p:nvPr>
        </p:nvSpPr>
        <p:spPr>
          <a:xfrm>
            <a:off x="838200" y="1116169"/>
            <a:ext cx="10515600" cy="5060794"/>
          </a:xfrm>
        </p:spPr>
        <p:txBody>
          <a:bodyPr>
            <a:normAutofit lnSpcReduction="10000"/>
          </a:bodyPr>
          <a:lstStyle/>
          <a:p>
            <a:endParaRPr lang="en-US" sz="3200" dirty="0"/>
          </a:p>
          <a:p>
            <a:pPr marL="0" indent="0">
              <a:buNone/>
            </a:pPr>
            <a:r>
              <a:rPr lang="en-US" sz="3200" dirty="0"/>
              <a:t>Colorado Mesa University and Weber State University are good engineering models to review:</a:t>
            </a:r>
          </a:p>
          <a:p>
            <a:r>
              <a:rPr lang="en-US" sz="3200" dirty="0"/>
              <a:t>50/90 rule works and enhances carbon reduction</a:t>
            </a:r>
          </a:p>
          <a:p>
            <a:r>
              <a:rPr lang="en-US" sz="3200" dirty="0"/>
              <a:t>Peak Load Design vs “Balanced Load Design” (Part load analysis)</a:t>
            </a:r>
          </a:p>
          <a:p>
            <a:r>
              <a:rPr lang="en-US" sz="3200" dirty="0"/>
              <a:t>Diversity can become your biggest asset</a:t>
            </a:r>
          </a:p>
          <a:p>
            <a:r>
              <a:rPr lang="en-US" sz="3200" dirty="0"/>
              <a:t>Use plug and play devices to balance systems</a:t>
            </a:r>
          </a:p>
          <a:p>
            <a:r>
              <a:rPr lang="en-US" sz="3200" dirty="0"/>
              <a:t>Plan for expansion</a:t>
            </a:r>
          </a:p>
          <a:p>
            <a:r>
              <a:rPr lang="en-US" sz="3200" dirty="0"/>
              <a:t>New and retrofit are both candidates for an ATL system</a:t>
            </a:r>
          </a:p>
        </p:txBody>
      </p:sp>
      <p:sp>
        <p:nvSpPr>
          <p:cNvPr id="2" name="TextBox 1">
            <a:extLst>
              <a:ext uri="{FF2B5EF4-FFF2-40B4-BE49-F238E27FC236}">
                <a16:creationId xmlns:a16="http://schemas.microsoft.com/office/drawing/2014/main" id="{7FF12B9E-7B42-AED6-0845-C76E6C115A5D}"/>
              </a:ext>
            </a:extLst>
          </p:cNvPr>
          <p:cNvSpPr txBox="1"/>
          <p:nvPr/>
        </p:nvSpPr>
        <p:spPr>
          <a:xfrm>
            <a:off x="999309" y="574766"/>
            <a:ext cx="9326880" cy="646331"/>
          </a:xfrm>
          <a:prstGeom prst="rect">
            <a:avLst/>
          </a:prstGeom>
          <a:noFill/>
        </p:spPr>
        <p:txBody>
          <a:bodyPr wrap="square" rtlCol="0">
            <a:spAutoFit/>
          </a:bodyPr>
          <a:lstStyle/>
          <a:p>
            <a:r>
              <a:rPr lang="en-US" sz="3600" b="1" dirty="0"/>
              <a:t>Comments:</a:t>
            </a:r>
          </a:p>
        </p:txBody>
      </p:sp>
      <p:pic>
        <p:nvPicPr>
          <p:cNvPr id="4" name="Picture 2" descr="SGT Logo Inside Green SGT">
            <a:extLst>
              <a:ext uri="{FF2B5EF4-FFF2-40B4-BE49-F238E27FC236}">
                <a16:creationId xmlns:a16="http://schemas.microsoft.com/office/drawing/2014/main" id="{0433D936-007B-EB1A-706E-3C601095C7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07467" y="6086127"/>
            <a:ext cx="591299" cy="406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7AFC6739-9CA5-4BF6-71EC-E7877E338BE3}"/>
              </a:ext>
            </a:extLst>
          </p:cNvPr>
          <p:cNvPicPr>
            <a:picLocks noChangeAspect="1"/>
          </p:cNvPicPr>
          <p:nvPr/>
        </p:nvPicPr>
        <p:blipFill>
          <a:blip r:embed="rId3"/>
          <a:stretch>
            <a:fillRect/>
          </a:stretch>
        </p:blipFill>
        <p:spPr>
          <a:xfrm>
            <a:off x="10580294" y="6132949"/>
            <a:ext cx="838331" cy="270711"/>
          </a:xfrm>
          <a:prstGeom prst="rect">
            <a:avLst/>
          </a:prstGeom>
        </p:spPr>
      </p:pic>
    </p:spTree>
    <p:extLst>
      <p:ext uri="{BB962C8B-B14F-4D97-AF65-F5344CB8AC3E}">
        <p14:creationId xmlns:p14="http://schemas.microsoft.com/office/powerpoint/2010/main" val="61339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 name="Group 81"/>
          <p:cNvGrpSpPr/>
          <p:nvPr/>
        </p:nvGrpSpPr>
        <p:grpSpPr>
          <a:xfrm>
            <a:off x="3213763" y="3949531"/>
            <a:ext cx="5726458" cy="2136220"/>
            <a:chOff x="3213763" y="3949531"/>
            <a:chExt cx="5726458" cy="2136220"/>
          </a:xfrm>
        </p:grpSpPr>
        <p:sp>
          <p:nvSpPr>
            <p:cNvPr id="75" name="Rectangle 74"/>
            <p:cNvSpPr/>
            <p:nvPr/>
          </p:nvSpPr>
          <p:spPr>
            <a:xfrm>
              <a:off x="6035833" y="4389632"/>
              <a:ext cx="2904388" cy="1222949"/>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Emissions Free CHP+S Sites</a:t>
              </a:r>
            </a:p>
          </p:txBody>
        </p:sp>
        <p:sp>
          <p:nvSpPr>
            <p:cNvPr id="13" name="Rectangle 12"/>
            <p:cNvSpPr/>
            <p:nvPr/>
          </p:nvSpPr>
          <p:spPr>
            <a:xfrm>
              <a:off x="3213763" y="4328084"/>
              <a:ext cx="2822069" cy="175766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Emissions Free CHP+S Sites</a:t>
              </a:r>
            </a:p>
          </p:txBody>
        </p:sp>
        <p:sp>
          <p:nvSpPr>
            <p:cNvPr id="66" name="Rounded Rectangle 65"/>
            <p:cNvSpPr/>
            <p:nvPr/>
          </p:nvSpPr>
          <p:spPr>
            <a:xfrm>
              <a:off x="3315796" y="4988662"/>
              <a:ext cx="2582974" cy="822429"/>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Utility</a:t>
              </a:r>
              <a:b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Solar</a:t>
              </a:r>
              <a:b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PVT </a:t>
              </a:r>
              <a:b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Farm</a:t>
              </a:r>
            </a:p>
          </p:txBody>
        </p:sp>
        <p:sp>
          <p:nvSpPr>
            <p:cNvPr id="68" name="Rounded Rectangle 67"/>
            <p:cNvSpPr/>
            <p:nvPr/>
          </p:nvSpPr>
          <p:spPr>
            <a:xfrm>
              <a:off x="3369856" y="5132751"/>
              <a:ext cx="1917263" cy="258702"/>
            </a:xfrm>
            <a:prstGeom prst="round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Heat Exchanger Panels</a:t>
              </a:r>
            </a:p>
          </p:txBody>
        </p:sp>
        <p:sp>
          <p:nvSpPr>
            <p:cNvPr id="69" name="Rounded Rectangle 68"/>
            <p:cNvSpPr/>
            <p:nvPr/>
          </p:nvSpPr>
          <p:spPr>
            <a:xfrm>
              <a:off x="3380016" y="5385967"/>
              <a:ext cx="1917263" cy="258702"/>
            </a:xfrm>
            <a:prstGeom prst="roundRect">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PV Panels</a:t>
              </a:r>
            </a:p>
          </p:txBody>
        </p:sp>
        <p:sp>
          <p:nvSpPr>
            <p:cNvPr id="76" name="Rounded Rectangle 75"/>
            <p:cNvSpPr/>
            <p:nvPr/>
          </p:nvSpPr>
          <p:spPr>
            <a:xfrm>
              <a:off x="6505034" y="4484953"/>
              <a:ext cx="903345" cy="811918"/>
            </a:xfrm>
            <a:prstGeom prst="roundRect">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Run-of-River</a:t>
              </a:r>
              <a:b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Turbines</a:t>
              </a:r>
            </a:p>
          </p:txBody>
        </p:sp>
        <p:cxnSp>
          <p:nvCxnSpPr>
            <p:cNvPr id="81" name="Straight Arrow Connector 80"/>
            <p:cNvCxnSpPr>
              <a:stCxn id="76" idx="3"/>
              <a:endCxn id="57" idx="1"/>
            </p:cNvCxnSpPr>
            <p:nvPr/>
          </p:nvCxnSpPr>
          <p:spPr>
            <a:xfrm>
              <a:off x="7408379" y="4890912"/>
              <a:ext cx="267445" cy="678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83" name="Rounded Rectangle 82"/>
            <p:cNvSpPr/>
            <p:nvPr/>
          </p:nvSpPr>
          <p:spPr>
            <a:xfrm>
              <a:off x="4714614" y="4493727"/>
              <a:ext cx="854263" cy="416641"/>
            </a:xfrm>
            <a:prstGeom prst="roundRect">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Electric</a:t>
              </a:r>
              <a:b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Storage</a:t>
              </a:r>
            </a:p>
          </p:txBody>
        </p:sp>
        <p:sp>
          <p:nvSpPr>
            <p:cNvPr id="74" name="Up-Down Arrow 73"/>
            <p:cNvSpPr/>
            <p:nvPr/>
          </p:nvSpPr>
          <p:spPr>
            <a:xfrm>
              <a:off x="4617537" y="3949531"/>
              <a:ext cx="89093" cy="1032752"/>
            </a:xfrm>
            <a:prstGeom prst="upDownArrow">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0" name="Slide Number Placeholder 9"/>
          <p:cNvSpPr>
            <a:spLocks noGrp="1"/>
          </p:cNvSpPr>
          <p:nvPr>
            <p:ph type="sldNum" sz="quarter" idx="12"/>
          </p:nvPr>
        </p:nvSpPr>
        <p:spPr>
          <a:xfrm>
            <a:off x="7924798"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05158E-9308-45E6-80FC-F075DBEA2F2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6" name="TextBox 25"/>
          <p:cNvSpPr txBox="1"/>
          <p:nvPr/>
        </p:nvSpPr>
        <p:spPr>
          <a:xfrm>
            <a:off x="0" y="-12538"/>
            <a:ext cx="12192000"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Integrated Plug and Play </a:t>
            </a:r>
            <a:br>
              <a:rPr kumimoji="0" lang="en-US" sz="2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2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Electric / Thermal Energy Systems</a:t>
            </a:r>
          </a:p>
        </p:txBody>
      </p:sp>
      <p:grpSp>
        <p:nvGrpSpPr>
          <p:cNvPr id="4" name="Group 3"/>
          <p:cNvGrpSpPr/>
          <p:nvPr/>
        </p:nvGrpSpPr>
        <p:grpSpPr>
          <a:xfrm>
            <a:off x="3005011" y="2802846"/>
            <a:ext cx="6077184" cy="1302005"/>
            <a:chOff x="4460007" y="2290134"/>
            <a:chExt cx="3333304" cy="873809"/>
          </a:xfrm>
          <a:solidFill>
            <a:schemeClr val="accent1">
              <a:lumMod val="75000"/>
            </a:schemeClr>
          </a:solidFill>
        </p:grpSpPr>
        <p:sp>
          <p:nvSpPr>
            <p:cNvPr id="3" name="U-Turn Arrow 2"/>
            <p:cNvSpPr/>
            <p:nvPr/>
          </p:nvSpPr>
          <p:spPr>
            <a:xfrm rot="16200000">
              <a:off x="5039147" y="1710994"/>
              <a:ext cx="773723" cy="1932003"/>
            </a:xfrm>
            <a:prstGeom prst="uturn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U-Turn Arrow 26"/>
            <p:cNvSpPr/>
            <p:nvPr/>
          </p:nvSpPr>
          <p:spPr>
            <a:xfrm rot="16200000" flipH="1" flipV="1">
              <a:off x="6237588" y="1608220"/>
              <a:ext cx="773723" cy="2337723"/>
            </a:xfrm>
            <a:prstGeom prst="uturn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 name="TextBox 4"/>
          <p:cNvSpPr txBox="1"/>
          <p:nvPr/>
        </p:nvSpPr>
        <p:spPr>
          <a:xfrm>
            <a:off x="4165297" y="3290881"/>
            <a:ext cx="376250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Inter-Connected Thermal Distribution Circuits</a:t>
            </a:r>
          </a:p>
        </p:txBody>
      </p:sp>
      <p:sp>
        <p:nvSpPr>
          <p:cNvPr id="28" name="TextBox 27"/>
          <p:cNvSpPr txBox="1"/>
          <p:nvPr/>
        </p:nvSpPr>
        <p:spPr>
          <a:xfrm>
            <a:off x="4974481" y="2948408"/>
            <a:ext cx="224125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Recycled Thermal Energy</a:t>
            </a:r>
          </a:p>
        </p:txBody>
      </p:sp>
      <p:sp>
        <p:nvSpPr>
          <p:cNvPr id="33" name="Up-Down Arrow 32"/>
          <p:cNvSpPr/>
          <p:nvPr/>
        </p:nvSpPr>
        <p:spPr>
          <a:xfrm rot="14760000">
            <a:off x="9321500" y="2621304"/>
            <a:ext cx="173615" cy="853514"/>
          </a:xfrm>
          <a:prstGeom prst="upDownArrow">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 name="TextBox 33"/>
          <p:cNvSpPr txBox="1"/>
          <p:nvPr/>
        </p:nvSpPr>
        <p:spPr>
          <a:xfrm>
            <a:off x="4805046" y="3639349"/>
            <a:ext cx="246157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Ambient Temperature Water </a:t>
            </a:r>
          </a:p>
        </p:txBody>
      </p:sp>
      <p:grpSp>
        <p:nvGrpSpPr>
          <p:cNvPr id="59" name="Group 58"/>
          <p:cNvGrpSpPr/>
          <p:nvPr/>
        </p:nvGrpSpPr>
        <p:grpSpPr>
          <a:xfrm rot="17436708">
            <a:off x="8726186" y="4124850"/>
            <a:ext cx="2504360" cy="983500"/>
            <a:chOff x="4460007" y="2290134"/>
            <a:chExt cx="3333304" cy="873809"/>
          </a:xfrm>
          <a:solidFill>
            <a:schemeClr val="accent1">
              <a:lumMod val="75000"/>
            </a:schemeClr>
          </a:solidFill>
        </p:grpSpPr>
        <p:sp>
          <p:nvSpPr>
            <p:cNvPr id="60" name="U-Turn Arrow 59"/>
            <p:cNvSpPr/>
            <p:nvPr/>
          </p:nvSpPr>
          <p:spPr>
            <a:xfrm rot="16200000">
              <a:off x="5039147" y="1710994"/>
              <a:ext cx="773723" cy="1932003"/>
            </a:xfrm>
            <a:prstGeom prst="uturn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U-Turn Arrow 60"/>
            <p:cNvSpPr/>
            <p:nvPr/>
          </p:nvSpPr>
          <p:spPr>
            <a:xfrm rot="16200000" flipH="1" flipV="1">
              <a:off x="6237588" y="1608220"/>
              <a:ext cx="773723" cy="2337723"/>
            </a:xfrm>
            <a:prstGeom prst="uturn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70" name="Group 69"/>
          <p:cNvGrpSpPr/>
          <p:nvPr/>
        </p:nvGrpSpPr>
        <p:grpSpPr>
          <a:xfrm rot="15308134">
            <a:off x="8778114" y="1574557"/>
            <a:ext cx="2504360" cy="1089035"/>
            <a:chOff x="4460007" y="2290134"/>
            <a:chExt cx="3333304" cy="873809"/>
          </a:xfrm>
          <a:solidFill>
            <a:schemeClr val="accent1">
              <a:lumMod val="75000"/>
            </a:schemeClr>
          </a:solidFill>
        </p:grpSpPr>
        <p:sp>
          <p:nvSpPr>
            <p:cNvPr id="71" name="U-Turn Arrow 70"/>
            <p:cNvSpPr/>
            <p:nvPr/>
          </p:nvSpPr>
          <p:spPr>
            <a:xfrm rot="16200000">
              <a:off x="5039147" y="1710994"/>
              <a:ext cx="773723" cy="1932003"/>
            </a:xfrm>
            <a:prstGeom prst="uturn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U-Turn Arrow 71"/>
            <p:cNvSpPr/>
            <p:nvPr/>
          </p:nvSpPr>
          <p:spPr>
            <a:xfrm rot="16200000" flipH="1" flipV="1">
              <a:off x="6237588" y="1608220"/>
              <a:ext cx="773723" cy="2337723"/>
            </a:xfrm>
            <a:prstGeom prst="uturn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3" name="Up-Down Arrow 72"/>
          <p:cNvSpPr/>
          <p:nvPr/>
        </p:nvSpPr>
        <p:spPr>
          <a:xfrm rot="6840000" flipV="1">
            <a:off x="9349244" y="3362984"/>
            <a:ext cx="173615" cy="853514"/>
          </a:xfrm>
          <a:prstGeom prst="upDownArrow">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7" name="Group 16"/>
          <p:cNvGrpSpPr/>
          <p:nvPr/>
        </p:nvGrpSpPr>
        <p:grpSpPr>
          <a:xfrm>
            <a:off x="1454206" y="2305815"/>
            <a:ext cx="1781925" cy="3769376"/>
            <a:chOff x="1454206" y="2150167"/>
            <a:chExt cx="1781925" cy="3769376"/>
          </a:xfrm>
        </p:grpSpPr>
        <p:sp>
          <p:nvSpPr>
            <p:cNvPr id="79" name="Rounded Rectangle 78"/>
            <p:cNvSpPr/>
            <p:nvPr/>
          </p:nvSpPr>
          <p:spPr>
            <a:xfrm>
              <a:off x="1555352" y="2150167"/>
              <a:ext cx="1234483" cy="443558"/>
            </a:xfrm>
            <a:prstGeom prst="round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Conventional CHP</a:t>
              </a:r>
            </a:p>
          </p:txBody>
        </p:sp>
        <p:sp>
          <p:nvSpPr>
            <p:cNvPr id="80" name="Up-Down Arrow 79"/>
            <p:cNvSpPr/>
            <p:nvPr/>
          </p:nvSpPr>
          <p:spPr>
            <a:xfrm rot="7920000" flipV="1">
              <a:off x="2922148" y="2496047"/>
              <a:ext cx="98002" cy="529965"/>
            </a:xfrm>
            <a:prstGeom prst="upDownArrow">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Oval 19"/>
            <p:cNvSpPr/>
            <p:nvPr/>
          </p:nvSpPr>
          <p:spPr>
            <a:xfrm>
              <a:off x="1454206" y="3431650"/>
              <a:ext cx="1250218" cy="650122"/>
            </a:xfrm>
            <a:prstGeom prst="ellipse">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Micro-Grid</a:t>
              </a:r>
              <a:b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Isolation</a:t>
              </a:r>
            </a:p>
          </p:txBody>
        </p:sp>
        <p:sp>
          <p:nvSpPr>
            <p:cNvPr id="91" name="TextBox 90"/>
            <p:cNvSpPr txBox="1"/>
            <p:nvPr/>
          </p:nvSpPr>
          <p:spPr>
            <a:xfrm>
              <a:off x="1653266" y="4076922"/>
              <a:ext cx="134588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Emissions Free</a:t>
              </a:r>
              <a:b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Electric Power</a:t>
              </a:r>
            </a:p>
          </p:txBody>
        </p:sp>
        <p:sp>
          <p:nvSpPr>
            <p:cNvPr id="113" name="Rounded Rectangle 112"/>
            <p:cNvSpPr/>
            <p:nvPr/>
          </p:nvSpPr>
          <p:spPr>
            <a:xfrm>
              <a:off x="1625156" y="4796861"/>
              <a:ext cx="1020234" cy="275415"/>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Telecom</a:t>
              </a:r>
            </a:p>
          </p:txBody>
        </p:sp>
        <p:sp>
          <p:nvSpPr>
            <p:cNvPr id="114" name="TextBox 113"/>
            <p:cNvSpPr txBox="1"/>
            <p:nvPr/>
          </p:nvSpPr>
          <p:spPr>
            <a:xfrm>
              <a:off x="1591591" y="5088546"/>
              <a:ext cx="1345885"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Grid-Enabled</a:t>
              </a:r>
              <a:b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Monitoring</a:t>
              </a:r>
              <a:b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&amp; Intelligent</a:t>
              </a:r>
              <a:b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Control</a:t>
              </a:r>
            </a:p>
          </p:txBody>
        </p:sp>
        <p:sp>
          <p:nvSpPr>
            <p:cNvPr id="115" name="Rounded Rectangle 114"/>
            <p:cNvSpPr/>
            <p:nvPr/>
          </p:nvSpPr>
          <p:spPr>
            <a:xfrm>
              <a:off x="1770900" y="2768662"/>
              <a:ext cx="843168" cy="443558"/>
            </a:xfrm>
            <a:prstGeom prst="round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Cooling Towers</a:t>
              </a:r>
            </a:p>
          </p:txBody>
        </p:sp>
        <p:sp>
          <p:nvSpPr>
            <p:cNvPr id="116" name="Up-Down Arrow 115"/>
            <p:cNvSpPr/>
            <p:nvPr/>
          </p:nvSpPr>
          <p:spPr>
            <a:xfrm rot="6960000" flipV="1">
              <a:off x="2775023" y="2856996"/>
              <a:ext cx="98002" cy="437987"/>
            </a:xfrm>
            <a:prstGeom prst="upDownArrow">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24" name="Group 23"/>
          <p:cNvGrpSpPr/>
          <p:nvPr/>
        </p:nvGrpSpPr>
        <p:grpSpPr>
          <a:xfrm>
            <a:off x="3442901" y="723896"/>
            <a:ext cx="5809457" cy="1213985"/>
            <a:chOff x="3442901" y="723896"/>
            <a:chExt cx="5809457" cy="1213985"/>
          </a:xfrm>
        </p:grpSpPr>
        <p:sp>
          <p:nvSpPr>
            <p:cNvPr id="11" name="TextBox 10"/>
            <p:cNvSpPr txBox="1"/>
            <p:nvPr/>
          </p:nvSpPr>
          <p:spPr>
            <a:xfrm>
              <a:off x="3453061" y="723896"/>
              <a:ext cx="579929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Cooling                                                                                   Heating</a:t>
              </a:r>
              <a:br>
                <a:rPr kumimoji="0" 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Dominant                                Balanced                               Dominant</a:t>
              </a:r>
            </a:p>
          </p:txBody>
        </p:sp>
        <p:sp>
          <p:nvSpPr>
            <p:cNvPr id="6" name="Rectangle 5"/>
            <p:cNvSpPr/>
            <p:nvPr/>
          </p:nvSpPr>
          <p:spPr>
            <a:xfrm>
              <a:off x="3442901" y="1256572"/>
              <a:ext cx="5799297" cy="681309"/>
            </a:xfrm>
            <a:prstGeom prst="rect">
              <a:avLst/>
            </a:prstGeom>
            <a:gradFill flip="none" rotWithShape="1">
              <a:gsLst>
                <a:gs pos="0">
                  <a:schemeClr val="accent1">
                    <a:lumMod val="40000"/>
                    <a:lumOff val="60000"/>
                  </a:schemeClr>
                </a:gs>
                <a:gs pos="29000">
                  <a:schemeClr val="accent1">
                    <a:lumMod val="45000"/>
                    <a:lumOff val="55000"/>
                  </a:schemeClr>
                </a:gs>
                <a:gs pos="45000">
                  <a:schemeClr val="accent1">
                    <a:lumMod val="45000"/>
                    <a:lumOff val="55000"/>
                  </a:schemeClr>
                </a:gs>
                <a:gs pos="100000">
                  <a:srgbClr val="FF0000"/>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Buildings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Residential, Commercial, Industrial</a:t>
              </a:r>
            </a:p>
          </p:txBody>
        </p:sp>
      </p:grpSp>
      <p:grpSp>
        <p:nvGrpSpPr>
          <p:cNvPr id="62" name="Group 61"/>
          <p:cNvGrpSpPr/>
          <p:nvPr/>
        </p:nvGrpSpPr>
        <p:grpSpPr>
          <a:xfrm>
            <a:off x="1544763" y="1172952"/>
            <a:ext cx="7888155" cy="1886978"/>
            <a:chOff x="1544763" y="1172952"/>
            <a:chExt cx="7888155" cy="1886978"/>
          </a:xfrm>
        </p:grpSpPr>
        <p:sp>
          <p:nvSpPr>
            <p:cNvPr id="95" name="Up-Down Arrow 94"/>
            <p:cNvSpPr/>
            <p:nvPr/>
          </p:nvSpPr>
          <p:spPr>
            <a:xfrm rot="8640000" flipV="1">
              <a:off x="2972091" y="1923903"/>
              <a:ext cx="107802" cy="1136027"/>
            </a:xfrm>
            <a:prstGeom prst="upDownArrow">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30" name="Group 29"/>
            <p:cNvGrpSpPr/>
            <p:nvPr/>
          </p:nvGrpSpPr>
          <p:grpSpPr>
            <a:xfrm>
              <a:off x="1544763" y="1172952"/>
              <a:ext cx="7888155" cy="1780622"/>
              <a:chOff x="1544763" y="1172952"/>
              <a:chExt cx="7888155" cy="1780622"/>
            </a:xfrm>
          </p:grpSpPr>
          <p:sp>
            <p:nvSpPr>
              <p:cNvPr id="92" name="Rounded Rectangle 91"/>
              <p:cNvSpPr/>
              <p:nvPr/>
            </p:nvSpPr>
            <p:spPr>
              <a:xfrm>
                <a:off x="1544763" y="1172952"/>
                <a:ext cx="1902971" cy="840566"/>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Solar PVT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3" name="Rounded Rectangle 92"/>
              <p:cNvSpPr/>
              <p:nvPr/>
            </p:nvSpPr>
            <p:spPr>
              <a:xfrm>
                <a:off x="2410093" y="1391910"/>
                <a:ext cx="983859" cy="547710"/>
              </a:xfrm>
              <a:prstGeom prst="round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Heat </a:t>
                </a:r>
                <a:b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Exchange </a:t>
                </a:r>
                <a:b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Panels</a:t>
                </a:r>
              </a:p>
            </p:txBody>
          </p:sp>
          <p:sp>
            <p:nvSpPr>
              <p:cNvPr id="94" name="Rounded Rectangle 93"/>
              <p:cNvSpPr/>
              <p:nvPr/>
            </p:nvSpPr>
            <p:spPr>
              <a:xfrm>
                <a:off x="1658892" y="1448642"/>
                <a:ext cx="739187" cy="449374"/>
              </a:xfrm>
              <a:prstGeom prst="roundRect">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PV</a:t>
                </a:r>
                <a:b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Panels</a:t>
                </a:r>
              </a:p>
            </p:txBody>
          </p:sp>
          <p:sp>
            <p:nvSpPr>
              <p:cNvPr id="53" name="Rounded Rectangle 52"/>
              <p:cNvSpPr/>
              <p:nvPr/>
            </p:nvSpPr>
            <p:spPr>
              <a:xfrm>
                <a:off x="3236160" y="1945935"/>
                <a:ext cx="2888436" cy="696856"/>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Multi-Source Heat Pumps</a:t>
                </a:r>
              </a:p>
            </p:txBody>
          </p:sp>
          <p:sp>
            <p:nvSpPr>
              <p:cNvPr id="12" name="Up-Down Arrow 11"/>
              <p:cNvSpPr/>
              <p:nvPr/>
            </p:nvSpPr>
            <p:spPr>
              <a:xfrm>
                <a:off x="4138260" y="2641810"/>
                <a:ext cx="80994" cy="299151"/>
              </a:xfrm>
              <a:prstGeom prst="upDownArrow">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Up-Down Arrow 31"/>
              <p:cNvSpPr/>
              <p:nvPr/>
            </p:nvSpPr>
            <p:spPr>
              <a:xfrm rot="10800000">
                <a:off x="7616976" y="2588671"/>
                <a:ext cx="89093" cy="361973"/>
              </a:xfrm>
              <a:prstGeom prst="upDownArrow">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1" name="Rounded Rectangle 50"/>
              <p:cNvSpPr/>
              <p:nvPr/>
            </p:nvSpPr>
            <p:spPr>
              <a:xfrm>
                <a:off x="4677712" y="1952695"/>
                <a:ext cx="1373611" cy="403238"/>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Ground Source</a:t>
                </a:r>
                <a:b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Heat Pumps</a:t>
                </a:r>
              </a:p>
            </p:txBody>
          </p:sp>
          <p:sp>
            <p:nvSpPr>
              <p:cNvPr id="54" name="Up-Down Arrow 53"/>
              <p:cNvSpPr/>
              <p:nvPr/>
            </p:nvSpPr>
            <p:spPr>
              <a:xfrm>
                <a:off x="5753875" y="2362471"/>
                <a:ext cx="80994" cy="582962"/>
              </a:xfrm>
              <a:prstGeom prst="upDownArrow">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 name="Rounded Rectangle 51"/>
              <p:cNvSpPr/>
              <p:nvPr/>
            </p:nvSpPr>
            <p:spPr>
              <a:xfrm>
                <a:off x="3300496" y="1952695"/>
                <a:ext cx="1150903" cy="403238"/>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Air Source</a:t>
                </a:r>
                <a:b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Heat Pumps</a:t>
                </a:r>
              </a:p>
            </p:txBody>
          </p:sp>
          <p:sp>
            <p:nvSpPr>
              <p:cNvPr id="58" name="Rounded Rectangle 57"/>
              <p:cNvSpPr/>
              <p:nvPr/>
            </p:nvSpPr>
            <p:spPr>
              <a:xfrm>
                <a:off x="7065752" y="1941325"/>
                <a:ext cx="1150903" cy="649412"/>
              </a:xfrm>
              <a:prstGeom prst="round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Wastewater</a:t>
                </a:r>
                <a:br>
                  <a:rPr kumimoji="0" lang="en-US" sz="1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Heat Exchangers</a:t>
                </a:r>
              </a:p>
            </p:txBody>
          </p:sp>
          <p:sp>
            <p:nvSpPr>
              <p:cNvPr id="67" name="Rounded Rectangle 66"/>
              <p:cNvSpPr/>
              <p:nvPr/>
            </p:nvSpPr>
            <p:spPr>
              <a:xfrm>
                <a:off x="6201682" y="1941325"/>
                <a:ext cx="786082" cy="443562"/>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Chillers</a:t>
                </a:r>
              </a:p>
            </p:txBody>
          </p:sp>
          <p:sp>
            <p:nvSpPr>
              <p:cNvPr id="77" name="Rounded Rectangle 76"/>
              <p:cNvSpPr/>
              <p:nvPr/>
            </p:nvSpPr>
            <p:spPr>
              <a:xfrm>
                <a:off x="8282015" y="1941325"/>
                <a:ext cx="1150903" cy="649412"/>
              </a:xfrm>
              <a:prstGeom prst="round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Industrial</a:t>
                </a:r>
                <a:b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Waste Heat Capture</a:t>
                </a:r>
              </a:p>
            </p:txBody>
          </p:sp>
          <p:cxnSp>
            <p:nvCxnSpPr>
              <p:cNvPr id="15" name="Straight Arrow Connector 14"/>
              <p:cNvCxnSpPr>
                <a:stCxn id="52" idx="3"/>
                <a:endCxn id="51" idx="1"/>
              </p:cNvCxnSpPr>
              <p:nvPr/>
            </p:nvCxnSpPr>
            <p:spPr>
              <a:xfrm>
                <a:off x="4451399" y="2154314"/>
                <a:ext cx="22631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78" name="Up-Down Arrow 77"/>
              <p:cNvSpPr/>
              <p:nvPr/>
            </p:nvSpPr>
            <p:spPr>
              <a:xfrm rot="10800000">
                <a:off x="8551895" y="2591601"/>
                <a:ext cx="89093" cy="361973"/>
              </a:xfrm>
              <a:prstGeom prst="upDownArrow">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Rounded Rectangle 83"/>
              <p:cNvSpPr/>
              <p:nvPr/>
            </p:nvSpPr>
            <p:spPr>
              <a:xfrm>
                <a:off x="3625929" y="1445333"/>
                <a:ext cx="825470" cy="411609"/>
              </a:xfrm>
              <a:prstGeom prst="roundRect">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Electric </a:t>
                </a:r>
                <a:b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Storage</a:t>
                </a:r>
              </a:p>
            </p:txBody>
          </p:sp>
          <p:sp>
            <p:nvSpPr>
              <p:cNvPr id="85" name="Rounded Rectangle 84"/>
              <p:cNvSpPr/>
              <p:nvPr/>
            </p:nvSpPr>
            <p:spPr>
              <a:xfrm>
                <a:off x="8220526" y="1334533"/>
                <a:ext cx="908017" cy="502500"/>
              </a:xfrm>
              <a:prstGeom prst="roundRect">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Vehicle</a:t>
                </a:r>
                <a:b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Charging</a:t>
                </a:r>
              </a:p>
            </p:txBody>
          </p:sp>
        </p:grpSp>
      </p:grpSp>
      <p:grpSp>
        <p:nvGrpSpPr>
          <p:cNvPr id="65" name="Group 64"/>
          <p:cNvGrpSpPr/>
          <p:nvPr/>
        </p:nvGrpSpPr>
        <p:grpSpPr>
          <a:xfrm>
            <a:off x="3328692" y="3946925"/>
            <a:ext cx="5505239" cy="1356732"/>
            <a:chOff x="3328692" y="3946925"/>
            <a:chExt cx="5505239" cy="1356732"/>
          </a:xfrm>
        </p:grpSpPr>
        <p:grpSp>
          <p:nvGrpSpPr>
            <p:cNvPr id="63" name="Group 62"/>
            <p:cNvGrpSpPr/>
            <p:nvPr/>
          </p:nvGrpSpPr>
          <p:grpSpPr>
            <a:xfrm>
              <a:off x="3328692" y="4491739"/>
              <a:ext cx="5505239" cy="811918"/>
              <a:chOff x="3328692" y="4491739"/>
              <a:chExt cx="5505239" cy="811918"/>
            </a:xfrm>
          </p:grpSpPr>
          <p:sp>
            <p:nvSpPr>
              <p:cNvPr id="25" name="Rounded Rectangle 24"/>
              <p:cNvSpPr/>
              <p:nvPr/>
            </p:nvSpPr>
            <p:spPr>
              <a:xfrm>
                <a:off x="3328692" y="4492129"/>
                <a:ext cx="1250726" cy="416641"/>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Ground Heat Exchangers</a:t>
                </a:r>
              </a:p>
            </p:txBody>
          </p:sp>
          <p:sp>
            <p:nvSpPr>
              <p:cNvPr id="55" name="Rounded Rectangle 54"/>
              <p:cNvSpPr/>
              <p:nvPr/>
            </p:nvSpPr>
            <p:spPr>
              <a:xfrm>
                <a:off x="5612453" y="4493765"/>
                <a:ext cx="854263" cy="416641"/>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Thermal</a:t>
                </a:r>
                <a:b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Storage</a:t>
                </a:r>
              </a:p>
            </p:txBody>
          </p:sp>
          <p:sp>
            <p:nvSpPr>
              <p:cNvPr id="57" name="Rounded Rectangle 56"/>
              <p:cNvSpPr/>
              <p:nvPr/>
            </p:nvSpPr>
            <p:spPr>
              <a:xfrm>
                <a:off x="7675824" y="4491739"/>
                <a:ext cx="1158107" cy="811918"/>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Water </a:t>
                </a:r>
                <a:br>
                  <a:rPr kumimoji="0" lang="en-US" sz="1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Source </a:t>
                </a:r>
                <a:br>
                  <a:rPr kumimoji="0" lang="en-US" sz="1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Heat Exchangers</a:t>
                </a:r>
              </a:p>
            </p:txBody>
          </p:sp>
        </p:grpSp>
        <p:sp>
          <p:nvSpPr>
            <p:cNvPr id="31" name="Up-Down Arrow 30"/>
            <p:cNvSpPr/>
            <p:nvPr/>
          </p:nvSpPr>
          <p:spPr>
            <a:xfrm>
              <a:off x="8370039" y="3957917"/>
              <a:ext cx="99820" cy="529965"/>
            </a:xfrm>
            <a:prstGeom prst="upDownArrow">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9" name="Up-Down Arrow 28"/>
            <p:cNvSpPr/>
            <p:nvPr/>
          </p:nvSpPr>
          <p:spPr>
            <a:xfrm>
              <a:off x="5913386" y="3954988"/>
              <a:ext cx="89093" cy="529965"/>
            </a:xfrm>
            <a:prstGeom prst="upDownArrow">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6" name="Up-Down Arrow 55"/>
            <p:cNvSpPr/>
            <p:nvPr/>
          </p:nvSpPr>
          <p:spPr>
            <a:xfrm>
              <a:off x="3900289" y="3946925"/>
              <a:ext cx="89093" cy="529965"/>
            </a:xfrm>
            <a:prstGeom prst="upDownArrow">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pic>
        <p:nvPicPr>
          <p:cNvPr id="2" name="Picture 2" descr="SGT Logo Inside Green SGT">
            <a:extLst>
              <a:ext uri="{FF2B5EF4-FFF2-40B4-BE49-F238E27FC236}">
                <a16:creationId xmlns:a16="http://schemas.microsoft.com/office/drawing/2014/main" id="{2ACF1978-459D-482D-F6D4-7024C03C04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07467" y="6086127"/>
            <a:ext cx="591299" cy="406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031DB061-E7BC-9364-35D1-633EF8D603FC}"/>
              </a:ext>
            </a:extLst>
          </p:cNvPr>
          <p:cNvPicPr>
            <a:picLocks noChangeAspect="1"/>
          </p:cNvPicPr>
          <p:nvPr/>
        </p:nvPicPr>
        <p:blipFill>
          <a:blip r:embed="rId4"/>
          <a:stretch>
            <a:fillRect/>
          </a:stretch>
        </p:blipFill>
        <p:spPr>
          <a:xfrm>
            <a:off x="10580294" y="6132949"/>
            <a:ext cx="838331" cy="270711"/>
          </a:xfrm>
          <a:prstGeom prst="rect">
            <a:avLst/>
          </a:prstGeom>
        </p:spPr>
      </p:pic>
    </p:spTree>
    <p:extLst>
      <p:ext uri="{BB962C8B-B14F-4D97-AF65-F5344CB8AC3E}">
        <p14:creationId xmlns:p14="http://schemas.microsoft.com/office/powerpoint/2010/main" val="3787276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AB078-842B-0FF3-44DA-D989A79F23D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951AD0D-F55B-DF6B-C193-615DF79B964E}"/>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51681A6-C7C0-43A9-A019-3267D3F9D512}" type="slidenum">
              <a:rPr lang="en-US" smtClean="0"/>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104B60A1-2B3F-AEB0-72E7-DF118475ED93}"/>
              </a:ext>
            </a:extLst>
          </p:cNvPr>
          <p:cNvSpPr txBox="1"/>
          <p:nvPr/>
        </p:nvSpPr>
        <p:spPr>
          <a:xfrm>
            <a:off x="6142049" y="2122027"/>
            <a:ext cx="6329834" cy="276998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 GreyEdge Group</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solidFill>
                  <a:prstClr val="black"/>
                </a:solidFill>
                <a:latin typeface="Arial" panose="020B0604020202020204" pitchFamily="34" charset="0"/>
                <a:cs typeface="Arial" panose="020B0604020202020204" pitchFamily="34" charset="0"/>
              </a:rPr>
              <a:t>and</a:t>
            </a:r>
            <a:endPar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Sound Geothermal Corporation</a:t>
            </a:r>
            <a:endParaRPr lang="en-US" sz="2400" b="1" dirty="0">
              <a:solidFill>
                <a:prstClr val="black"/>
              </a:solidFill>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Cary Smith</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002060"/>
                </a:solidFill>
                <a:latin typeface="Arial" panose="020B0604020202020204" pitchFamily="34" charset="0"/>
                <a:cs typeface="Arial" panose="020B0604020202020204" pitchFamily="34" charset="0"/>
                <a:hlinkClick r:id="rId2"/>
              </a:rPr>
              <a:t>dcsmith@soundgt.com</a:t>
            </a:r>
            <a:endParaRPr lang="en-US" sz="1600" b="1" dirty="0">
              <a:solidFill>
                <a:srgbClr val="002060"/>
              </a:solidFill>
              <a:latin typeface="Arial" panose="020B0604020202020204" pitchFamily="34" charset="0"/>
              <a:cs typeface="Arial" panose="020B0604020202020204" pitchFamily="34" charset="0"/>
            </a:endParaRPr>
          </a:p>
          <a:p>
            <a:pPr algn="ctr"/>
            <a:r>
              <a:rPr lang="en-US" sz="1600" b="1" dirty="0">
                <a:solidFill>
                  <a:srgbClr val="002060"/>
                </a:solidFill>
                <a:latin typeface="Arial" panose="020B0604020202020204" pitchFamily="34" charset="0"/>
                <a:cs typeface="Arial" panose="020B0604020202020204" pitchFamily="34" charset="0"/>
                <a:hlinkClick r:id="rId3"/>
              </a:rPr>
              <a:t>csmith@greyedgegroup.com</a:t>
            </a:r>
            <a:endParaRPr lang="en-US" sz="1600" b="1" dirty="0">
              <a:solidFill>
                <a:srgbClr val="002060"/>
              </a:solidFill>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2" descr="SGT Logo Inside Green SGT">
            <a:extLst>
              <a:ext uri="{FF2B5EF4-FFF2-40B4-BE49-F238E27FC236}">
                <a16:creationId xmlns:a16="http://schemas.microsoft.com/office/drawing/2014/main" id="{736C7B32-9DB1-66F4-EB91-D53DF3ADA6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98165" y="5039710"/>
            <a:ext cx="895855" cy="61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DEDF907A-4B72-DF7C-60E0-802235488A71}"/>
              </a:ext>
            </a:extLst>
          </p:cNvPr>
          <p:cNvPicPr>
            <a:picLocks noChangeAspect="1"/>
          </p:cNvPicPr>
          <p:nvPr/>
        </p:nvPicPr>
        <p:blipFill>
          <a:blip r:embed="rId5"/>
          <a:stretch>
            <a:fillRect/>
          </a:stretch>
        </p:blipFill>
        <p:spPr>
          <a:xfrm>
            <a:off x="9000602" y="5092770"/>
            <a:ext cx="1547268" cy="499638"/>
          </a:xfrm>
          <a:prstGeom prst="rect">
            <a:avLst/>
          </a:prstGeom>
        </p:spPr>
      </p:pic>
      <p:sp>
        <p:nvSpPr>
          <p:cNvPr id="6" name="TextBox 5">
            <a:extLst>
              <a:ext uri="{FF2B5EF4-FFF2-40B4-BE49-F238E27FC236}">
                <a16:creationId xmlns:a16="http://schemas.microsoft.com/office/drawing/2014/main" id="{208632E3-55C2-A708-290F-FE86721B9626}"/>
              </a:ext>
            </a:extLst>
          </p:cNvPr>
          <p:cNvSpPr txBox="1"/>
          <p:nvPr/>
        </p:nvSpPr>
        <p:spPr>
          <a:xfrm>
            <a:off x="2473485" y="532852"/>
            <a:ext cx="6578417" cy="923330"/>
          </a:xfrm>
          <a:prstGeom prst="rect">
            <a:avLst/>
          </a:prstGeom>
          <a:noFill/>
        </p:spPr>
        <p:txBody>
          <a:bodyPr wrap="square" rtlCol="0">
            <a:spAutoFit/>
          </a:bodyPr>
          <a:lstStyle/>
          <a:p>
            <a:pPr algn="ctr"/>
            <a:r>
              <a:rPr lang="en-US" sz="5400" b="1" dirty="0"/>
              <a:t>Questions?</a:t>
            </a:r>
          </a:p>
        </p:txBody>
      </p:sp>
      <p:pic>
        <p:nvPicPr>
          <p:cNvPr id="7" name="Picture 6">
            <a:extLst>
              <a:ext uri="{FF2B5EF4-FFF2-40B4-BE49-F238E27FC236}">
                <a16:creationId xmlns:a16="http://schemas.microsoft.com/office/drawing/2014/main" id="{9D20B657-B9A5-3228-79AC-531E69DF744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264002" y="1921273"/>
            <a:ext cx="6572571" cy="3697071"/>
          </a:xfrm>
          <a:prstGeom prst="rect">
            <a:avLst/>
          </a:prstGeom>
        </p:spPr>
      </p:pic>
    </p:spTree>
    <p:extLst>
      <p:ext uri="{BB962C8B-B14F-4D97-AF65-F5344CB8AC3E}">
        <p14:creationId xmlns:p14="http://schemas.microsoft.com/office/powerpoint/2010/main" val="17905538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A2A9-06EF-F4C4-2E84-40F5CE9DB598}"/>
              </a:ext>
            </a:extLst>
          </p:cNvPr>
          <p:cNvSpPr>
            <a:spLocks noGrp="1"/>
          </p:cNvSpPr>
          <p:nvPr>
            <p:ph type="title"/>
          </p:nvPr>
        </p:nvSpPr>
        <p:spPr/>
        <p:txBody>
          <a:bodyPr/>
          <a:lstStyle/>
          <a:p>
            <a:r>
              <a:rPr lang="en-US" dirty="0"/>
              <a:t>Auxiliary Slides Not Used </a:t>
            </a:r>
          </a:p>
        </p:txBody>
      </p:sp>
      <p:sp>
        <p:nvSpPr>
          <p:cNvPr id="3" name="Content Placeholder 2">
            <a:extLst>
              <a:ext uri="{FF2B5EF4-FFF2-40B4-BE49-F238E27FC236}">
                <a16:creationId xmlns:a16="http://schemas.microsoft.com/office/drawing/2014/main" id="{DC327952-BCD9-9D69-502C-EEF59106030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3625293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104A5E4-B5FF-380A-32BC-A50825E2E49C}"/>
              </a:ext>
            </a:extLst>
          </p:cNvPr>
          <p:cNvPicPr>
            <a:picLocks noChangeAspect="1"/>
          </p:cNvPicPr>
          <p:nvPr/>
        </p:nvPicPr>
        <p:blipFill>
          <a:blip r:embed="rId2"/>
          <a:stretch>
            <a:fillRect/>
          </a:stretch>
        </p:blipFill>
        <p:spPr>
          <a:xfrm>
            <a:off x="0" y="314087"/>
            <a:ext cx="12192000" cy="6229826"/>
          </a:xfrm>
          <a:prstGeom prst="rect">
            <a:avLst/>
          </a:prstGeom>
        </p:spPr>
      </p:pic>
    </p:spTree>
    <p:extLst>
      <p:ext uri="{BB962C8B-B14F-4D97-AF65-F5344CB8AC3E}">
        <p14:creationId xmlns:p14="http://schemas.microsoft.com/office/powerpoint/2010/main" val="1791104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0AA8FA-ACDB-4BAB-96DB-47DE44D9CA5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CCAB4E8-2111-4900-81B6-37BC3F61B86B}" type="slidenum">
              <a:rPr kumimoji="0" lang="en-US" sz="1000" b="0" i="0" u="none" strike="noStrike" kern="1200" cap="none" spc="0" normalizeH="0" baseline="0" noProof="0" smtClean="0">
                <a:ln>
                  <a:noFill/>
                </a:ln>
                <a:solidFill>
                  <a:prstClr val="black">
                    <a:tint val="75000"/>
                  </a:prstClr>
                </a:solidFill>
                <a:effectLst/>
                <a:uLnTx/>
                <a:uFillTx/>
                <a:latin typeface="Tw Cen MT" panose="020B06020201040206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000" b="0" i="0" u="none" strike="noStrike" kern="1200" cap="none" spc="0" normalizeH="0" baseline="0" noProof="0" dirty="0">
              <a:ln>
                <a:noFill/>
              </a:ln>
              <a:solidFill>
                <a:prstClr val="black">
                  <a:tint val="75000"/>
                </a:prstClr>
              </a:solidFill>
              <a:effectLst/>
              <a:uLnTx/>
              <a:uFillTx/>
              <a:latin typeface="Tw Cen MT" panose="020B0602020104020603"/>
              <a:ea typeface="+mn-ea"/>
              <a:cs typeface="+mn-cs"/>
            </a:endParaRPr>
          </a:p>
        </p:txBody>
      </p:sp>
      <p:sp>
        <p:nvSpPr>
          <p:cNvPr id="4" name="Date Placeholder 3">
            <a:extLst>
              <a:ext uri="{FF2B5EF4-FFF2-40B4-BE49-F238E27FC236}">
                <a16:creationId xmlns:a16="http://schemas.microsoft.com/office/drawing/2014/main" id="{7D3524B8-CD6B-4C3C-9A76-103B13C24252}"/>
              </a:ext>
            </a:extLst>
          </p:cNvPr>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FD42E6-BD40-448D-8FD0-6F421D4AA738}" type="datetime1">
              <a:rPr kumimoji="0" lang="en-US" sz="1000" b="0" i="0" u="none" strike="noStrike" kern="1200" cap="none" spc="0" normalizeH="0" baseline="0" noProof="0" smtClean="0">
                <a:ln>
                  <a:noFill/>
                </a:ln>
                <a:solidFill>
                  <a:prstClr val="black">
                    <a:tint val="75000"/>
                  </a:prstClr>
                </a:solidFill>
                <a:effectLst/>
                <a:uLnTx/>
                <a:uFillTx/>
                <a:latin typeface="Tw Cen MT" panose="020B06020201040206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1/28/2026</a:t>
            </a:fld>
            <a:endParaRPr kumimoji="0" lang="en-US" sz="1000" b="0" i="0" u="none" strike="noStrike" kern="1200" cap="none" spc="0" normalizeH="0" baseline="0" noProof="0" dirty="0">
              <a:ln>
                <a:noFill/>
              </a:ln>
              <a:solidFill>
                <a:prstClr val="black">
                  <a:tint val="75000"/>
                </a:prstClr>
              </a:solidFill>
              <a:effectLst/>
              <a:uLnTx/>
              <a:uFillTx/>
              <a:latin typeface="Tw Cen MT" panose="020B0602020104020603"/>
              <a:ea typeface="+mn-ea"/>
              <a:cs typeface="+mn-cs"/>
            </a:endParaRPr>
          </a:p>
        </p:txBody>
      </p:sp>
      <p:sp>
        <p:nvSpPr>
          <p:cNvPr id="5" name="Footer Placeholder 4">
            <a:extLst>
              <a:ext uri="{FF2B5EF4-FFF2-40B4-BE49-F238E27FC236}">
                <a16:creationId xmlns:a16="http://schemas.microsoft.com/office/drawing/2014/main" id="{D3309531-6222-4AFE-BC79-F334AB076E02}"/>
              </a:ext>
            </a:extLst>
          </p:cNvPr>
          <p:cNvSpPr>
            <a:spLocks noGrp="1"/>
          </p:cNvSpPr>
          <p:nvPr>
            <p:ph type="ftr" sz="quarter" idx="11"/>
          </p:nvPr>
        </p:nvSpPr>
        <p:spPr>
          <a:xfrm>
            <a:off x="443769" y="6179578"/>
            <a:ext cx="6753443" cy="365125"/>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glow rad="101600">
                    <a:prstClr val="white">
                      <a:lumMod val="85000"/>
                      <a:alpha val="60000"/>
                    </a:prstClr>
                  </a:glow>
                  <a:outerShdw blurRad="50800" dist="38100" dir="5400000" algn="t">
                    <a:srgbClr val="000000">
                      <a:alpha val="40000"/>
                    </a:srgbClr>
                  </a:outerShdw>
                </a:effectLst>
                <a:uLnTx/>
                <a:uFillTx/>
                <a:latin typeface="Calibri" panose="020F0502020204030204" pitchFamily="34" charset="0"/>
                <a:ea typeface="Calibri" panose="020F0502020204030204" pitchFamily="34" charset="0"/>
                <a:cs typeface="Times New Roman" panose="02020603050405020304" pitchFamily="18" charset="0"/>
              </a:rPr>
              <a:t>Powered by R-718 Technology</a:t>
            </a:r>
            <a:r>
              <a:rPr kumimoji="0" lang="en-US" sz="1600" b="0" i="0" u="none" strike="noStrike" kern="1200" cap="none" spc="0" normalizeH="0" baseline="30000" noProof="0" dirty="0">
                <a:ln>
                  <a:noFill/>
                </a:ln>
                <a:solidFill>
                  <a:srgbClr val="000000"/>
                </a:solidFill>
                <a:effectLst>
                  <a:glow rad="101600">
                    <a:prstClr val="white">
                      <a:lumMod val="85000"/>
                      <a:alpha val="60000"/>
                    </a:prstClr>
                  </a:glow>
                  <a:outerShdw blurRad="50800" dist="38100" dir="5400000" algn="t">
                    <a:srgbClr val="000000">
                      <a:alpha val="40000"/>
                    </a:srgbClr>
                  </a:outerShdw>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1600" b="0" i="0" u="none" strike="noStrike" kern="1200" cap="none" spc="0" normalizeH="0" baseline="0" noProof="0" dirty="0">
                <a:ln>
                  <a:noFill/>
                </a:ln>
                <a:solidFill>
                  <a:srgbClr val="000000"/>
                </a:solidFill>
                <a:effectLst>
                  <a:glow rad="101600">
                    <a:prstClr val="white">
                      <a:lumMod val="85000"/>
                      <a:alpha val="60000"/>
                    </a:prstClr>
                  </a:glow>
                  <a:outerShdw blurRad="50800" dist="38100" dir="5400000" algn="t">
                    <a:srgbClr val="000000">
                      <a:alpha val="40000"/>
                    </a:srgbClr>
                  </a:outerShdw>
                </a:effectLst>
                <a:uLnTx/>
                <a:uFillTx/>
                <a:latin typeface="Calibri" panose="020F0502020204030204" pitchFamily="34" charset="0"/>
                <a:ea typeface="Calibri" panose="020F0502020204030204" pitchFamily="34" charset="0"/>
                <a:cs typeface="Times New Roman" panose="02020603050405020304" pitchFamily="18" charset="0"/>
              </a:rPr>
              <a:t> - Courtesy of The GreyEdge Group</a:t>
            </a:r>
            <a:r>
              <a:rPr kumimoji="0" lang="en-US" sz="1600" b="0" i="0" u="none" strike="noStrike" kern="1200" cap="none" spc="0" normalizeH="0" baseline="30000" noProof="0" dirty="0">
                <a:ln>
                  <a:noFill/>
                </a:ln>
                <a:solidFill>
                  <a:srgbClr val="000000"/>
                </a:solidFill>
                <a:effectLst>
                  <a:glow rad="101600">
                    <a:prstClr val="white">
                      <a:lumMod val="85000"/>
                      <a:alpha val="60000"/>
                    </a:prstClr>
                  </a:glow>
                  <a:outerShdw blurRad="50800" dist="38100" dir="5400000" algn="t">
                    <a:srgbClr val="000000">
                      <a:alpha val="40000"/>
                    </a:srgbClr>
                  </a:outerShdw>
                </a:effectLst>
                <a:uLnTx/>
                <a:uFillTx/>
                <a:latin typeface="Calibri" panose="020F0502020204030204" pitchFamily="34" charset="0"/>
                <a:ea typeface="Calibri" panose="020F0502020204030204" pitchFamily="34" charset="0"/>
                <a:cs typeface="Times New Roman" panose="02020603050405020304" pitchFamily="18" charset="0"/>
              </a:rPr>
              <a:t>©</a:t>
            </a:r>
            <a:r>
              <a:rPr kumimoji="0" lang="en-US" sz="1600" b="0" i="0" u="none" strike="noStrike" kern="1200" cap="none" spc="0" normalizeH="0" baseline="0" noProof="0" dirty="0">
                <a:ln>
                  <a:noFill/>
                </a:ln>
                <a:solidFill>
                  <a:srgbClr val="000000"/>
                </a:solidFill>
                <a:effectLst>
                  <a:glow rad="101600">
                    <a:prstClr val="white">
                      <a:lumMod val="85000"/>
                      <a:alpha val="60000"/>
                    </a:prstClr>
                  </a:glow>
                  <a:outerShdw blurRad="50800" dist="38100" dir="5400000" algn="t">
                    <a:srgbClr val="000000">
                      <a:alpha val="40000"/>
                    </a:srgbClr>
                  </a:outerShdw>
                </a:effectLst>
                <a:uLnTx/>
                <a:uFillTx/>
                <a:latin typeface="Calibri" panose="020F0502020204030204" pitchFamily="34" charset="0"/>
                <a:ea typeface="Calibri" panose="020F0502020204030204" pitchFamily="34" charset="0"/>
                <a:cs typeface="Times New Roman" panose="02020603050405020304" pitchFamily="18" charset="0"/>
              </a:rPr>
              <a:t> &amp; IGSHPA</a:t>
            </a:r>
            <a:endPar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Tw Cen MT" panose="020B0602020104020603"/>
              <a:ea typeface="+mn-ea"/>
              <a:cs typeface="+mn-cs"/>
            </a:endParaRPr>
          </a:p>
        </p:txBody>
      </p:sp>
      <p:sp>
        <p:nvSpPr>
          <p:cNvPr id="6" name="TextBox 5">
            <a:extLst>
              <a:ext uri="{FF2B5EF4-FFF2-40B4-BE49-F238E27FC236}">
                <a16:creationId xmlns:a16="http://schemas.microsoft.com/office/drawing/2014/main" id="{19E5CE7C-A7DE-4450-B4AD-8382B88E73EE}"/>
              </a:ext>
            </a:extLst>
          </p:cNvPr>
          <p:cNvSpPr txBox="1"/>
          <p:nvPr/>
        </p:nvSpPr>
        <p:spPr>
          <a:xfrm>
            <a:off x="2853369" y="298143"/>
            <a:ext cx="6191479"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Tw Cen MT" panose="020B0602020104020603"/>
                <a:ea typeface="+mn-ea"/>
                <a:cs typeface="+mn-cs"/>
              </a:rPr>
              <a:t>Result and Rewards</a:t>
            </a:r>
          </a:p>
        </p:txBody>
      </p:sp>
      <p:sp>
        <p:nvSpPr>
          <p:cNvPr id="7" name="TextBox 6">
            <a:extLst>
              <a:ext uri="{FF2B5EF4-FFF2-40B4-BE49-F238E27FC236}">
                <a16:creationId xmlns:a16="http://schemas.microsoft.com/office/drawing/2014/main" id="{F4871A77-6CEE-4BA6-B3F6-FC426D8FE878}"/>
              </a:ext>
            </a:extLst>
          </p:cNvPr>
          <p:cNvSpPr txBox="1"/>
          <p:nvPr/>
        </p:nvSpPr>
        <p:spPr>
          <a:xfrm>
            <a:off x="646206" y="1121248"/>
            <a:ext cx="8923643" cy="397031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Tw Cen MT" panose="020B0602020104020603"/>
                <a:ea typeface="+mn-ea"/>
                <a:cs typeface="+mn-cs"/>
              </a:rPr>
              <a:t>Direct greenhouse gas emissions reduced by 31% since the baseline year of 2007</a:t>
            </a:r>
          </a:p>
          <a:p>
            <a:pPr marL="457200" marR="0" lvl="1"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Tw Cen MT" panose="020B0602020104020603"/>
                <a:ea typeface="+mn-ea"/>
                <a:cs typeface="+mn-cs"/>
              </a:rPr>
              <a:t>(Even with the addition of 375,210 s.f. – (~15% increase)</a:t>
            </a:r>
          </a:p>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Tw Cen MT" panose="020B0602020104020603"/>
                <a:ea typeface="+mn-ea"/>
                <a:cs typeface="+mn-cs"/>
              </a:rPr>
              <a:t>Electricity Consumption down by 29%</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Tw Cen MT" panose="020B0602020104020603"/>
                <a:ea typeface="+mn-ea"/>
                <a:cs typeface="+mn-cs"/>
              </a:rPr>
              <a:t>Natural gas consumption down by 33%</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Tw Cen MT" panose="020B0602020104020603"/>
                <a:ea typeface="+mn-ea"/>
                <a:cs typeface="+mn-cs"/>
              </a:rPr>
              <a:t>Energy cost down ~40%</a:t>
            </a:r>
          </a:p>
        </p:txBody>
      </p:sp>
      <p:pic>
        <p:nvPicPr>
          <p:cNvPr id="8" name="Picture 7">
            <a:extLst>
              <a:ext uri="{FF2B5EF4-FFF2-40B4-BE49-F238E27FC236}">
                <a16:creationId xmlns:a16="http://schemas.microsoft.com/office/drawing/2014/main" id="{8498E17E-C238-4AF6-9940-E84D1669A0AE}"/>
              </a:ext>
            </a:extLst>
          </p:cNvPr>
          <p:cNvPicPr>
            <a:picLocks noChangeAspect="1"/>
          </p:cNvPicPr>
          <p:nvPr/>
        </p:nvPicPr>
        <p:blipFill>
          <a:blip r:embed="rId2"/>
          <a:stretch>
            <a:fillRect/>
          </a:stretch>
        </p:blipFill>
        <p:spPr>
          <a:xfrm>
            <a:off x="6386052" y="2416123"/>
            <a:ext cx="5689143" cy="3483232"/>
          </a:xfrm>
          <a:prstGeom prst="rect">
            <a:avLst/>
          </a:prstGeom>
        </p:spPr>
      </p:pic>
    </p:spTree>
    <p:extLst>
      <p:ext uri="{BB962C8B-B14F-4D97-AF65-F5344CB8AC3E}">
        <p14:creationId xmlns:p14="http://schemas.microsoft.com/office/powerpoint/2010/main" val="17371443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4107C-7CF3-446E-90ED-5F75C204EFC8}"/>
              </a:ext>
            </a:extLst>
          </p:cNvPr>
          <p:cNvSpPr>
            <a:spLocks noGrp="1"/>
          </p:cNvSpPr>
          <p:nvPr>
            <p:ph type="title"/>
          </p:nvPr>
        </p:nvSpPr>
        <p:spPr>
          <a:xfrm>
            <a:off x="1331843" y="404883"/>
            <a:ext cx="10515600" cy="711648"/>
          </a:xfrm>
        </p:spPr>
        <p:txBody>
          <a:bodyPr>
            <a:normAutofit fontScale="90000"/>
          </a:bodyPr>
          <a:lstStyle/>
          <a:p>
            <a:r>
              <a:rPr lang="en-US" dirty="0"/>
              <a:t>Grid Enabled Networks – Type 5 and Up</a:t>
            </a:r>
            <a:br>
              <a:rPr lang="en-US" dirty="0"/>
            </a:br>
            <a:r>
              <a:rPr lang="en-US" sz="1600" dirty="0"/>
              <a:t>(DOE Project DE-FOA-0002291 May 2020)</a:t>
            </a:r>
          </a:p>
        </p:txBody>
      </p:sp>
      <p:pic>
        <p:nvPicPr>
          <p:cNvPr id="4" name="Picture 3">
            <a:extLst>
              <a:ext uri="{FF2B5EF4-FFF2-40B4-BE49-F238E27FC236}">
                <a16:creationId xmlns:a16="http://schemas.microsoft.com/office/drawing/2014/main" id="{CC0EEEB2-362B-47AE-A36C-EA94821FE300}"/>
              </a:ext>
            </a:extLst>
          </p:cNvPr>
          <p:cNvPicPr/>
          <p:nvPr/>
        </p:nvPicPr>
        <p:blipFill>
          <a:blip r:embed="rId2"/>
          <a:stretch>
            <a:fillRect/>
          </a:stretch>
        </p:blipFill>
        <p:spPr>
          <a:xfrm>
            <a:off x="944216" y="1311966"/>
            <a:ext cx="6689035" cy="4929808"/>
          </a:xfrm>
          <a:prstGeom prst="rect">
            <a:avLst/>
          </a:prstGeom>
        </p:spPr>
      </p:pic>
      <p:pic>
        <p:nvPicPr>
          <p:cNvPr id="7" name="Picture 6">
            <a:extLst>
              <a:ext uri="{FF2B5EF4-FFF2-40B4-BE49-F238E27FC236}">
                <a16:creationId xmlns:a16="http://schemas.microsoft.com/office/drawing/2014/main" id="{8D1DE2AD-6200-433C-9037-B196B33F8131}"/>
              </a:ext>
            </a:extLst>
          </p:cNvPr>
          <p:cNvPicPr>
            <a:picLocks noChangeAspect="1"/>
          </p:cNvPicPr>
          <p:nvPr/>
        </p:nvPicPr>
        <p:blipFill>
          <a:blip r:embed="rId3"/>
          <a:stretch>
            <a:fillRect/>
          </a:stretch>
        </p:blipFill>
        <p:spPr>
          <a:xfrm>
            <a:off x="7721524" y="1222514"/>
            <a:ext cx="4470476" cy="2673626"/>
          </a:xfrm>
          <a:prstGeom prst="rect">
            <a:avLst/>
          </a:prstGeom>
        </p:spPr>
      </p:pic>
      <p:sp>
        <p:nvSpPr>
          <p:cNvPr id="8" name="TextBox 7">
            <a:extLst>
              <a:ext uri="{FF2B5EF4-FFF2-40B4-BE49-F238E27FC236}">
                <a16:creationId xmlns:a16="http://schemas.microsoft.com/office/drawing/2014/main" id="{78AD8888-BDD5-45F8-AEC9-0672480FE1F9}"/>
              </a:ext>
            </a:extLst>
          </p:cNvPr>
          <p:cNvSpPr txBox="1"/>
          <p:nvPr/>
        </p:nvSpPr>
        <p:spPr>
          <a:xfrm>
            <a:off x="7931426" y="4313583"/>
            <a:ext cx="3916017" cy="20313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DOE Grid Enabled Network:</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illustration (left) suggests that the full integration of smart devices, building envelope improvement as well as the impact of incorporating the improvements AT SCALE is the heart of the demonstration. </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8/2/2020</a:t>
            </a: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Footer Placeholder 8"/>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COPYRIGHT 2020 THE GREYEDGE GROUP, LLC</a:t>
            </a: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042CF76-7DE5-4B12-AF3A-A1E98A37947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97957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0AE5EE057BC9F43B26E08BE3C93F443" ma:contentTypeVersion="14" ma:contentTypeDescription="Create a new document." ma:contentTypeScope="" ma:versionID="4bc4c357b05fc27a2c4fd2ed5f0caf66">
  <xsd:schema xmlns:xsd="http://www.w3.org/2001/XMLSchema" xmlns:xs="http://www.w3.org/2001/XMLSchema" xmlns:p="http://schemas.microsoft.com/office/2006/metadata/properties" xmlns:ns2="f63aac96-6c22-4acb-bcd1-d671912bd8aa" xmlns:ns3="ab10ce27-33c4-4ede-8105-a3cd7fc3dcd0" targetNamespace="http://schemas.microsoft.com/office/2006/metadata/properties" ma:root="true" ma:fieldsID="39b62f2764437405437cdea7525b1e45" ns2:_="" ns3:_="">
    <xsd:import namespace="f63aac96-6c22-4acb-bcd1-d671912bd8aa"/>
    <xsd:import namespace="ab10ce27-33c4-4ede-8105-a3cd7fc3dcd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3:TaxCatchAll" minOccurs="0"/>
                <xsd:element ref="ns2:MediaServiceOCR" minOccurs="0"/>
                <xsd:element ref="ns2:Date_x002d_Time"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aac96-6c22-4acb-bcd1-d671912bd8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f13e8058-98c7-47b1-9de9-5c0c3ae8178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Date_x002d_Time" ma:index="20" nillable="true" ma:displayName="Date-Time" ma:format="DateTime" ma:internalName="Date_x002d_Time">
      <xsd:simpleType>
        <xsd:restriction base="dms:DateTime"/>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10ce27-33c4-4ede-8105-a3cd7fc3dcd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118888e-c2cf-453c-b2ee-45c9ded50370}" ma:internalName="TaxCatchAll" ma:showField="CatchAllData" ma:web="ab10ce27-33c4-4ede-8105-a3cd7fc3dcd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ate_x002d_Time xmlns="f63aac96-6c22-4acb-bcd1-d671912bd8aa" xsi:nil="true"/>
    <lcf76f155ced4ddcb4097134ff3c332f xmlns="f63aac96-6c22-4acb-bcd1-d671912bd8aa">
      <Terms xmlns="http://schemas.microsoft.com/office/infopath/2007/PartnerControls"/>
    </lcf76f155ced4ddcb4097134ff3c332f>
    <TaxCatchAll xmlns="ab10ce27-33c4-4ede-8105-a3cd7fc3dcd0" xsi:nil="true"/>
  </documentManagement>
</p:properties>
</file>

<file path=customXml/itemProps1.xml><?xml version="1.0" encoding="utf-8"?>
<ds:datastoreItem xmlns:ds="http://schemas.openxmlformats.org/officeDocument/2006/customXml" ds:itemID="{E1FC858B-E42A-48DB-8525-2A2493111F27}"/>
</file>

<file path=customXml/itemProps2.xml><?xml version="1.0" encoding="utf-8"?>
<ds:datastoreItem xmlns:ds="http://schemas.openxmlformats.org/officeDocument/2006/customXml" ds:itemID="{D795C786-A90A-4AA3-AFDF-C5A51FB0D8ED}"/>
</file>

<file path=customXml/itemProps3.xml><?xml version="1.0" encoding="utf-8"?>
<ds:datastoreItem xmlns:ds="http://schemas.openxmlformats.org/officeDocument/2006/customXml" ds:itemID="{F8A0E83F-98F3-41ED-8A0E-EF8D7988E346}"/>
</file>

<file path=docProps/app.xml><?xml version="1.0" encoding="utf-8"?>
<Properties xmlns="http://schemas.openxmlformats.org/officeDocument/2006/extended-properties" xmlns:vt="http://schemas.openxmlformats.org/officeDocument/2006/docPropsVTypes">
  <TotalTime>653</TotalTime>
  <Words>1907</Words>
  <Application>Microsoft Office PowerPoint</Application>
  <PresentationFormat>Widescreen</PresentationFormat>
  <Paragraphs>248</Paragraphs>
  <Slides>23</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Aptos Display</vt:lpstr>
      <vt:lpstr>Arial</vt:lpstr>
      <vt:lpstr>Calibri</vt:lpstr>
      <vt:lpstr>Proxima Nova Cond</vt:lpstr>
      <vt:lpstr>Tw Cen MT</vt:lpstr>
      <vt:lpstr>Office Theme</vt:lpstr>
      <vt:lpstr>PowerPoint Presentation</vt:lpstr>
      <vt:lpstr>PowerPoint Presentation</vt:lpstr>
      <vt:lpstr>Ambient Temperature Loop (ATL)</vt:lpstr>
      <vt:lpstr>What is the difference between a Central Loop and an Ambient Temperature Loop(ATL)? </vt:lpstr>
      <vt:lpstr>Colorado Mesa University Total Connected Load </vt:lpstr>
      <vt:lpstr>Part load analysis is your friend </vt:lpstr>
      <vt:lpstr>Part Load Analysis, The core of DESIGN of an ATL</vt:lpstr>
      <vt:lpstr>PowerPoint Presentation</vt:lpstr>
      <vt:lpstr>PowerPoint Presentation</vt:lpstr>
      <vt:lpstr>PowerPoint Presentation</vt:lpstr>
      <vt:lpstr>Borefield Use Changes From Sink/Source to Thermal Storage</vt:lpstr>
      <vt:lpstr>Thermal Storage Test – Volumetric Heat Capacity</vt:lpstr>
      <vt:lpstr>Reduce Carbon Footprint   </vt:lpstr>
      <vt:lpstr>Reduce Annual Utility Spend </vt:lpstr>
      <vt:lpstr>What we learned -1: </vt:lpstr>
      <vt:lpstr>PowerPoint Presentation</vt:lpstr>
      <vt:lpstr>PowerPoint Presentation</vt:lpstr>
      <vt:lpstr>PowerPoint Presentation</vt:lpstr>
      <vt:lpstr>PowerPoint Presentation</vt:lpstr>
      <vt:lpstr>Auxiliary Slides Not Used </vt:lpstr>
      <vt:lpstr>PowerPoint Presentation</vt:lpstr>
      <vt:lpstr>PowerPoint Presentation</vt:lpstr>
      <vt:lpstr>Grid Enabled Networks – Type 5 and Up (DOE Project DE-FOA-0002291 May 2020)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Cary Smith</dc:creator>
  <cp:lastModifiedBy>Cary Smith</cp:lastModifiedBy>
  <cp:revision>4</cp:revision>
  <dcterms:created xsi:type="dcterms:W3CDTF">2026-01-09T18:54:57Z</dcterms:created>
  <dcterms:modified xsi:type="dcterms:W3CDTF">2026-01-28T19:23:49Z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0x01010020AE5EE057BC9F43B26E08BE3C93F443</vt:lpwstr>
  </property>
</Properties>
</file>