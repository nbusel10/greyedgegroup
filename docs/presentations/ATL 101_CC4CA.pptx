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1085" r:id="rId3"/>
    <p:sldId id="260" r:id="rId4"/>
    <p:sldId id="269" r:id="rId5"/>
    <p:sldId id="1084" r:id="rId6"/>
    <p:sldId id="930" r:id="rId7"/>
    <p:sldId id="932" r:id="rId8"/>
    <p:sldId id="1086" r:id="rId9"/>
    <p:sldId id="262" r:id="rId10"/>
    <p:sldId id="265" r:id="rId11"/>
    <p:sldId id="1088" r:id="rId12"/>
    <p:sldId id="108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15D4F"/>
    <a:srgbClr val="E25858"/>
    <a:srgbClr val="DE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24199" autoAdjust="0"/>
  </p:normalViewPr>
  <p:slideViewPr>
    <p:cSldViewPr snapToGrid="0">
      <p:cViewPr varScale="1">
        <p:scale>
          <a:sx n="108" d="100"/>
          <a:sy n="108" d="100"/>
        </p:scale>
        <p:origin x="13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customXml" Target="../customXml/item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openxmlformats.org/officeDocument/2006/relationships/customXml" Target="../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customXml" Target="../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AAE2E-24C8-4902-9178-C2563D018DFB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8DCD1-54E7-4370-9DF7-A68A71593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81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pump is an energy pump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3003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Cumulative System Load (1,213,572) SF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16 Buildings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Maximum flow 4,800 GPM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Minimum flow 850 GPM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Average flow 3,200 GPM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3500 Tons Capacity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Min temp (winter) 45; max temp (summer) 95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Speak to demand limiting button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6042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9371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304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C8DCD1-54E7-4370-9DF7-A68A71593C8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658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642BF-9B5D-D058-E10E-7505518D5A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4A542B-6843-F0BD-DE21-8C441CC1BB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4D57A-58CE-0F0B-F0D4-54FC97351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F9FD7F-3445-499E-27CD-B64A01556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8F3D6-C26F-B2C5-D575-2969F403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175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6E8CC-7B39-5F09-D267-E1B7EFD6B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A7820-67C7-0318-1C50-504758A35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71A81-B389-EFCE-796C-DC948E1A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5D6A7-0D85-994C-7540-3A1992493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6EF3F-FE2B-B785-6043-95991DE5F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27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9F3EA-9923-A60A-D099-11E2DA407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1953F-A3A0-B008-745F-23ADA51569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7A1F4-7930-20B2-8ECD-7C78B21E9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43B50-2300-6286-8942-229B60BED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45B94-BDF6-A803-73BB-8DDADBBF4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855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948E-2D07-57E9-D1DA-9314C59F8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DD942-BA14-1AD6-B678-0073A4B7C6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F9174-24D2-109A-35F9-287CED076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2E1D45-411B-CBAA-EB88-BE26D293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3E88AE-5D9D-D754-771F-51CAF725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241EA9-FD1D-F028-9176-88E2403DF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21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671EA-4CD8-1C76-465F-E0C4E549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79535-C9E1-3D10-E13B-F20A2A16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166485-AB3C-F072-6A9C-2B95BABF1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000FEC-DC1B-F1E6-98CA-A7D748BBE7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A5A414-BA8A-9B27-9D8F-FA8E3ACBB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F091C6-2792-3581-3CF9-CEFD5A51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AD4DCD-5E3F-837E-3ED1-727CD90BA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6491B4-1101-F4D4-DA71-77664BE5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019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0F01F-8EF0-3730-607B-11F8A0624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375FF-DF01-89F5-7E7F-6AB24A4E6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C6EB50-D613-552C-B94F-99EF319CB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65684E-EFF3-F70F-21DB-481C726B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656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924E4E-A248-B3B1-9282-C541B246C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38593A-D770-7641-F9ED-3FECC6FF4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EB8E5-59A7-E1DC-3506-C3E050E50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6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9CBDE-6A99-6B55-C98D-57DB49546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358FC-60FE-666A-8536-FDF17DB6A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6E7B-8A40-ABF3-E2BC-2205549AD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9D57D-5B83-CA86-072F-3F1F6BA3D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8C18A2-2487-8A38-0665-AF5CD8497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0E602-2BAF-FFED-07FE-8B1E60039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78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DD18B-ECE7-08AD-908A-122D7A3C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CE1243-6EFA-C72B-194F-5AEB8D05B4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E82AD-E575-6B80-CA5F-3085A5024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E8E86-58D2-A09E-1B24-5853217E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69C094-734A-66D1-9EDB-C2E0768FD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898EB-5CD6-F897-6156-C8C99D787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951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7693E-A13E-9DF7-3D6A-9AE89D7B6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0C3EE-C94C-26AE-8C07-B4D050D9F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A9F681-EA03-FB3C-5C5E-DA514F7B6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7B3A5-072F-A40C-905B-B11380625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A671F-1D02-80BA-A2C2-6DCA670D3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92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DC6A7E-12F0-1E5F-36D2-226583BCEF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63DE5-A955-2E19-E4F1-CD8A49D6DA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46B88-DEBA-5A29-C45D-609A5B525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D0189-7355-D3BE-ED12-DA70AED36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AE19B-7330-C966-08BF-942207E14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75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9D930C-74BD-0811-B140-D87ED4DD6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40CC7-D6B1-E6C7-7F3A-BEBEAE47D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D3F60-B80C-28F6-5018-D249A078E9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CBC49B-6271-4DD8-BE09-F0232EA66663}" type="datetimeFigureOut">
              <a:rPr lang="en-US" smtClean="0"/>
              <a:t>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07D29-1357-3289-D359-6EE39DBFDA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85A6F-DAE8-0AB1-7BE5-3D1B55BB2A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4B098-E0EB-40CF-91E7-0B92C55F7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5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9.jfi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151363-7704-D30B-EED4-D66CFBECC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30" r="1637"/>
          <a:stretch/>
        </p:blipFill>
        <p:spPr>
          <a:xfrm>
            <a:off x="1" y="1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78D935-7C67-149C-B299-5B2B39AEB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7713" y="1235472"/>
            <a:ext cx="11346262" cy="898839"/>
          </a:xfrm>
        </p:spPr>
        <p:txBody>
          <a:bodyPr>
            <a:no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Eras Bold ITC" panose="020B0907030504020204" pitchFamily="34" charset="0"/>
              </a:rPr>
              <a:t>Thermal Energy Networks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745090-56BA-A95B-F27F-66F654027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4164" y="2650306"/>
            <a:ext cx="9144000" cy="1655762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Eras Bold ITC" panose="020B0907030504020204" pitchFamily="34" charset="0"/>
              </a:rPr>
              <a:t>The GreyEdge Group</a:t>
            </a:r>
          </a:p>
          <a:p>
            <a:r>
              <a:rPr lang="en-US" sz="3200" dirty="0">
                <a:solidFill>
                  <a:schemeClr val="bg1"/>
                </a:solidFill>
                <a:latin typeface="Eras Bold ITC" panose="020B0907030504020204" pitchFamily="34" charset="0"/>
              </a:rPr>
              <a:t>1/7/25</a:t>
            </a:r>
            <a:endParaRPr lang="en-US" sz="2800" dirty="0">
              <a:solidFill>
                <a:schemeClr val="bg1"/>
              </a:solidFill>
              <a:latin typeface="Eras Bold ITC" panose="020B09070305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5A9E5B-F103-1351-89AB-5CE7923AC432}"/>
              </a:ext>
            </a:extLst>
          </p:cNvPr>
          <p:cNvSpPr txBox="1"/>
          <p:nvPr/>
        </p:nvSpPr>
        <p:spPr>
          <a:xfrm>
            <a:off x="155276" y="6236897"/>
            <a:ext cx="119299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Matt Garlick		801-907-5654	mgarlick@greyedgegroup.com</a:t>
            </a:r>
          </a:p>
        </p:txBody>
      </p:sp>
    </p:spTree>
    <p:extLst>
      <p:ext uri="{BB962C8B-B14F-4D97-AF65-F5344CB8AC3E}">
        <p14:creationId xmlns:p14="http://schemas.microsoft.com/office/powerpoint/2010/main" val="425495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Understand the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AEEA46-C091-E81A-F9EB-E217297DEFCF}"/>
              </a:ext>
            </a:extLst>
          </p:cNvPr>
          <p:cNvSpPr txBox="1"/>
          <p:nvPr/>
        </p:nvSpPr>
        <p:spPr>
          <a:xfrm>
            <a:off x="-138546" y="286327"/>
            <a:ext cx="406400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628073"/>
            <a:ext cx="960582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8A33E-464E-EFB2-582B-98664A0AAC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828" r="30959" b="7690"/>
          <a:stretch/>
        </p:blipFill>
        <p:spPr>
          <a:xfrm>
            <a:off x="3934690" y="728541"/>
            <a:ext cx="5105586" cy="6067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D4C422-E4DF-AA4E-F396-50BC92D96E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54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4074" y="203056"/>
            <a:ext cx="10547926" cy="1028844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The Nature of the Tool- </a:t>
            </a:r>
          </a:p>
          <a:p>
            <a:r>
              <a:rPr lang="en-US" sz="3600" dirty="0">
                <a:latin typeface="Eras Bold ITC" panose="020B0907030504020204" pitchFamily="34" charset="0"/>
              </a:rPr>
              <a:t>Heat Pumps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AEEA46-C091-E81A-F9EB-E217297DEFCF}"/>
              </a:ext>
            </a:extLst>
          </p:cNvPr>
          <p:cNvSpPr txBox="1"/>
          <p:nvPr/>
        </p:nvSpPr>
        <p:spPr>
          <a:xfrm>
            <a:off x="-469349" y="286327"/>
            <a:ext cx="4270511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628073"/>
            <a:ext cx="960582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328C346-5124-662E-A4E0-64E4C6A96F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158" y="2024232"/>
            <a:ext cx="5992484" cy="31512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A1C6EB3-B283-C47B-E514-69891F06BD26}"/>
              </a:ext>
            </a:extLst>
          </p:cNvPr>
          <p:cNvSpPr txBox="1"/>
          <p:nvPr/>
        </p:nvSpPr>
        <p:spPr>
          <a:xfrm>
            <a:off x="1935279" y="2184101"/>
            <a:ext cx="221986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Heat Sources: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Inside Air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Outside Air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Ground Water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Waste Water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Potable Water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Thermal Districts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Thermal Storage</a:t>
            </a:r>
          </a:p>
          <a:p>
            <a:pPr algn="ctr"/>
            <a:r>
              <a:rPr lang="en-US" sz="2000" dirty="0">
                <a:solidFill>
                  <a:srgbClr val="FF0000"/>
                </a:solidFill>
              </a:rPr>
              <a:t>Others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DD00B9-710B-0FB3-072C-63CFBE2C0859}"/>
              </a:ext>
            </a:extLst>
          </p:cNvPr>
          <p:cNvSpPr txBox="1"/>
          <p:nvPr/>
        </p:nvSpPr>
        <p:spPr>
          <a:xfrm>
            <a:off x="9868705" y="2343970"/>
            <a:ext cx="221986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70C0"/>
                </a:solidFill>
              </a:rPr>
              <a:t>Heat Sinks: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Inside Air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Outside Air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Ground Water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Waste Water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Potable Water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Thermal Districts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Thermal Storage</a:t>
            </a:r>
          </a:p>
          <a:p>
            <a:pPr algn="ctr"/>
            <a:r>
              <a:rPr lang="en-US" sz="2000" dirty="0">
                <a:solidFill>
                  <a:srgbClr val="0070C0"/>
                </a:solidFill>
              </a:rPr>
              <a:t>Others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941114-8C1F-A028-E429-DB48ECE8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383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4074" y="203056"/>
            <a:ext cx="10547926" cy="1028844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The Nature of the Tool- </a:t>
            </a:r>
          </a:p>
          <a:p>
            <a:r>
              <a:rPr lang="en-US" sz="3600" dirty="0">
                <a:latin typeface="Eras Bold ITC" panose="020B0907030504020204" pitchFamily="34" charset="0"/>
              </a:rPr>
              <a:t>Building Heat Pump Systems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AEEA46-C091-E81A-F9EB-E217297DEFCF}"/>
              </a:ext>
            </a:extLst>
          </p:cNvPr>
          <p:cNvSpPr txBox="1"/>
          <p:nvPr/>
        </p:nvSpPr>
        <p:spPr>
          <a:xfrm>
            <a:off x="-345057" y="286327"/>
            <a:ext cx="4270511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628073"/>
            <a:ext cx="960582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4F05F4-F04A-C923-72E6-F7D59A0D41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7868" t="17732"/>
          <a:stretch/>
        </p:blipFill>
        <p:spPr>
          <a:xfrm>
            <a:off x="4804913" y="1165904"/>
            <a:ext cx="4030234" cy="56920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0185275-6007-D550-C455-D3B96A108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87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4074" y="203056"/>
            <a:ext cx="10547926" cy="1028844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The Nature of the Tool- </a:t>
            </a:r>
          </a:p>
          <a:p>
            <a:r>
              <a:rPr lang="en-US" sz="3600" dirty="0">
                <a:latin typeface="Eras Bold ITC" panose="020B0907030504020204" pitchFamily="34" charset="0"/>
              </a:rPr>
              <a:t>Thermal Energy Networks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AEEA46-C091-E81A-F9EB-E217297DEFCF}"/>
              </a:ext>
            </a:extLst>
          </p:cNvPr>
          <p:cNvSpPr txBox="1"/>
          <p:nvPr/>
        </p:nvSpPr>
        <p:spPr>
          <a:xfrm>
            <a:off x="-345057" y="286327"/>
            <a:ext cx="4270511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628073"/>
            <a:ext cx="960582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E79168-2179-3AF2-D68A-F70FBE92A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24"/>
          <a:stretch/>
        </p:blipFill>
        <p:spPr>
          <a:xfrm>
            <a:off x="1989130" y="1384197"/>
            <a:ext cx="9756028" cy="52865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B365F08-FD3F-1055-2DED-FCB1169ACF7B}"/>
              </a:ext>
            </a:extLst>
          </p:cNvPr>
          <p:cNvSpPr/>
          <p:nvPr/>
        </p:nvSpPr>
        <p:spPr>
          <a:xfrm>
            <a:off x="8963509" y="2132299"/>
            <a:ext cx="2863272" cy="26161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447C88"/>
                </a:solidFill>
                <a:highlight>
                  <a:srgbClr val="FFFFFF"/>
                </a:highlight>
              </a:rPr>
              <a:t>Thermal Energy Networks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49BF57-2BDF-55DD-44E3-CF480995C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62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0" y="198366"/>
            <a:ext cx="9144000" cy="125196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Ambient Temperature Loops (ATL)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AEEA46-C091-E81A-F9EB-E217297DEFCF}"/>
              </a:ext>
            </a:extLst>
          </p:cNvPr>
          <p:cNvSpPr txBox="1"/>
          <p:nvPr/>
        </p:nvSpPr>
        <p:spPr>
          <a:xfrm>
            <a:off x="-572787" y="286328"/>
            <a:ext cx="4270511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1269999"/>
            <a:ext cx="960582" cy="53016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modular heat energy management process&#10;&#10;Description automatically generated">
            <a:extLst>
              <a:ext uri="{FF2B5EF4-FFF2-40B4-BE49-F238E27FC236}">
                <a16:creationId xmlns:a16="http://schemas.microsoft.com/office/drawing/2014/main" id="{E3B798B8-5876-EFF7-76A2-6009DEEB67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451"/>
          <a:stretch/>
        </p:blipFill>
        <p:spPr>
          <a:xfrm>
            <a:off x="1861974" y="861134"/>
            <a:ext cx="10030521" cy="581430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792B07A-CCF8-CCF6-2341-33189F598864}"/>
              </a:ext>
            </a:extLst>
          </p:cNvPr>
          <p:cNvSpPr/>
          <p:nvPr/>
        </p:nvSpPr>
        <p:spPr>
          <a:xfrm>
            <a:off x="2133600" y="1269999"/>
            <a:ext cx="2491666" cy="4666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72EEBB-1AA4-F2DC-7A02-4FF447966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67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43565-82B8-4ACB-C0FE-46D63FB2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BB0C08-1189-A7FD-C07E-C1AF4A9E9E1E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1724429-9027-49FA-8E5D-F6E9A82B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0" y="198366"/>
            <a:ext cx="9144000" cy="125196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ATL Microgrids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5A61C2-4186-672D-4D7B-BAE3A45B9180}"/>
              </a:ext>
            </a:extLst>
          </p:cNvPr>
          <p:cNvSpPr txBox="1"/>
          <p:nvPr/>
        </p:nvSpPr>
        <p:spPr>
          <a:xfrm>
            <a:off x="-491183" y="286328"/>
            <a:ext cx="4270511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78CB08-BF9F-A6CD-AD99-F77BACD3A73C}"/>
              </a:ext>
            </a:extLst>
          </p:cNvPr>
          <p:cNvSpPr/>
          <p:nvPr/>
        </p:nvSpPr>
        <p:spPr>
          <a:xfrm>
            <a:off x="1653309" y="1269999"/>
            <a:ext cx="960582" cy="53016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51CDE5B0-6954-4BCA-173D-43E4A18556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7449" t="-3881" r="-505" b="1988"/>
          <a:stretch/>
        </p:blipFill>
        <p:spPr>
          <a:xfrm>
            <a:off x="4098525" y="922217"/>
            <a:ext cx="5622524" cy="55290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6036D6E-317C-AB93-F6EF-DCD233DDCD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575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43565-82B8-4ACB-C0FE-46D63FB2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BB0C08-1189-A7FD-C07E-C1AF4A9E9E1E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1724429-9027-49FA-8E5D-F6E9A82B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0" y="198366"/>
            <a:ext cx="9144000" cy="125196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System Diversity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5A61C2-4186-672D-4D7B-BAE3A45B9180}"/>
              </a:ext>
            </a:extLst>
          </p:cNvPr>
          <p:cNvSpPr txBox="1"/>
          <p:nvPr/>
        </p:nvSpPr>
        <p:spPr>
          <a:xfrm>
            <a:off x="-491183" y="286328"/>
            <a:ext cx="4270511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78CB08-BF9F-A6CD-AD99-F77BACD3A73C}"/>
              </a:ext>
            </a:extLst>
          </p:cNvPr>
          <p:cNvSpPr/>
          <p:nvPr/>
        </p:nvSpPr>
        <p:spPr>
          <a:xfrm>
            <a:off x="1653309" y="1269999"/>
            <a:ext cx="960582" cy="53016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54" t="33088" r="654" b="431"/>
          <a:stretch/>
        </p:blipFill>
        <p:spPr>
          <a:xfrm>
            <a:off x="1710410" y="1146247"/>
            <a:ext cx="10606787" cy="463703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CCA272E-9BC2-CE50-38BD-0A4DA24BDCB0}"/>
              </a:ext>
            </a:extLst>
          </p:cNvPr>
          <p:cNvSpPr/>
          <p:nvPr/>
        </p:nvSpPr>
        <p:spPr>
          <a:xfrm>
            <a:off x="6680739" y="4484561"/>
            <a:ext cx="1695450" cy="10684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A95D99-B4E1-7FDC-B0D3-F5F141702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446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147433-E591-33A4-261B-AC1E75F856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 fontScale="92500"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Case Studies- Colorado Mesa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AEEA46-C091-E81A-F9EB-E217297DEFCF}"/>
              </a:ext>
            </a:extLst>
          </p:cNvPr>
          <p:cNvSpPr txBox="1"/>
          <p:nvPr/>
        </p:nvSpPr>
        <p:spPr>
          <a:xfrm>
            <a:off x="-465825" y="286327"/>
            <a:ext cx="439128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8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628073"/>
            <a:ext cx="960582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389F9-9E1F-F11E-2EC9-FE7EFCFB8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2098" y="782928"/>
            <a:ext cx="8981118" cy="58234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86012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89B3C7-6F6F-33E8-4DD4-7D93D9D109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 fontScale="92500"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Case Studies- Colorado Mesa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AEEA46-C091-E81A-F9EB-E217297DEFCF}"/>
              </a:ext>
            </a:extLst>
          </p:cNvPr>
          <p:cNvSpPr txBox="1"/>
          <p:nvPr/>
        </p:nvSpPr>
        <p:spPr>
          <a:xfrm>
            <a:off x="-465825" y="286327"/>
            <a:ext cx="439128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628073"/>
            <a:ext cx="960582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71991A-2115-5060-1523-9ABF77B76DE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235"/>
          <a:stretch/>
        </p:blipFill>
        <p:spPr>
          <a:xfrm>
            <a:off x="6972023" y="899180"/>
            <a:ext cx="5219977" cy="24824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D330DD-33F5-3C6A-EA4E-8F806A8A479E}"/>
              </a:ext>
            </a:extLst>
          </p:cNvPr>
          <p:cNvSpPr txBox="1"/>
          <p:nvPr/>
        </p:nvSpPr>
        <p:spPr>
          <a:xfrm>
            <a:off x="1791855" y="1403919"/>
            <a:ext cx="5416813" cy="486287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800" b="1" u="sng" dirty="0"/>
              <a:t>Without District System: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solidFill>
                  <a:srgbClr val="00B050"/>
                </a:solidFill>
              </a:rPr>
              <a:t>217 </a:t>
            </a:r>
            <a:r>
              <a:rPr lang="en-US" sz="2000" dirty="0"/>
              <a:t>vertical feet of borehole per installed ton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Calculated water use: 14.5MM gallons/yr. 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	(3,400 tons CT)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Electric Load 784 kW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1600" b="1" u="sng" dirty="0"/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800" b="1" u="sng" dirty="0"/>
              <a:t>With District System:</a:t>
            </a:r>
            <a:endParaRPr lang="en-US" dirty="0"/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solidFill>
                  <a:srgbClr val="00B050"/>
                </a:solidFill>
              </a:rPr>
              <a:t>84</a:t>
            </a:r>
            <a:r>
              <a:rPr lang="en-US" sz="2400" dirty="0"/>
              <a:t> </a:t>
            </a:r>
            <a:r>
              <a:rPr lang="en-US" sz="2000" dirty="0"/>
              <a:t>vertical feet of borehole per installed ton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Estimated Water Use: 4.5MM gallons 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	(705 tons CT)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000" u="sng" dirty="0"/>
              <a:t>Electric Load: 185 kW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&gt;$2,000,000 in annual utility savings</a:t>
            </a:r>
            <a:endParaRPr lang="en-US" sz="2000" dirty="0">
              <a:ea typeface="Calibri"/>
              <a:cs typeface="Calibri"/>
            </a:endParaRPr>
          </a:p>
        </p:txBody>
      </p:sp>
      <p:pic>
        <p:nvPicPr>
          <p:cNvPr id="9" name="Picture 8" descr="\\SSERV001\Public\Sound Geothermal Documents\Pictures\CMU-Mesa State College\Wubben - Science\Wubben Mechanical article.png">
            <a:extLst>
              <a:ext uri="{FF2B5EF4-FFF2-40B4-BE49-F238E27FC236}">
                <a16:creationId xmlns:a16="http://schemas.microsoft.com/office/drawing/2014/main" id="{7209E21C-06B1-C90E-2D54-C84F6FD4D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3092" y="3381648"/>
            <a:ext cx="4858626" cy="336095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59513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013D8D-2301-5E04-458B-11AF54237CDD}"/>
              </a:ext>
            </a:extLst>
          </p:cNvPr>
          <p:cNvSpPr txBox="1"/>
          <p:nvPr/>
        </p:nvSpPr>
        <p:spPr>
          <a:xfrm rot="16200000">
            <a:off x="-1707138" y="296973"/>
            <a:ext cx="5677017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10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Ownership Models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25658-BED4-8B36-06C5-696E7291AF95}"/>
              </a:ext>
            </a:extLst>
          </p:cNvPr>
          <p:cNvSpPr/>
          <p:nvPr/>
        </p:nvSpPr>
        <p:spPr>
          <a:xfrm>
            <a:off x="1653309" y="628073"/>
            <a:ext cx="960582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6495E4-E45B-5FFF-19E9-F3E7CFE2B577}"/>
              </a:ext>
            </a:extLst>
          </p:cNvPr>
          <p:cNvSpPr txBox="1"/>
          <p:nvPr/>
        </p:nvSpPr>
        <p:spPr>
          <a:xfrm>
            <a:off x="7747266" y="1858947"/>
            <a:ext cx="241400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Finance</a:t>
            </a:r>
          </a:p>
          <a:p>
            <a:endParaRPr lang="en-US" sz="4800" b="1" dirty="0"/>
          </a:p>
          <a:p>
            <a:r>
              <a:rPr lang="en-US" sz="4800" b="1" dirty="0"/>
              <a:t>Own</a:t>
            </a:r>
          </a:p>
          <a:p>
            <a:endParaRPr lang="en-US" sz="4800" b="1" dirty="0"/>
          </a:p>
          <a:p>
            <a:r>
              <a:rPr lang="en-US" sz="4800" b="1" dirty="0"/>
              <a:t>Operate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43CA1B-2B93-586C-91B7-67C0E497CF89}"/>
              </a:ext>
            </a:extLst>
          </p:cNvPr>
          <p:cNvCxnSpPr>
            <a:cxnSpLocks/>
          </p:cNvCxnSpPr>
          <p:nvPr/>
        </p:nvCxnSpPr>
        <p:spPr>
          <a:xfrm>
            <a:off x="5666860" y="2271338"/>
            <a:ext cx="1906438" cy="0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BAADB28-3E55-35F0-C141-ACCAC207311A}"/>
              </a:ext>
            </a:extLst>
          </p:cNvPr>
          <p:cNvCxnSpPr>
            <a:cxnSpLocks/>
          </p:cNvCxnSpPr>
          <p:nvPr/>
        </p:nvCxnSpPr>
        <p:spPr>
          <a:xfrm flipV="1">
            <a:off x="5597849" y="2271338"/>
            <a:ext cx="1975449" cy="1437954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E91B5D4-5C30-ABC1-1219-F708CB6CB601}"/>
              </a:ext>
            </a:extLst>
          </p:cNvPr>
          <p:cNvCxnSpPr>
            <a:cxnSpLocks/>
          </p:cNvCxnSpPr>
          <p:nvPr/>
        </p:nvCxnSpPr>
        <p:spPr>
          <a:xfrm flipV="1">
            <a:off x="5759835" y="2271337"/>
            <a:ext cx="1813463" cy="2904228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375B469-B074-97DF-1BFB-6BD77EEA7DE2}"/>
              </a:ext>
            </a:extLst>
          </p:cNvPr>
          <p:cNvCxnSpPr>
            <a:cxnSpLocks/>
          </p:cNvCxnSpPr>
          <p:nvPr/>
        </p:nvCxnSpPr>
        <p:spPr>
          <a:xfrm>
            <a:off x="5701365" y="2285498"/>
            <a:ext cx="1940944" cy="1423794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03491A4-64F3-BFD2-E222-E97C89D27312}"/>
              </a:ext>
            </a:extLst>
          </p:cNvPr>
          <p:cNvCxnSpPr>
            <a:cxnSpLocks/>
          </p:cNvCxnSpPr>
          <p:nvPr/>
        </p:nvCxnSpPr>
        <p:spPr>
          <a:xfrm>
            <a:off x="5759835" y="5175565"/>
            <a:ext cx="1906438" cy="0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6365B45-E3E0-2C72-5757-D0CE0DC1D67D}"/>
              </a:ext>
            </a:extLst>
          </p:cNvPr>
          <p:cNvCxnSpPr>
            <a:cxnSpLocks/>
          </p:cNvCxnSpPr>
          <p:nvPr/>
        </p:nvCxnSpPr>
        <p:spPr>
          <a:xfrm>
            <a:off x="5597849" y="3737611"/>
            <a:ext cx="2068424" cy="0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CE4623B-C386-9951-39F2-5D00695E2350}"/>
              </a:ext>
            </a:extLst>
          </p:cNvPr>
          <p:cNvCxnSpPr>
            <a:cxnSpLocks/>
          </p:cNvCxnSpPr>
          <p:nvPr/>
        </p:nvCxnSpPr>
        <p:spPr>
          <a:xfrm>
            <a:off x="5666860" y="2271335"/>
            <a:ext cx="1975449" cy="2890069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836983A-5A9C-CCD7-C03B-F19971908EAA}"/>
              </a:ext>
            </a:extLst>
          </p:cNvPr>
          <p:cNvCxnSpPr>
            <a:cxnSpLocks/>
          </p:cNvCxnSpPr>
          <p:nvPr/>
        </p:nvCxnSpPr>
        <p:spPr>
          <a:xfrm>
            <a:off x="5597849" y="3737611"/>
            <a:ext cx="2044460" cy="1437954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919C1C-EE8B-A39E-DFEF-82ABB85C354F}"/>
              </a:ext>
            </a:extLst>
          </p:cNvPr>
          <p:cNvCxnSpPr>
            <a:cxnSpLocks/>
          </p:cNvCxnSpPr>
          <p:nvPr/>
        </p:nvCxnSpPr>
        <p:spPr>
          <a:xfrm flipV="1">
            <a:off x="5747853" y="3723451"/>
            <a:ext cx="1906438" cy="1463962"/>
          </a:xfrm>
          <a:prstGeom prst="line">
            <a:avLst/>
          </a:prstGeom>
          <a:ln w="762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CFE44A91-8585-C1A0-2F6E-E66CC69D0A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2511954A-FD3B-DA81-1BE5-47AA0774B52B}"/>
              </a:ext>
            </a:extLst>
          </p:cNvPr>
          <p:cNvSpPr/>
          <p:nvPr/>
        </p:nvSpPr>
        <p:spPr>
          <a:xfrm>
            <a:off x="1646794" y="798412"/>
            <a:ext cx="1416001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DBA648-AB03-8F7B-0F40-147DBAF0238E}"/>
              </a:ext>
            </a:extLst>
          </p:cNvPr>
          <p:cNvSpPr txBox="1"/>
          <p:nvPr/>
        </p:nvSpPr>
        <p:spPr>
          <a:xfrm>
            <a:off x="1791855" y="1749109"/>
            <a:ext cx="38301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800" b="1" dirty="0"/>
              <a:t>Public Entity</a:t>
            </a:r>
          </a:p>
          <a:p>
            <a:pPr algn="r"/>
            <a:endParaRPr lang="en-US" sz="4800" b="1" dirty="0"/>
          </a:p>
          <a:p>
            <a:pPr algn="r"/>
            <a:r>
              <a:rPr lang="en-US" sz="4800" b="1" dirty="0"/>
              <a:t>Utility</a:t>
            </a:r>
          </a:p>
          <a:p>
            <a:pPr algn="r"/>
            <a:endParaRPr lang="en-US" sz="4800" b="1" dirty="0"/>
          </a:p>
          <a:p>
            <a:pPr algn="r"/>
            <a:r>
              <a:rPr lang="en-US" sz="4800" b="1" dirty="0"/>
              <a:t>3</a:t>
            </a:r>
            <a:r>
              <a:rPr lang="en-US" sz="4800" b="1" baseline="30000" dirty="0"/>
              <a:t>rd</a:t>
            </a:r>
            <a:r>
              <a:rPr lang="en-US" sz="4800" b="1" dirty="0"/>
              <a:t> Party</a:t>
            </a:r>
          </a:p>
        </p:txBody>
      </p:sp>
    </p:spTree>
    <p:extLst>
      <p:ext uri="{BB962C8B-B14F-4D97-AF65-F5344CB8AC3E}">
        <p14:creationId xmlns:p14="http://schemas.microsoft.com/office/powerpoint/2010/main" val="2460353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D5C298-C067-367A-5D8A-3A47C324DF3D}"/>
              </a:ext>
            </a:extLst>
          </p:cNvPr>
          <p:cNvSpPr/>
          <p:nvPr/>
        </p:nvSpPr>
        <p:spPr>
          <a:xfrm>
            <a:off x="0" y="0"/>
            <a:ext cx="1644073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66D7CE01-2A6D-7447-DD58-08A322499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1855" y="203056"/>
            <a:ext cx="9144000" cy="61898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Eras Bold ITC" panose="020B0907030504020204" pitchFamily="34" charset="0"/>
              </a:rPr>
              <a:t>Current Colorado Projects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B92F33-BE2C-14F2-FBB2-8D50DA0C0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85"/>
          <a:stretch/>
        </p:blipFill>
        <p:spPr>
          <a:xfrm>
            <a:off x="9937692" y="6006896"/>
            <a:ext cx="2254308" cy="8511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F8189D-92AB-B557-38FC-A069BEF3A4B8}"/>
              </a:ext>
            </a:extLst>
          </p:cNvPr>
          <p:cNvSpPr txBox="1"/>
          <p:nvPr/>
        </p:nvSpPr>
        <p:spPr>
          <a:xfrm rot="16200000">
            <a:off x="-1646556" y="205040"/>
            <a:ext cx="5677017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1300" dirty="0">
                <a:solidFill>
                  <a:schemeClr val="bg1">
                    <a:lumMod val="50000"/>
                  </a:schemeClr>
                </a:solidFill>
              </a:rPr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377B8F-B6A7-4819-426D-03D645FC1089}"/>
              </a:ext>
            </a:extLst>
          </p:cNvPr>
          <p:cNvSpPr/>
          <p:nvPr/>
        </p:nvSpPr>
        <p:spPr>
          <a:xfrm>
            <a:off x="1646794" y="798412"/>
            <a:ext cx="1407123" cy="594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59085DE-7FE0-EA05-A48E-F486EE887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179" y="941702"/>
            <a:ext cx="8219667" cy="538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066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0AE5EE057BC9F43B26E08BE3C93F443" ma:contentTypeVersion="14" ma:contentTypeDescription="Create a new document." ma:contentTypeScope="" ma:versionID="4bc4c357b05fc27a2c4fd2ed5f0caf66">
  <xsd:schema xmlns:xsd="http://www.w3.org/2001/XMLSchema" xmlns:xs="http://www.w3.org/2001/XMLSchema" xmlns:p="http://schemas.microsoft.com/office/2006/metadata/properties" xmlns:ns2="f63aac96-6c22-4acb-bcd1-d671912bd8aa" xmlns:ns3="ab10ce27-33c4-4ede-8105-a3cd7fc3dcd0" targetNamespace="http://schemas.microsoft.com/office/2006/metadata/properties" ma:root="true" ma:fieldsID="39b62f2764437405437cdea7525b1e45" ns2:_="" ns3:_="">
    <xsd:import namespace="f63aac96-6c22-4acb-bcd1-d671912bd8aa"/>
    <xsd:import namespace="ab10ce27-33c4-4ede-8105-a3cd7fc3dc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Date_x002d_Tim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3aac96-6c22-4acb-bcd1-d671912bd8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f13e8058-98c7-47b1-9de9-5c0c3ae81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Date_x002d_Time" ma:index="20" nillable="true" ma:displayName="Date-Time" ma:format="DateTime" ma:internalName="Date_x002d_Time">
      <xsd:simpleType>
        <xsd:restriction base="dms:DateTim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0ce27-33c4-4ede-8105-a3cd7fc3dcd0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118888e-c2cf-453c-b2ee-45c9ded50370}" ma:internalName="TaxCatchAll" ma:showField="CatchAllData" ma:web="ab10ce27-33c4-4ede-8105-a3cd7fc3dcd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_x002d_Time xmlns="f63aac96-6c22-4acb-bcd1-d671912bd8aa" xsi:nil="true"/>
    <lcf76f155ced4ddcb4097134ff3c332f xmlns="f63aac96-6c22-4acb-bcd1-d671912bd8aa">
      <Terms xmlns="http://schemas.microsoft.com/office/infopath/2007/PartnerControls"/>
    </lcf76f155ced4ddcb4097134ff3c332f>
    <TaxCatchAll xmlns="ab10ce27-33c4-4ede-8105-a3cd7fc3dcd0" xsi:nil="true"/>
  </documentManagement>
</p:properties>
</file>

<file path=customXml/itemProps1.xml><?xml version="1.0" encoding="utf-8"?>
<ds:datastoreItem xmlns:ds="http://schemas.openxmlformats.org/officeDocument/2006/customXml" ds:itemID="{A7E151A2-2599-4478-9E49-C4D2FE7289FF}"/>
</file>

<file path=customXml/itemProps2.xml><?xml version="1.0" encoding="utf-8"?>
<ds:datastoreItem xmlns:ds="http://schemas.openxmlformats.org/officeDocument/2006/customXml" ds:itemID="{0215CE13-0365-4DBF-8C99-024A4EFDF677}"/>
</file>

<file path=customXml/itemProps3.xml><?xml version="1.0" encoding="utf-8"?>
<ds:datastoreItem xmlns:ds="http://schemas.openxmlformats.org/officeDocument/2006/customXml" ds:itemID="{6B4A46FC-A2E3-4052-B058-35CF338B51CF}"/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247</Words>
  <Application>Microsoft Office PowerPoint</Application>
  <PresentationFormat>Widescreen</PresentationFormat>
  <Paragraphs>84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Eras Bold ITC</vt:lpstr>
      <vt:lpstr>Office Theme</vt:lpstr>
      <vt:lpstr>Thermal Energy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Ambient Temperature Loops </dc:title>
  <dc:creator>Matt Garlick</dc:creator>
  <cp:lastModifiedBy>Matt Garlick</cp:lastModifiedBy>
  <cp:revision>21</cp:revision>
  <dcterms:created xsi:type="dcterms:W3CDTF">2023-05-05T21:55:56Z</dcterms:created>
  <dcterms:modified xsi:type="dcterms:W3CDTF">2025-01-07T18:33:22Z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0x01010020AE5EE057BC9F43B26E08BE3C93F443</vt:lpwstr>
  </property>
</Properties>
</file>