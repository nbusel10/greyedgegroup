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3.xml" ContentType="application/vnd.openxmlformats-officedocument.presentationml.notes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70" r:id="rId5"/>
    <p:sldId id="260" r:id="rId6"/>
    <p:sldId id="271" r:id="rId7"/>
    <p:sldId id="261" r:id="rId8"/>
    <p:sldId id="262" r:id="rId9"/>
    <p:sldId id="264" r:id="rId10"/>
    <p:sldId id="265" r:id="rId11"/>
    <p:sldId id="273" r:id="rId12"/>
    <p:sldId id="274" r:id="rId13"/>
    <p:sldId id="269" r:id="rId14"/>
    <p:sldId id="268" r:id="rId15"/>
    <p:sldId id="258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gP81vgWt41AoXMdYonrROoUc/d5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customXml" Target="../customXml/item3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5"/>
          <p:cNvSpPr txBox="1">
            <a:spLocks noGrp="1"/>
          </p:cNvSpPr>
          <p:nvPr>
            <p:ph type="body" idx="1"/>
          </p:nvPr>
        </p:nvSpPr>
        <p:spPr>
          <a:xfrm>
            <a:off x="574159" y="1565976"/>
            <a:ext cx="11355493" cy="4175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D955B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68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5"/>
          <p:cNvSpPr txBox="1">
            <a:spLocks noGrp="1"/>
          </p:cNvSpPr>
          <p:nvPr>
            <p:ph type="ctrTitle"/>
          </p:nvPr>
        </p:nvSpPr>
        <p:spPr>
          <a:xfrm>
            <a:off x="574159" y="389859"/>
            <a:ext cx="10363200" cy="98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6000"/>
              <a:buFont typeface="Times New Roman"/>
              <a:buNone/>
              <a:defRPr sz="6000" b="1" i="0" u="none" strike="noStrike" cap="none">
                <a:solidFill>
                  <a:srgbClr val="0A764A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6"/>
          <p:cNvSpPr txBox="1">
            <a:spLocks noGrp="1"/>
          </p:cNvSpPr>
          <p:nvPr>
            <p:ph type="title"/>
          </p:nvPr>
        </p:nvSpPr>
        <p:spPr>
          <a:xfrm>
            <a:off x="418253" y="432390"/>
            <a:ext cx="5557245" cy="48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3200"/>
              <a:buFont typeface="Times New Roman"/>
              <a:buNone/>
              <a:defRPr sz="3200" b="1" i="0" u="none" strike="noStrike" cap="none">
                <a:solidFill>
                  <a:srgbClr val="0A764A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body" idx="1"/>
          </p:nvPr>
        </p:nvSpPr>
        <p:spPr>
          <a:xfrm>
            <a:off x="418253" y="1091609"/>
            <a:ext cx="11511399" cy="474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D955B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68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7"/>
          <p:cNvSpPr>
            <a:spLocks noGrp="1"/>
          </p:cNvSpPr>
          <p:nvPr>
            <p:ph type="pic" idx="2"/>
          </p:nvPr>
        </p:nvSpPr>
        <p:spPr>
          <a:xfrm>
            <a:off x="6195237" y="1103242"/>
            <a:ext cx="5578509" cy="4700923"/>
          </a:xfrm>
          <a:prstGeom prst="rect">
            <a:avLst/>
          </a:prstGeom>
          <a:noFill/>
          <a:ln>
            <a:noFill/>
          </a:ln>
        </p:spPr>
      </p:sp>
      <p:sp>
        <p:nvSpPr>
          <p:cNvPr id="15" name="Google Shape;15;p7"/>
          <p:cNvSpPr txBox="1">
            <a:spLocks noGrp="1"/>
          </p:cNvSpPr>
          <p:nvPr>
            <p:ph type="body" idx="1"/>
          </p:nvPr>
        </p:nvSpPr>
        <p:spPr>
          <a:xfrm>
            <a:off x="418251" y="1103243"/>
            <a:ext cx="5323330" cy="4700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D955B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D955B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418253" y="432390"/>
            <a:ext cx="5557245" cy="48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3200"/>
              <a:buFont typeface="Times New Roman"/>
              <a:buNone/>
              <a:defRPr sz="3200" b="1" i="0" u="none" strike="noStrike" cap="none">
                <a:solidFill>
                  <a:srgbClr val="0A764A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5798288"/>
            <a:ext cx="12186688" cy="105971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g"/><Relationship Id="rId4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386FB4-18AB-95F9-5DF6-8B26085C03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7" t="8415" r="17824" b="501"/>
          <a:stretch>
            <a:fillRect/>
          </a:stretch>
        </p:blipFill>
        <p:spPr>
          <a:xfrm>
            <a:off x="4910935" y="562898"/>
            <a:ext cx="7281066" cy="5454445"/>
          </a:xfrm>
          <a:prstGeom prst="rect">
            <a:avLst/>
          </a:prstGeom>
        </p:spPr>
      </p:pic>
      <p:sp>
        <p:nvSpPr>
          <p:cNvPr id="22" name="Google Shape;22;p1"/>
          <p:cNvSpPr txBox="1">
            <a:spLocks noGrp="1"/>
          </p:cNvSpPr>
          <p:nvPr>
            <p:ph type="body" idx="1"/>
          </p:nvPr>
        </p:nvSpPr>
        <p:spPr>
          <a:xfrm>
            <a:off x="574159" y="1238865"/>
            <a:ext cx="11355600" cy="44633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lang="en-US" sz="2600" b="1" dirty="0"/>
              <a:t>Integrating Geo Power and Thermal Systems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lang="en-US" dirty="0"/>
              <a:t>Tuesday September 23</a:t>
            </a:r>
            <a:r>
              <a:rPr lang="en-US" baseline="30000" dirty="0"/>
              <a:t>rd</a:t>
            </a:r>
            <a:r>
              <a:rPr lang="en-US" dirty="0"/>
              <a:t> 2025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endParaRPr lang="en-US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endParaRPr lang="en-US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endParaRPr lang="en-US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lang="en-US" b="1" dirty="0"/>
              <a:t>Matt Garlick</a:t>
            </a:r>
            <a:r>
              <a:rPr lang="en-US" dirty="0"/>
              <a:t> CEM, CCP, BEMP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lang="en-US" dirty="0"/>
              <a:t>CEO, The GreyEdge Group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lang="en-US" dirty="0"/>
              <a:t>mgarlick@GreyEdgeGroup.com</a:t>
            </a:r>
            <a:endParaRPr dirty="0"/>
          </a:p>
        </p:txBody>
      </p:sp>
      <p:sp>
        <p:nvSpPr>
          <p:cNvPr id="23" name="Google Shape;23;p1"/>
          <p:cNvSpPr txBox="1">
            <a:spLocks noGrp="1"/>
          </p:cNvSpPr>
          <p:nvPr>
            <p:ph type="ctrTitle"/>
          </p:nvPr>
        </p:nvSpPr>
        <p:spPr>
          <a:xfrm>
            <a:off x="574159" y="174043"/>
            <a:ext cx="10363200" cy="98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6000"/>
              <a:buFont typeface="Times New Roman"/>
              <a:buNone/>
            </a:pPr>
            <a:r>
              <a:rPr lang="en-US" dirty="0"/>
              <a:t>Geothermal </a:t>
            </a:r>
            <a:r>
              <a:rPr lang="en-US" dirty="0" err="1"/>
              <a:t>CoGeneration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A9B696-7802-427B-721F-9B750DF8D9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17" b="37122"/>
          <a:stretch/>
        </p:blipFill>
        <p:spPr>
          <a:xfrm>
            <a:off x="402819" y="4224099"/>
            <a:ext cx="4679457" cy="14781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>
            <a:spLocks noGrp="1"/>
          </p:cNvSpPr>
          <p:nvPr>
            <p:ph type="title"/>
          </p:nvPr>
        </p:nvSpPr>
        <p:spPr>
          <a:xfrm>
            <a:off x="418253" y="432390"/>
            <a:ext cx="6965773" cy="48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3200"/>
              <a:buFont typeface="Times New Roman"/>
              <a:buNone/>
            </a:pPr>
            <a:r>
              <a:rPr lang="en-US" dirty="0"/>
              <a:t>The Variety of Geothermal Systems</a:t>
            </a:r>
            <a:endParaRPr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1A3488-6ED3-BD4E-3F0D-1C75A3DC8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24"/>
          <a:stretch/>
        </p:blipFill>
        <p:spPr>
          <a:xfrm>
            <a:off x="1391393" y="921489"/>
            <a:ext cx="8893150" cy="47922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A8C59D3-6491-AB73-A91C-E4EE41D8B085}"/>
              </a:ext>
            </a:extLst>
          </p:cNvPr>
          <p:cNvSpPr/>
          <p:nvPr/>
        </p:nvSpPr>
        <p:spPr>
          <a:xfrm>
            <a:off x="7565470" y="1595839"/>
            <a:ext cx="2719073" cy="24843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447C88"/>
                </a:solidFill>
                <a:highlight>
                  <a:srgbClr val="FFFFFF"/>
                </a:highlight>
              </a:rPr>
              <a:t>Thermal Energy Networks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F9CA20-30E1-1243-8E33-FA4C695B2870}"/>
              </a:ext>
            </a:extLst>
          </p:cNvPr>
          <p:cNvSpPr txBox="1"/>
          <p:nvPr/>
        </p:nvSpPr>
        <p:spPr>
          <a:xfrm>
            <a:off x="0" y="5713779"/>
            <a:ext cx="2458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Credit: HEET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FCD15-CAEF-12A5-E732-1D2552925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7663863" cy="489099"/>
          </a:xfrm>
        </p:spPr>
        <p:txBody>
          <a:bodyPr/>
          <a:lstStyle/>
          <a:p>
            <a:r>
              <a:rPr lang="en-US" dirty="0"/>
              <a:t>Geo Power System Boundaries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CF725E54-4991-B816-C659-3155C827D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4793" y="1025047"/>
            <a:ext cx="7981122" cy="48079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ECAEBA-0D62-4B14-A225-449C5B664774}"/>
              </a:ext>
            </a:extLst>
          </p:cNvPr>
          <p:cNvSpPr txBox="1"/>
          <p:nvPr/>
        </p:nvSpPr>
        <p:spPr>
          <a:xfrm>
            <a:off x="0" y="5728224"/>
            <a:ext cx="42278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ndara" panose="020E0502030303020204" pitchFamily="34" charset="0"/>
              </a:rPr>
              <a:t>Simmons and Moore, 2013</a:t>
            </a:r>
          </a:p>
        </p:txBody>
      </p:sp>
    </p:spTree>
    <p:extLst>
      <p:ext uri="{BB962C8B-B14F-4D97-AF65-F5344CB8AC3E}">
        <p14:creationId xmlns:p14="http://schemas.microsoft.com/office/powerpoint/2010/main" val="2604968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2F606-A514-5800-0ACE-074B3159E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9414005" cy="489099"/>
          </a:xfrm>
        </p:spPr>
        <p:txBody>
          <a:bodyPr/>
          <a:lstStyle/>
          <a:p>
            <a:r>
              <a:rPr lang="en-US" dirty="0"/>
              <a:t>The Enhanced Geothermal System Theory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D7B21F-6F2B-9AC5-53F0-2EF8EC367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253" y="1091609"/>
            <a:ext cx="5235295" cy="4749209"/>
          </a:xfrm>
        </p:spPr>
        <p:txBody>
          <a:bodyPr/>
          <a:lstStyle/>
          <a:p>
            <a:pPr marL="0" indent="0"/>
            <a:r>
              <a:rPr lang="en-US" b="1" dirty="0">
                <a:solidFill>
                  <a:schemeClr val="accent3"/>
                </a:solidFill>
              </a:rPr>
              <a:t>EGS Reservoir Creation Process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Drill Injection Well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Hydraulically Fracture (Multiple Stages)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Drill Production Well to Intersect Fractures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/>
              <a:t>Populate Well with Frac Stages</a:t>
            </a:r>
          </a:p>
          <a:p>
            <a:pPr marL="0" indent="0"/>
            <a:r>
              <a:rPr lang="en-US" b="1" dirty="0">
                <a:solidFill>
                  <a:schemeClr val="accent3"/>
                </a:solidFill>
              </a:rPr>
              <a:t>EGS Power Cycle</a:t>
            </a:r>
          </a:p>
          <a:p>
            <a:pPr indent="-457200">
              <a:buFont typeface="+mj-lt"/>
              <a:buAutoNum type="arabicPeriod"/>
            </a:pPr>
            <a:r>
              <a:rPr lang="en-US" sz="1800" dirty="0"/>
              <a:t>Injected Cold Water Circulates Through Hydraulic Fractures</a:t>
            </a:r>
          </a:p>
          <a:p>
            <a:pPr indent="-457200">
              <a:buFont typeface="+mj-lt"/>
              <a:buAutoNum type="arabicPeriod"/>
            </a:pPr>
            <a:r>
              <a:rPr lang="en-US" sz="1800" dirty="0"/>
              <a:t>Hot Water Brought to Surface Through Production Well</a:t>
            </a:r>
          </a:p>
          <a:p>
            <a:pPr indent="-457200">
              <a:buFont typeface="+mj-lt"/>
              <a:buAutoNum type="arabicPeriod"/>
            </a:pPr>
            <a:r>
              <a:rPr lang="en-US" sz="1800" dirty="0"/>
              <a:t>Flashed to Steam and/or Run Through Organic Rankine Cycle Binary Plant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B2A285-CC3F-002A-C97D-68DB3A31F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206" y="1091609"/>
            <a:ext cx="6017446" cy="445406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CEC4D0B-B57C-0D6E-1809-61EFB599D0F4}"/>
              </a:ext>
            </a:extLst>
          </p:cNvPr>
          <p:cNvSpPr/>
          <p:nvPr/>
        </p:nvSpPr>
        <p:spPr>
          <a:xfrm>
            <a:off x="6250646" y="1228398"/>
            <a:ext cx="5340565" cy="507831"/>
          </a:xfrm>
          <a:prstGeom prst="rect">
            <a:avLst/>
          </a:prstGeom>
          <a:solidFill>
            <a:schemeClr val="bg1"/>
          </a:solidFill>
        </p:spPr>
        <p:txBody>
          <a:bodyPr wrap="none" lIns="0" tIns="45720" rIns="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 w="0"/>
                <a:solidFill>
                  <a:schemeClr val="accent3"/>
                </a:solidFill>
                <a:effectLst/>
                <a:uLnTx/>
                <a:uFillTx/>
                <a:latin typeface="Candara" panose="020E0502030303020204" pitchFamily="34" charset="0"/>
                <a:ea typeface="+mn-ea"/>
                <a:cs typeface="+mn-cs"/>
              </a:rPr>
              <a:t>Classical EGS Conceptual Schematic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4763A-2D78-54ED-7CCD-EA58C0A34000}"/>
              </a:ext>
            </a:extLst>
          </p:cNvPr>
          <p:cNvSpPr txBox="1"/>
          <p:nvPr/>
        </p:nvSpPr>
        <p:spPr>
          <a:xfrm>
            <a:off x="0" y="5713779"/>
            <a:ext cx="2458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Credit: McLennan </a:t>
            </a:r>
          </a:p>
        </p:txBody>
      </p:sp>
    </p:spTree>
    <p:extLst>
      <p:ext uri="{BB962C8B-B14F-4D97-AF65-F5344CB8AC3E}">
        <p14:creationId xmlns:p14="http://schemas.microsoft.com/office/powerpoint/2010/main" val="100352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71157-6079-1B03-FC5E-8206FF22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FORGE Research Project</a:t>
            </a:r>
          </a:p>
        </p:txBody>
      </p:sp>
      <p:pic>
        <p:nvPicPr>
          <p:cNvPr id="4" name="Picture 3" descr="A landscape with a road and buildings&#10;&#10;Description automatically generated">
            <a:extLst>
              <a:ext uri="{FF2B5EF4-FFF2-40B4-BE49-F238E27FC236}">
                <a16:creationId xmlns:a16="http://schemas.microsoft.com/office/drawing/2014/main" id="{118DC780-8DDB-1469-A6B4-7F381BAC30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852" r="2354"/>
          <a:stretch/>
        </p:blipFill>
        <p:spPr>
          <a:xfrm>
            <a:off x="418253" y="1202828"/>
            <a:ext cx="7117960" cy="40031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54B35E-5C2E-69F1-E13E-76191B55A1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213" y="146998"/>
            <a:ext cx="4404768" cy="579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343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F47FB-F6CF-A566-6A24-AF4E5118D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4CE8E-758C-38BB-0225-FB44E6CE2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FORGE Research Project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13CDF-BBC6-C6F9-458D-4F3B76233D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74426" y="691755"/>
            <a:ext cx="5343536" cy="522095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854A139-3476-6E73-9595-5A8EA524DEBC}"/>
              </a:ext>
            </a:extLst>
          </p:cNvPr>
          <p:cNvSpPr/>
          <p:nvPr/>
        </p:nvSpPr>
        <p:spPr>
          <a:xfrm>
            <a:off x="216710" y="1425909"/>
            <a:ext cx="643972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marR="0" lvl="1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5A8D">
                  <a:lumMod val="75000"/>
                </a:srgbClr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schemeClr val="dk1"/>
                </a:solidFill>
              </a:rPr>
              <a:t>Temperature &gt;350</a:t>
            </a:r>
            <a:r>
              <a:rPr lang="en-US" sz="2400" dirty="0">
                <a:solidFill>
                  <a:schemeClr val="dk1"/>
                </a:solidFill>
                <a:sym typeface="Symbol" panose="05050102010706020507" pitchFamily="18" charset="2"/>
              </a:rPr>
              <a:t></a:t>
            </a:r>
            <a:r>
              <a:rPr lang="en-US" sz="2400" dirty="0">
                <a:solidFill>
                  <a:schemeClr val="dk1"/>
                </a:solidFill>
              </a:rPr>
              <a:t>F at depths &gt;5000 ft</a:t>
            </a:r>
          </a:p>
          <a:p>
            <a:pPr marL="457200" marR="0" lvl="1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5A8D">
                  <a:lumMod val="75000"/>
                </a:srgbClr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schemeClr val="dk1"/>
                </a:solidFill>
              </a:rPr>
              <a:t>Low permeability rocks (granite)</a:t>
            </a:r>
          </a:p>
          <a:p>
            <a:pPr marL="457200" marR="0" lvl="1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5A8D">
                  <a:lumMod val="75000"/>
                </a:srgbClr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schemeClr val="dk1"/>
                </a:solidFill>
              </a:rPr>
              <a:t>Low risk from induced seismicity </a:t>
            </a:r>
          </a:p>
          <a:p>
            <a:pPr marL="457200" marR="0" lvl="1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5A8D">
                  <a:lumMod val="75000"/>
                </a:srgbClr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schemeClr val="dk1"/>
                </a:solidFill>
              </a:rPr>
              <a:t>Low environmental risks</a:t>
            </a:r>
          </a:p>
          <a:p>
            <a:pPr marL="457200" marR="0" lvl="1" indent="-4572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5A8D">
                  <a:lumMod val="75000"/>
                </a:srgbClr>
              </a:buClr>
              <a:buSzPct val="125000"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schemeClr val="dk1"/>
                </a:solidFill>
              </a:rPr>
              <a:t>No connection to hydrothermal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BB184-95C3-8A45-775B-CE704B16436F}"/>
              </a:ext>
            </a:extLst>
          </p:cNvPr>
          <p:cNvSpPr txBox="1"/>
          <p:nvPr/>
        </p:nvSpPr>
        <p:spPr>
          <a:xfrm>
            <a:off x="0" y="5713779"/>
            <a:ext cx="2458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Credit: McLennan </a:t>
            </a:r>
          </a:p>
        </p:txBody>
      </p:sp>
    </p:spTree>
    <p:extLst>
      <p:ext uri="{BB962C8B-B14F-4D97-AF65-F5344CB8AC3E}">
        <p14:creationId xmlns:p14="http://schemas.microsoft.com/office/powerpoint/2010/main" val="304168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94322-6328-E408-3801-2E7E6E9FE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10967502" cy="489099"/>
          </a:xfrm>
        </p:spPr>
        <p:txBody>
          <a:bodyPr/>
          <a:lstStyle/>
          <a:p>
            <a:r>
              <a:rPr lang="en-US" dirty="0"/>
              <a:t>The Fervo Methodology- Enhanced Geothermal Systems</a:t>
            </a:r>
          </a:p>
        </p:txBody>
      </p:sp>
      <p:pic>
        <p:nvPicPr>
          <p:cNvPr id="4" name="Picture 2" descr="Fig. 2">
            <a:extLst>
              <a:ext uri="{FF2B5EF4-FFF2-40B4-BE49-F238E27FC236}">
                <a16:creationId xmlns:a16="http://schemas.microsoft.com/office/drawing/2014/main" id="{33F7A96A-A290-85C6-C1F6-DE8E6AB2B7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7441" y="982085"/>
            <a:ext cx="8316113" cy="489383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3B14D8-F0E9-2F7E-F80C-37A9EBC8F8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75" t="33820" r="20060" b="31703"/>
          <a:stretch>
            <a:fillRect/>
          </a:stretch>
        </p:blipFill>
        <p:spPr>
          <a:xfrm>
            <a:off x="418252" y="982085"/>
            <a:ext cx="2752729" cy="8172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6D70839-D5BE-38DB-DB1F-9B5641EA7A34}"/>
              </a:ext>
            </a:extLst>
          </p:cNvPr>
          <p:cNvSpPr txBox="1"/>
          <p:nvPr/>
        </p:nvSpPr>
        <p:spPr>
          <a:xfrm>
            <a:off x="-1853648" y="5751845"/>
            <a:ext cx="3707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latin typeface="Candara" panose="020E0502030303020204" pitchFamily="34" charset="0"/>
              </a:rPr>
              <a:t>After Horne et al., 2025</a:t>
            </a:r>
          </a:p>
        </p:txBody>
      </p:sp>
    </p:spTree>
    <p:extLst>
      <p:ext uri="{BB962C8B-B14F-4D97-AF65-F5344CB8AC3E}">
        <p14:creationId xmlns:p14="http://schemas.microsoft.com/office/powerpoint/2010/main" val="3134433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4BFB9-92CC-2A14-7A91-387AFC111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11511399" cy="489099"/>
          </a:xfrm>
        </p:spPr>
        <p:txBody>
          <a:bodyPr/>
          <a:lstStyle/>
          <a:p>
            <a:r>
              <a:rPr lang="en-US" dirty="0"/>
              <a:t>The Sage Methodology- Geopressured Long Duration Storage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FC286-110F-3B65-6CB9-79210981BA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253" y="2218183"/>
            <a:ext cx="6179192" cy="3303410"/>
          </a:xfrm>
        </p:spPr>
        <p:txBody>
          <a:bodyPr/>
          <a:lstStyle/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Create a fracture that propagates downward 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Circulate fluid into fracture for storage at temperature and/or for in situ heat-up</a:t>
            </a:r>
          </a:p>
          <a:p>
            <a:pPr marL="571500" indent="-342900">
              <a:buFont typeface="Arial" panose="020B0604020202020204" pitchFamily="34" charset="0"/>
              <a:buChar char="•"/>
            </a:pPr>
            <a:r>
              <a:rPr lang="en-US" dirty="0"/>
              <a:t>Energy associated with increased fracture width and storage of pressurized fluid is used to recover fluid on a schedule or as-needed basis.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6A816E-B88D-37B4-EA72-D88D40D60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976" y="904953"/>
            <a:ext cx="4515678" cy="504809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497E43-500E-F61F-A06F-674D9DE25B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323" t="15223" r="29838" b="21237"/>
          <a:stretch>
            <a:fillRect/>
          </a:stretch>
        </p:blipFill>
        <p:spPr>
          <a:xfrm>
            <a:off x="506744" y="904953"/>
            <a:ext cx="1548200" cy="12912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F3610A-A60E-42DE-B1EE-F5D21AB4BAF0}"/>
              </a:ext>
            </a:extLst>
          </p:cNvPr>
          <p:cNvSpPr txBox="1"/>
          <p:nvPr/>
        </p:nvSpPr>
        <p:spPr>
          <a:xfrm>
            <a:off x="0" y="5722331"/>
            <a:ext cx="42278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ndara" panose="020E0502030303020204" pitchFamily="34" charset="0"/>
              </a:rPr>
              <a:t>https://www.sagegeosystems.com/</a:t>
            </a:r>
          </a:p>
        </p:txBody>
      </p:sp>
    </p:spTree>
    <p:extLst>
      <p:ext uri="{BB962C8B-B14F-4D97-AF65-F5344CB8AC3E}">
        <p14:creationId xmlns:p14="http://schemas.microsoft.com/office/powerpoint/2010/main" val="4186848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A637-3895-B173-035A-12C2535AF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Energy Networks</a:t>
            </a:r>
          </a:p>
        </p:txBody>
      </p:sp>
      <p:pic>
        <p:nvPicPr>
          <p:cNvPr id="4" name="Picture Placeholder 3" descr="A diagram of a modular heat energy management process&#10;&#10;Description automatically generated">
            <a:extLst>
              <a:ext uri="{FF2B5EF4-FFF2-40B4-BE49-F238E27FC236}">
                <a16:creationId xmlns:a16="http://schemas.microsoft.com/office/drawing/2014/main" id="{54F4C722-2DDE-98CE-AEE2-B8589C1936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4094" b="14094"/>
          <a:stretch/>
        </p:blipFill>
        <p:spPr>
          <a:xfrm>
            <a:off x="1099396" y="921489"/>
            <a:ext cx="9993208" cy="49065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750196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FED79-D2E8-5B57-331C-C6CF4E117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8774908" cy="489099"/>
          </a:xfrm>
        </p:spPr>
        <p:txBody>
          <a:bodyPr/>
          <a:lstStyle/>
          <a:p>
            <a:r>
              <a:rPr lang="en-US" dirty="0"/>
              <a:t>TEN Case Study- Colorado Mesa University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A5F7AC-0456-45E9-43BB-8DCAAACCB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781" y="899851"/>
            <a:ext cx="7801019" cy="505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52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5BF-1633-3743-7F7B-0500F0A1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2828F-0430-9DD3-E100-D176E3951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8774908" cy="489099"/>
          </a:xfrm>
        </p:spPr>
        <p:txBody>
          <a:bodyPr/>
          <a:lstStyle/>
          <a:p>
            <a:r>
              <a:rPr lang="en-US" dirty="0"/>
              <a:t>TEN Case Study- Colorado Mesa University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B4C761-71CE-74D3-7802-3A369CBABC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1235"/>
          <a:stretch/>
        </p:blipFill>
        <p:spPr>
          <a:xfrm>
            <a:off x="6970326" y="2273689"/>
            <a:ext cx="4858626" cy="23106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3302A9-391E-EEDD-DCAF-FB7FBC6C25C1}"/>
              </a:ext>
            </a:extLst>
          </p:cNvPr>
          <p:cNvSpPr txBox="1"/>
          <p:nvPr/>
        </p:nvSpPr>
        <p:spPr>
          <a:xfrm>
            <a:off x="500700" y="1043731"/>
            <a:ext cx="703080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solidFill>
                  <a:schemeClr val="dk1"/>
                </a:solidFill>
                <a:latin typeface="Aptos" panose="020B0004020202020204" pitchFamily="34" charset="0"/>
              </a:rPr>
              <a:t>Without District System: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217 vertical feet of borehole per installed ton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Calculated water use: 14.5MM gallons/yr. (3,400 tons CT)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Electric Load 784 kW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2400" dirty="0">
              <a:solidFill>
                <a:schemeClr val="dk1"/>
              </a:solidFill>
              <a:latin typeface="Aptos" panose="020B0004020202020204" pitchFamily="34" charset="0"/>
            </a:endParaRP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en-US" sz="2400" b="1" dirty="0">
                <a:solidFill>
                  <a:schemeClr val="dk1"/>
                </a:solidFill>
                <a:latin typeface="Aptos" panose="020B0004020202020204" pitchFamily="34" charset="0"/>
              </a:rPr>
              <a:t>With District System: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84 vertical feet of borehole per installed ton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Estimated Water Use: 4.5MM gallons (705 tons CT)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Electric Load: 185 kW</a:t>
            </a:r>
          </a:p>
          <a:p>
            <a:pPr marL="342900" indent="-342900" algn="l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  <a:latin typeface="Aptos" panose="020B0004020202020204" pitchFamily="34" charset="0"/>
              </a:rPr>
              <a:t>&gt;$2,000,000 in annual utility savings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B99AFD-E04B-33BA-029B-73D03AF1D9BB}"/>
              </a:ext>
            </a:extLst>
          </p:cNvPr>
          <p:cNvSpPr txBox="1"/>
          <p:nvPr/>
        </p:nvSpPr>
        <p:spPr>
          <a:xfrm>
            <a:off x="7746318" y="5660378"/>
            <a:ext cx="48586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ndara" panose="020E0502030303020204" pitchFamily="34" charset="0"/>
              </a:rPr>
              <a:t>Study by Xcel Energy and performed by Michaels Energy</a:t>
            </a:r>
          </a:p>
        </p:txBody>
      </p:sp>
    </p:spTree>
    <p:extLst>
      <p:ext uri="{BB962C8B-B14F-4D97-AF65-F5344CB8AC3E}">
        <p14:creationId xmlns:p14="http://schemas.microsoft.com/office/powerpoint/2010/main" val="197623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7818F-AC98-97ED-7729-63F1763F9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8873231" cy="489099"/>
          </a:xfrm>
        </p:spPr>
        <p:txBody>
          <a:bodyPr/>
          <a:lstStyle/>
          <a:p>
            <a:r>
              <a:rPr lang="en-US" dirty="0"/>
              <a:t>Combined Electric and Thermal Systems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9A2B0-3764-4DAC-00B1-C3C0CECA0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253" y="1091609"/>
            <a:ext cx="6896947" cy="4749209"/>
          </a:xfrm>
        </p:spPr>
        <p:txBody>
          <a:bodyPr/>
          <a:lstStyle/>
          <a:p>
            <a:pPr marL="0" indent="0"/>
            <a:r>
              <a:rPr lang="en-US" b="1" dirty="0">
                <a:solidFill>
                  <a:schemeClr val="accent3"/>
                </a:solidFill>
              </a:rPr>
              <a:t>What would this look like?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EGS systems provide stable, reliable baseload power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TENs provide clean, flexible thermal conditioning solutions</a:t>
            </a:r>
          </a:p>
          <a:p>
            <a:pPr marL="0" indent="0"/>
            <a:r>
              <a:rPr lang="en-US" b="1" dirty="0">
                <a:solidFill>
                  <a:schemeClr val="accent3"/>
                </a:solidFill>
              </a:rPr>
              <a:t>Where would this make sense?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Geologic considerations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Climate considerations (i.e., hot vs cold)</a:t>
            </a:r>
          </a:p>
          <a:p>
            <a:pPr marL="0" indent="0"/>
            <a:r>
              <a:rPr lang="en-US" b="1" dirty="0">
                <a:solidFill>
                  <a:schemeClr val="accent3"/>
                </a:solidFill>
              </a:rPr>
              <a:t>What benefits would this provide?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From a first cost perspective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From a utility perspective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From a space requirement perspective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4343C2-C765-6DF6-18FF-5E78F87AF8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95" b="4624"/>
          <a:stretch/>
        </p:blipFill>
        <p:spPr>
          <a:xfrm>
            <a:off x="6930312" y="921489"/>
            <a:ext cx="2036872" cy="499310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6AB1A9-5E28-E8C2-3394-B812B951CCC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66" r="108" b="4624"/>
          <a:stretch/>
        </p:blipFill>
        <p:spPr>
          <a:xfrm>
            <a:off x="8701709" y="921489"/>
            <a:ext cx="3411795" cy="499310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2F5DF1-A5BA-5628-FFF3-D94B25DC7E07}"/>
              </a:ext>
            </a:extLst>
          </p:cNvPr>
          <p:cNvSpPr txBox="1"/>
          <p:nvPr/>
        </p:nvSpPr>
        <p:spPr>
          <a:xfrm>
            <a:off x="152560" y="5702318"/>
            <a:ext cx="24580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Image Credit: HEET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6701C5-971A-3532-069D-7347DA17F71B}"/>
              </a:ext>
            </a:extLst>
          </p:cNvPr>
          <p:cNvSpPr/>
          <p:nvPr/>
        </p:nvSpPr>
        <p:spPr>
          <a:xfrm>
            <a:off x="9472927" y="1609392"/>
            <a:ext cx="2719073" cy="24843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b="1" dirty="0">
                <a:solidFill>
                  <a:srgbClr val="447C88"/>
                </a:solidFill>
                <a:highlight>
                  <a:srgbClr val="FFFFFF"/>
                </a:highlight>
              </a:rPr>
              <a:t>Thermal Energy Networks</a:t>
            </a:r>
          </a:p>
        </p:txBody>
      </p:sp>
    </p:spTree>
    <p:extLst>
      <p:ext uri="{BB962C8B-B14F-4D97-AF65-F5344CB8AC3E}">
        <p14:creationId xmlns:p14="http://schemas.microsoft.com/office/powerpoint/2010/main" val="3423362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B3758-D29A-6FE7-C5FB-268CC5146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DCF0B-BE0F-8B9D-219C-E37DD5D89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9669644" cy="489099"/>
          </a:xfrm>
        </p:spPr>
        <p:txBody>
          <a:bodyPr/>
          <a:lstStyle/>
          <a:p>
            <a:r>
              <a:rPr lang="en-US" dirty="0"/>
              <a:t>Is This Being Done? </a:t>
            </a:r>
            <a:r>
              <a:rPr lang="en-US" dirty="0" err="1"/>
              <a:t>Svartsengi</a:t>
            </a:r>
            <a:r>
              <a:rPr lang="en-US" dirty="0"/>
              <a:t> Power Plant, Iceland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D29902-E6C9-2929-5049-A9F9BBE0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1445" y="1187301"/>
            <a:ext cx="4791433" cy="4749209"/>
          </a:xfrm>
        </p:spPr>
        <p:txBody>
          <a:bodyPr/>
          <a:lstStyle/>
          <a:p>
            <a:pPr marL="342900" indent="-342900">
              <a:buFont typeface="Arial"/>
              <a:buChar char="•"/>
            </a:pPr>
            <a:r>
              <a:rPr lang="en-US" dirty="0"/>
              <a:t>FOAK power and district heating CoGen System in 1974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46 MW electric, 200 </a:t>
            </a:r>
            <a:r>
              <a:rPr lang="en-US" dirty="0" err="1"/>
              <a:t>MWth</a:t>
            </a:r>
            <a:r>
              <a:rPr lang="en-US" dirty="0"/>
              <a:t> District Heating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Wastewater creates the famous “Blue Lagoon”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Electricity serves 25,000 people, district heating for 20,000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3AE1DA-2EBF-F962-075B-D564622B879A}"/>
              </a:ext>
            </a:extLst>
          </p:cNvPr>
          <p:cNvPicPr/>
          <p:nvPr/>
        </p:nvPicPr>
        <p:blipFill>
          <a:blip r:embed="rId2"/>
          <a:srcRect/>
          <a:stretch/>
        </p:blipFill>
        <p:spPr bwMode="auto">
          <a:xfrm>
            <a:off x="6189527" y="825796"/>
            <a:ext cx="5048743" cy="51107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B99DA8-805A-E8E8-F66B-53B652222C6B}"/>
              </a:ext>
            </a:extLst>
          </p:cNvPr>
          <p:cNvSpPr txBox="1"/>
          <p:nvPr/>
        </p:nvSpPr>
        <p:spPr>
          <a:xfrm>
            <a:off x="0" y="5670699"/>
            <a:ext cx="42278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ndara" panose="020E0502030303020204" pitchFamily="34" charset="0"/>
              </a:rPr>
              <a:t>https://www.imageprofessionals.com/</a:t>
            </a:r>
          </a:p>
        </p:txBody>
      </p:sp>
    </p:spTree>
    <p:extLst>
      <p:ext uri="{BB962C8B-B14F-4D97-AF65-F5344CB8AC3E}">
        <p14:creationId xmlns:p14="http://schemas.microsoft.com/office/powerpoint/2010/main" val="2104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30903-FC09-550F-4AAC-E556D7307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A609A-84DE-D0A2-2887-6B9F31D04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253" y="432390"/>
            <a:ext cx="7191915" cy="489099"/>
          </a:xfrm>
        </p:spPr>
        <p:txBody>
          <a:bodyPr/>
          <a:lstStyle/>
          <a:p>
            <a:r>
              <a:rPr lang="en-US" dirty="0"/>
              <a:t>Is This Being Done? Altheim, Austria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095BFF-CCB1-CF8B-B6D6-DE53EF1F8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4017" y="1187302"/>
            <a:ext cx="4791433" cy="4749209"/>
          </a:xfrm>
        </p:spPr>
        <p:txBody>
          <a:bodyPr/>
          <a:lstStyle/>
          <a:p>
            <a:pPr marL="342900" indent="-342900">
              <a:buFont typeface="Arial"/>
              <a:buChar char="•"/>
            </a:pPr>
            <a:r>
              <a:rPr lang="en-US" dirty="0"/>
              <a:t>Built in 1989 and expanded in 1994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1 MW Electric, 9 </a:t>
            </a:r>
            <a:r>
              <a:rPr lang="en-US" dirty="0" err="1"/>
              <a:t>MWth</a:t>
            </a:r>
            <a:r>
              <a:rPr lang="en-US" dirty="0"/>
              <a:t> District Heating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District heating for 650 residents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$0.05 USD/KWH and a 72% reduction in CO2</a:t>
            </a:r>
          </a:p>
          <a:p>
            <a:pPr marL="342900" indent="-342900">
              <a:buFont typeface="Arial"/>
              <a:buChar char="•"/>
            </a:pPr>
            <a:r>
              <a:rPr lang="en-US" dirty="0"/>
              <a:t>14.4 ROI on project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947184-1319-32E3-A9CF-16B40A3B7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84" y="990315"/>
            <a:ext cx="7072533" cy="45550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9E8CC6-F57B-198F-7C87-F7BEFD9CAA47}"/>
              </a:ext>
            </a:extLst>
          </p:cNvPr>
          <p:cNvSpPr txBox="1"/>
          <p:nvPr/>
        </p:nvSpPr>
        <p:spPr>
          <a:xfrm>
            <a:off x="111484" y="5713796"/>
            <a:ext cx="42278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ndara" panose="020E0502030303020204" pitchFamily="34" charset="0"/>
              </a:rPr>
              <a:t>ECSAC2014_Cocianing_Altheim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41678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 txBox="1">
            <a:spLocks noGrp="1"/>
          </p:cNvSpPr>
          <p:nvPr>
            <p:ph type="body" idx="1"/>
          </p:nvPr>
        </p:nvSpPr>
        <p:spPr>
          <a:xfrm>
            <a:off x="418251" y="1103243"/>
            <a:ext cx="5323330" cy="9222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spcBef>
                <a:spcPts val="0"/>
              </a:spcBef>
              <a:buSzPts val="2400"/>
            </a:pPr>
            <a:r>
              <a:rPr lang="en-US" dirty="0"/>
              <a:t>Matt Garlick CEM, CCP, BEMP</a:t>
            </a:r>
          </a:p>
          <a:p>
            <a:pPr marL="0" lvl="0" indent="0">
              <a:spcBef>
                <a:spcPts val="0"/>
              </a:spcBef>
              <a:buSzPts val="2400"/>
            </a:pPr>
            <a:r>
              <a:rPr lang="en-US" dirty="0"/>
              <a:t>CEO, The GreyEdge Group</a:t>
            </a:r>
          </a:p>
          <a:p>
            <a:pPr marL="0" lvl="0" indent="0">
              <a:spcBef>
                <a:spcPts val="0"/>
              </a:spcBef>
              <a:buSzPts val="2400"/>
            </a:pPr>
            <a:r>
              <a:rPr lang="en-US" dirty="0"/>
              <a:t>mgarlick@GreyEdgeGroup.com</a:t>
            </a:r>
          </a:p>
        </p:txBody>
      </p:sp>
      <p:sp>
        <p:nvSpPr>
          <p:cNvPr id="36" name="Google Shape;36;p3"/>
          <p:cNvSpPr txBox="1">
            <a:spLocks noGrp="1"/>
          </p:cNvSpPr>
          <p:nvPr>
            <p:ph type="title"/>
          </p:nvPr>
        </p:nvSpPr>
        <p:spPr>
          <a:xfrm>
            <a:off x="418253" y="432390"/>
            <a:ext cx="7801515" cy="48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A764A"/>
              </a:buClr>
              <a:buSzPts val="3200"/>
              <a:buFont typeface="Times New Roman"/>
              <a:buNone/>
            </a:pPr>
            <a:r>
              <a:rPr lang="en-US" dirty="0"/>
              <a:t>Thank You! Questions and Discussion</a:t>
            </a:r>
            <a:endParaRPr dirty="0"/>
          </a:p>
        </p:txBody>
      </p:sp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1702F3C-D27E-E3F7-EECC-BE5931E03A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2" r="2952"/>
          <a:stretch/>
        </p:blipFill>
        <p:spPr>
          <a:xfrm>
            <a:off x="3909089" y="827475"/>
            <a:ext cx="8002313" cy="3929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85C4763-398A-350A-4AE9-707EEF03ECD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70" r="996"/>
          <a:stretch/>
        </p:blipFill>
        <p:spPr>
          <a:xfrm rot="5400000">
            <a:off x="385737" y="2397028"/>
            <a:ext cx="3430560" cy="30509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812807-7334-92C6-1987-B6F2A83D43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17" b="37122"/>
          <a:stretch/>
        </p:blipFill>
        <p:spPr>
          <a:xfrm>
            <a:off x="6013979" y="4756513"/>
            <a:ext cx="3792532" cy="11979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A764A"/>
      </a:accent1>
      <a:accent2>
        <a:srgbClr val="BD955B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0AE5EE057BC9F43B26E08BE3C93F443" ma:contentTypeVersion="14" ma:contentTypeDescription="Create a new document." ma:contentTypeScope="" ma:versionID="4bc4c357b05fc27a2c4fd2ed5f0caf66">
  <xsd:schema xmlns:xsd="http://www.w3.org/2001/XMLSchema" xmlns:xs="http://www.w3.org/2001/XMLSchema" xmlns:p="http://schemas.microsoft.com/office/2006/metadata/properties" xmlns:ns2="f63aac96-6c22-4acb-bcd1-d671912bd8aa" xmlns:ns3="ab10ce27-33c4-4ede-8105-a3cd7fc3dcd0" targetNamespace="http://schemas.microsoft.com/office/2006/metadata/properties" ma:root="true" ma:fieldsID="39b62f2764437405437cdea7525b1e45" ns2:_="" ns3:_="">
    <xsd:import namespace="f63aac96-6c22-4acb-bcd1-d671912bd8aa"/>
    <xsd:import namespace="ab10ce27-33c4-4ede-8105-a3cd7fc3dcd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Date_x002d_Tim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3aac96-6c22-4acb-bcd1-d671912bd8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f13e8058-98c7-47b1-9de9-5c0c3ae81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Date_x002d_Time" ma:index="20" nillable="true" ma:displayName="Date-Time" ma:format="DateTime" ma:internalName="Date_x002d_Time">
      <xsd:simpleType>
        <xsd:restriction base="dms:DateTim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0ce27-33c4-4ede-8105-a3cd7fc3dcd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118888e-c2cf-453c-b2ee-45c9ded50370}" ma:internalName="TaxCatchAll" ma:showField="CatchAllData" ma:web="ab10ce27-33c4-4ede-8105-a3cd7fc3dcd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d_Time xmlns="f63aac96-6c22-4acb-bcd1-d671912bd8aa" xsi:nil="true"/>
    <lcf76f155ced4ddcb4097134ff3c332f xmlns="f63aac96-6c22-4acb-bcd1-d671912bd8aa">
      <Terms xmlns="http://schemas.microsoft.com/office/infopath/2007/PartnerControls"/>
    </lcf76f155ced4ddcb4097134ff3c332f>
    <TaxCatchAll xmlns="ab10ce27-33c4-4ede-8105-a3cd7fc3dcd0" xsi:nil="true"/>
  </documentManagement>
</p:properties>
</file>

<file path=customXml/itemProps1.xml><?xml version="1.0" encoding="utf-8"?>
<ds:datastoreItem xmlns:ds="http://schemas.openxmlformats.org/officeDocument/2006/customXml" ds:itemID="{8C4426F4-7DF4-4834-833A-73054B08E47A}"/>
</file>

<file path=customXml/itemProps2.xml><?xml version="1.0" encoding="utf-8"?>
<ds:datastoreItem xmlns:ds="http://schemas.openxmlformats.org/officeDocument/2006/customXml" ds:itemID="{B88E8296-1BD5-49B4-96A7-EA2B94FB939D}"/>
</file>

<file path=customXml/itemProps3.xml><?xml version="1.0" encoding="utf-8"?>
<ds:datastoreItem xmlns:ds="http://schemas.openxmlformats.org/officeDocument/2006/customXml" ds:itemID="{6B61FEB9-F389-4867-B046-0C3A2ED13A18}"/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516</Words>
  <Application>Microsoft Office PowerPoint</Application>
  <PresentationFormat>Widescreen</PresentationFormat>
  <Paragraphs>85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Candara</vt:lpstr>
      <vt:lpstr>Symbol</vt:lpstr>
      <vt:lpstr>Times New Roman</vt:lpstr>
      <vt:lpstr>Office Theme</vt:lpstr>
      <vt:lpstr>Geothermal CoGeneration</vt:lpstr>
      <vt:lpstr>The Variety of Geothermal Systems</vt:lpstr>
      <vt:lpstr>Geo Power System Boundaries</vt:lpstr>
      <vt:lpstr>The Enhanced Geothermal System Theory</vt:lpstr>
      <vt:lpstr>The FORGE Research Project</vt:lpstr>
      <vt:lpstr>The FORGE Research Project</vt:lpstr>
      <vt:lpstr>The Fervo Methodology- Enhanced Geothermal Systems</vt:lpstr>
      <vt:lpstr>The Sage Methodology- Geopressured Long Duration Storage</vt:lpstr>
      <vt:lpstr>Thermal Energy Networks</vt:lpstr>
      <vt:lpstr>TEN Case Study- Colorado Mesa University</vt:lpstr>
      <vt:lpstr>TEN Case Study- Colorado Mesa University</vt:lpstr>
      <vt:lpstr>Combined Electric and Thermal Systems</vt:lpstr>
      <vt:lpstr>Is This Being Done? Svartsengi Power Plant, Iceland</vt:lpstr>
      <vt:lpstr>Is This Being Done? Altheim, Austria</vt:lpstr>
      <vt:lpstr>Thank You! Questions and 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Tiger Adolf</dc:creator>
  <cp:lastModifiedBy>Matt Garlick</cp:lastModifiedBy>
  <cp:revision>6</cp:revision>
  <dcterms:created xsi:type="dcterms:W3CDTF">2021-06-22T17:13:53Z</dcterms:created>
  <dcterms:modified xsi:type="dcterms:W3CDTF">2025-09-15T20:46:27Z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0x01010020AE5EE057BC9F43B26E08BE3C93F443</vt:lpwstr>
  </property>
</Properties>
</file>