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7" r:id="rId2"/>
    <p:sldId id="258" r:id="rId3"/>
    <p:sldId id="259" r:id="rId4"/>
    <p:sldId id="260" r:id="rId5"/>
    <p:sldId id="281" r:id="rId6"/>
    <p:sldId id="275" r:id="rId7"/>
    <p:sldId id="262" r:id="rId8"/>
    <p:sldId id="263" r:id="rId9"/>
    <p:sldId id="276" r:id="rId10"/>
    <p:sldId id="277" r:id="rId11"/>
    <p:sldId id="278" r:id="rId12"/>
    <p:sldId id="264" r:id="rId13"/>
    <p:sldId id="266" r:id="rId14"/>
    <p:sldId id="265" r:id="rId15"/>
    <p:sldId id="267" r:id="rId16"/>
    <p:sldId id="279" r:id="rId17"/>
    <p:sldId id="269" r:id="rId18"/>
    <p:sldId id="270" r:id="rId19"/>
    <p:sldId id="273"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764A"/>
    <a:srgbClr val="01534D"/>
    <a:srgbClr val="A1283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2D37A4-F182-4504-95F8-4920E6296E92}" v="9" dt="2024-10-08T01:55:37.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 Id="rId30"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752D37A4-F182-4504-95F8-4920E6296E92}"/>
    <pc:docChg chg="modSld">
      <pc:chgData name="Guest User" userId="" providerId="Windows Live" clId="Web-{752D37A4-F182-4504-95F8-4920E6296E92}" dt="2024-10-08T01:55:37.514" v="8" actId="1076"/>
      <pc:docMkLst>
        <pc:docMk/>
      </pc:docMkLst>
      <pc:sldChg chg="addSp delSp modSp">
        <pc:chgData name="Guest User" userId="" providerId="Windows Live" clId="Web-{752D37A4-F182-4504-95F8-4920E6296E92}" dt="2024-10-07T16:43:51.560" v="7"/>
        <pc:sldMkLst>
          <pc:docMk/>
          <pc:sldMk cId="4278631180" sldId="259"/>
        </pc:sldMkLst>
        <pc:picChg chg="add del">
          <ac:chgData name="Guest User" userId="" providerId="Windows Live" clId="Web-{752D37A4-F182-4504-95F8-4920E6296E92}" dt="2024-10-07T16:43:51.560" v="7"/>
          <ac:picMkLst>
            <pc:docMk/>
            <pc:sldMk cId="4278631180" sldId="259"/>
            <ac:picMk id="6" creationId="{A8A207B4-0482-187C-2743-A7DAD7F974C1}"/>
          </ac:picMkLst>
        </pc:picChg>
        <pc:picChg chg="add del mod">
          <ac:chgData name="Guest User" userId="" providerId="Windows Live" clId="Web-{752D37A4-F182-4504-95F8-4920E6296E92}" dt="2024-10-07T16:43:47.857" v="6" actId="1076"/>
          <ac:picMkLst>
            <pc:docMk/>
            <pc:sldMk cId="4278631180" sldId="259"/>
            <ac:picMk id="7" creationId="{F65205DB-B725-1FAE-39F4-5008718164D6}"/>
          </ac:picMkLst>
        </pc:picChg>
      </pc:sldChg>
      <pc:sldChg chg="modSp">
        <pc:chgData name="Guest User" userId="" providerId="Windows Live" clId="Web-{752D37A4-F182-4504-95F8-4920E6296E92}" dt="2024-10-08T01:55:37.514" v="8" actId="1076"/>
        <pc:sldMkLst>
          <pc:docMk/>
          <pc:sldMk cId="2984318898" sldId="266"/>
        </pc:sldMkLst>
        <pc:picChg chg="mod">
          <ac:chgData name="Guest User" userId="" providerId="Windows Live" clId="Web-{752D37A4-F182-4504-95F8-4920E6296E92}" dt="2024-10-08T01:55:37.514" v="8" actId="1076"/>
          <ac:picMkLst>
            <pc:docMk/>
            <pc:sldMk cId="2984318898" sldId="266"/>
            <ac:picMk id="4" creationId="{1124EECC-FBFE-316B-CBEA-6FF66EB46A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AA53F-EE2C-0E4D-BDE7-86FCFD26C453}" type="datetimeFigureOut">
              <a:rPr lang="en-US" smtClean="0"/>
              <a:t>10/7/2024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A9D35-06E8-EB4D-9DFC-75DA46293E24}" type="slidenum">
              <a:rPr lang="en-US" smtClean="0"/>
              <a:t>‹#›</a:t>
            </a:fld>
            <a:endParaRPr lang="en-US"/>
          </a:p>
        </p:txBody>
      </p:sp>
    </p:spTree>
    <p:extLst>
      <p:ext uri="{BB962C8B-B14F-4D97-AF65-F5344CB8AC3E}">
        <p14:creationId xmlns:p14="http://schemas.microsoft.com/office/powerpoint/2010/main" val="305785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a:t>
            </a:fld>
            <a:endParaRPr lang="en-US"/>
          </a:p>
        </p:txBody>
      </p:sp>
    </p:spTree>
    <p:extLst>
      <p:ext uri="{BB962C8B-B14F-4D97-AF65-F5344CB8AC3E}">
        <p14:creationId xmlns:p14="http://schemas.microsoft.com/office/powerpoint/2010/main" val="723823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a:t>Also: </a:t>
            </a:r>
            <a:r>
              <a:rPr lang="en-US" sz="1200"/>
              <a:t> Ease peak load demand</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Turn liabilities into assets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Create new business models around energy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Shift paradigms about how energy is created, transferred, and shared</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2</a:t>
            </a:fld>
            <a:endParaRPr lang="en-US"/>
          </a:p>
        </p:txBody>
      </p:sp>
    </p:spTree>
    <p:extLst>
      <p:ext uri="{BB962C8B-B14F-4D97-AF65-F5344CB8AC3E}">
        <p14:creationId xmlns:p14="http://schemas.microsoft.com/office/powerpoint/2010/main" val="1546111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ATL 101: Heat pumps to Heat Pump Buildings Heat Trading enabled. Can be connected to air, water, or ground. </a:t>
            </a:r>
          </a:p>
          <a:p>
            <a:r>
              <a:rPr lang="en-US"/>
              <a:t>Networked buildings (the TEN)</a:t>
            </a:r>
          </a:p>
          <a:p>
            <a:r>
              <a:rPr lang="en-US"/>
              <a:t>Move heat from lab to classroom, from civic buildings to residential</a:t>
            </a:r>
          </a:p>
          <a:p>
            <a:pPr lvl="2"/>
            <a:r>
              <a:rPr lang="en-US"/>
              <a:t>(insert graphic)</a:t>
            </a:r>
          </a:p>
          <a:p>
            <a:pPr lvl="2"/>
            <a:r>
              <a:rPr lang="en-US" b="1"/>
              <a:t>3 components</a:t>
            </a:r>
          </a:p>
          <a:p>
            <a:pPr lvl="2"/>
            <a:r>
              <a:rPr lang="en-US"/>
              <a:t>Buildings</a:t>
            </a:r>
          </a:p>
          <a:p>
            <a:pPr lvl="2"/>
            <a:r>
              <a:rPr lang="en-US"/>
              <a:t>Loop</a:t>
            </a:r>
          </a:p>
          <a:p>
            <a:pPr lvl="2"/>
            <a:r>
              <a:rPr lang="en-US"/>
              <a:t>Thermal management devices</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4</a:t>
            </a:fld>
            <a:endParaRPr lang="en-US"/>
          </a:p>
        </p:txBody>
      </p:sp>
    </p:spTree>
    <p:extLst>
      <p:ext uri="{BB962C8B-B14F-4D97-AF65-F5344CB8AC3E}">
        <p14:creationId xmlns:p14="http://schemas.microsoft.com/office/powerpoint/2010/main" val="3485875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a:t>System expansion and growth over time.  Modularity of system is a huge benefit. Increased resiliency comes with expansion and diversity</a:t>
            </a:r>
          </a:p>
          <a:p>
            <a:br>
              <a:rPr lang="en-US" sz="2400"/>
            </a:br>
            <a:endParaRPr lang="en-US" sz="24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5</a:t>
            </a:fld>
            <a:endParaRPr lang="en-US"/>
          </a:p>
        </p:txBody>
      </p:sp>
    </p:spTree>
    <p:extLst>
      <p:ext uri="{BB962C8B-B14F-4D97-AF65-F5344CB8AC3E}">
        <p14:creationId xmlns:p14="http://schemas.microsoft.com/office/powerpoint/2010/main" val="1161548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Networked Buildings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Shared Loads and Assets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Liabilities can become Assets</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6</a:t>
            </a:fld>
            <a:endParaRPr lang="en-US"/>
          </a:p>
        </p:txBody>
      </p:sp>
    </p:spTree>
    <p:extLst>
      <p:ext uri="{BB962C8B-B14F-4D97-AF65-F5344CB8AC3E}">
        <p14:creationId xmlns:p14="http://schemas.microsoft.com/office/powerpoint/2010/main" val="972123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a:t>System expansion and growth over time.  Modularity of system is a huge benefit. Increased resiliency comes with expansion and diversity</a:t>
            </a:r>
          </a:p>
          <a:p>
            <a:br>
              <a:rPr lang="en-US" sz="2400"/>
            </a:br>
            <a:endParaRPr lang="en-US" sz="24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7</a:t>
            </a:fld>
            <a:endParaRPr lang="en-US"/>
          </a:p>
        </p:txBody>
      </p:sp>
    </p:spTree>
    <p:extLst>
      <p:ext uri="{BB962C8B-B14F-4D97-AF65-F5344CB8AC3E}">
        <p14:creationId xmlns:p14="http://schemas.microsoft.com/office/powerpoint/2010/main" val="141921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8</a:t>
            </a:fld>
            <a:endParaRPr lang="en-US"/>
          </a:p>
        </p:txBody>
      </p:sp>
    </p:spTree>
    <p:extLst>
      <p:ext uri="{BB962C8B-B14F-4D97-AF65-F5344CB8AC3E}">
        <p14:creationId xmlns:p14="http://schemas.microsoft.com/office/powerpoint/2010/main" val="2494629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9</a:t>
            </a:fld>
            <a:endParaRPr lang="en-US"/>
          </a:p>
        </p:txBody>
      </p:sp>
    </p:spTree>
    <p:extLst>
      <p:ext uri="{BB962C8B-B14F-4D97-AF65-F5344CB8AC3E}">
        <p14:creationId xmlns:p14="http://schemas.microsoft.com/office/powerpoint/2010/main" val="3351435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Thermal inertia is related to system size and mass</a:t>
            </a:r>
          </a:p>
          <a:p>
            <a:r>
              <a:rPr lang="en-US" sz="1200"/>
              <a:t>Ability to </a:t>
            </a:r>
            <a:r>
              <a:rPr lang="en-US" sz="1200" i="1"/>
              <a:t>coast</a:t>
            </a:r>
            <a:r>
              <a:rPr lang="en-US" sz="1200"/>
              <a:t> through peak events</a:t>
            </a:r>
          </a:p>
          <a:p>
            <a:r>
              <a:rPr lang="en-US" sz="1200">
                <a:solidFill>
                  <a:srgbClr val="FFC000"/>
                </a:solidFill>
              </a:rPr>
              <a:t>CMU has 12 levels of demand response and</a:t>
            </a:r>
          </a:p>
          <a:p>
            <a:r>
              <a:rPr lang="en-US" sz="1200">
                <a:solidFill>
                  <a:srgbClr val="FFC000"/>
                </a:solidFill>
              </a:rPr>
              <a:t>can hit button in response to XCEL Energy peak demand calls (Matt insert _______ here)</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12</a:t>
            </a:fld>
            <a:endParaRPr lang="en-US"/>
          </a:p>
        </p:txBody>
      </p:sp>
    </p:spTree>
    <p:extLst>
      <p:ext uri="{BB962C8B-B14F-4D97-AF65-F5344CB8AC3E}">
        <p14:creationId xmlns:p14="http://schemas.microsoft.com/office/powerpoint/2010/main" val="3678540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(Vail snowmelt system map graphic)</a:t>
            </a:r>
          </a:p>
          <a:p>
            <a:r>
              <a:rPr lang="en-US"/>
              <a:t>Biggest snowmelt in north America (12 acres), 7megawatts of equivalent electrical energy (size of snowmelt plant</a:t>
            </a:r>
          </a:p>
          <a:p>
            <a:r>
              <a:rPr lang="en-US"/>
              <a:t>(insert pic)</a:t>
            </a:r>
          </a:p>
          <a:p>
            <a:r>
              <a:rPr lang="en-US"/>
              <a:t>Existing system serves town in many ways (slip and falls, snow storage and removal, cater to demographic that expects dry pavers (high-heel grade), risks for litigation</a:t>
            </a:r>
          </a:p>
          <a:p>
            <a:r>
              <a:rPr lang="en-US"/>
              <a:t>Covers Vail Village and </a:t>
            </a:r>
            <a:r>
              <a:rPr lang="en-US" err="1"/>
              <a:t>Lionshead</a:t>
            </a:r>
            <a:endParaRPr lang="en-US"/>
          </a:p>
          <a:p>
            <a:r>
              <a:rPr lang="en-US"/>
              <a:t>Runs hot, was recently retro-commissioned (we are making more efficient)</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13</a:t>
            </a:fld>
            <a:endParaRPr lang="en-US"/>
          </a:p>
        </p:txBody>
      </p:sp>
    </p:spTree>
    <p:extLst>
      <p:ext uri="{BB962C8B-B14F-4D97-AF65-F5344CB8AC3E}">
        <p14:creationId xmlns:p14="http://schemas.microsoft.com/office/powerpoint/2010/main" val="2839114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Vail is pursuing efficiency to reduce emissions, but to achieve goals we must reconsider the energy system type itself (equipment, fuel source, holistic opportunities).  Benefit of efficiency is smaller alternative.  Vail is pursuing both/and/all-of-the-above solutions.</a:t>
            </a:r>
          </a:p>
        </p:txBody>
      </p:sp>
      <p:sp>
        <p:nvSpPr>
          <p:cNvPr id="4" name="Slide Number Placeholder 3"/>
          <p:cNvSpPr>
            <a:spLocks noGrp="1"/>
          </p:cNvSpPr>
          <p:nvPr>
            <p:ph type="sldNum" sz="quarter" idx="5"/>
          </p:nvPr>
        </p:nvSpPr>
        <p:spPr/>
        <p:txBody>
          <a:bodyPr/>
          <a:lstStyle/>
          <a:p>
            <a:fld id="{527A9D35-06E8-EB4D-9DFC-75DA46293E24}" type="slidenum">
              <a:rPr lang="en-US" smtClean="0"/>
              <a:t>14</a:t>
            </a:fld>
            <a:endParaRPr lang="en-US"/>
          </a:p>
        </p:txBody>
      </p:sp>
    </p:spTree>
    <p:extLst>
      <p:ext uri="{BB962C8B-B14F-4D97-AF65-F5344CB8AC3E}">
        <p14:creationId xmlns:p14="http://schemas.microsoft.com/office/powerpoint/2010/main" val="4007840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t>We conducted an advanced thermal conductivity test which involves pulsing heat into the ground and observing the rate of dissipation.  This helps us understand the thermal battery potential of our geology (how quick to charge and discharge, and how long to store heat).  (ability to transfer and store heat easily)</a:t>
            </a:r>
          </a:p>
          <a:p>
            <a:pPr lvl="1"/>
            <a:r>
              <a:rPr lang="en-US"/>
              <a:t>Similar conditions throughout valley floor</a:t>
            </a:r>
          </a:p>
          <a:p>
            <a:pPr lvl="1"/>
            <a:endParaRPr lang="en-US"/>
          </a:p>
          <a:p>
            <a:pPr lvl="1"/>
            <a:r>
              <a:rPr lang="en-US"/>
              <a:t>Evaluation of sources of thermal energy</a:t>
            </a:r>
          </a:p>
          <a:p>
            <a:r>
              <a:rPr lang="en-US"/>
              <a:t>ATL 101: Heat pumps to Heat Pump Buildings</a:t>
            </a:r>
          </a:p>
          <a:p>
            <a:pPr lvl="1"/>
            <a:r>
              <a:rPr lang="en-US"/>
              <a:t>Heat Trading enabled</a:t>
            </a:r>
          </a:p>
          <a:p>
            <a:pPr lvl="1"/>
            <a:r>
              <a:rPr lang="en-US"/>
              <a:t>Can be connected to air, water, or ground</a:t>
            </a:r>
          </a:p>
          <a:p>
            <a:pPr lvl="1"/>
            <a:r>
              <a:rPr lang="en-US"/>
              <a:t>Networked buildings (the TEN)</a:t>
            </a:r>
          </a:p>
          <a:p>
            <a:pPr lvl="2"/>
            <a:r>
              <a:rPr lang="en-US"/>
              <a:t>Move heat from lab to classroom, from civic buildings to residential</a:t>
            </a:r>
          </a:p>
          <a:p>
            <a:pPr lvl="2"/>
            <a:r>
              <a:rPr lang="en-US"/>
              <a:t>(insert graphic)</a:t>
            </a:r>
          </a:p>
          <a:p>
            <a:pPr lvl="2"/>
            <a:r>
              <a:rPr lang="en-US" b="1"/>
              <a:t>3 components</a:t>
            </a:r>
          </a:p>
          <a:p>
            <a:pPr lvl="2"/>
            <a:r>
              <a:rPr lang="en-US"/>
              <a:t>Buildings</a:t>
            </a:r>
          </a:p>
          <a:p>
            <a:pPr lvl="2"/>
            <a:r>
              <a:rPr lang="en-US"/>
              <a:t>Loop</a:t>
            </a:r>
          </a:p>
          <a:p>
            <a:pPr lvl="2"/>
            <a:r>
              <a:rPr lang="en-US"/>
              <a:t>Thermal management devices</a:t>
            </a:r>
          </a:p>
          <a:p>
            <a:pPr lvl="1"/>
            <a:endParaRPr lang="en-US"/>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15</a:t>
            </a:fld>
            <a:endParaRPr lang="en-US"/>
          </a:p>
        </p:txBody>
      </p:sp>
    </p:spTree>
    <p:extLst>
      <p:ext uri="{BB962C8B-B14F-4D97-AF65-F5344CB8AC3E}">
        <p14:creationId xmlns:p14="http://schemas.microsoft.com/office/powerpoint/2010/main" val="3559511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Partnership w/VR, ERWSD, Arrabelle has a 900 </a:t>
            </a:r>
            <a:r>
              <a:rPr lang="en-US" err="1">
                <a:latin typeface="Calibri"/>
                <a:ea typeface="Calibri"/>
                <a:cs typeface="Calibri"/>
              </a:rPr>
              <a:t>gpm</a:t>
            </a:r>
            <a:r>
              <a:rPr lang="en-US">
                <a:latin typeface="Calibri"/>
                <a:ea typeface="Calibri"/>
                <a:cs typeface="Calibri"/>
              </a:rPr>
              <a:t> dewatering system that could be a source of heat for the system.  ERWSD treats up to 4million gallons daily and needs to reduce their temps under new state regulation.  Creative solutions to heating involve taking advantage of existing waste heat opportunities (non-traditional waste-heat opportunities that can be </a:t>
            </a:r>
            <a:r>
              <a:rPr lang="en-US" err="1">
                <a:latin typeface="Calibri"/>
                <a:ea typeface="Calibri"/>
                <a:cs typeface="Calibri"/>
              </a:rPr>
              <a:t>capitizalized</a:t>
            </a:r>
            <a:r>
              <a:rPr lang="en-US">
                <a:latin typeface="Calibri"/>
                <a:ea typeface="Calibri"/>
                <a:cs typeface="Calibri"/>
              </a:rPr>
              <a:t> on with an TEN/ATL).  (We will circle back to this on the paradigm shift slide).  Are possible because of the nature of the TEN.</a:t>
            </a:r>
          </a:p>
        </p:txBody>
      </p:sp>
      <p:sp>
        <p:nvSpPr>
          <p:cNvPr id="4" name="Slide Number Placeholder 3"/>
          <p:cNvSpPr>
            <a:spLocks noGrp="1"/>
          </p:cNvSpPr>
          <p:nvPr>
            <p:ph type="sldNum" sz="quarter" idx="5"/>
          </p:nvPr>
        </p:nvSpPr>
        <p:spPr/>
        <p:txBody>
          <a:bodyPr/>
          <a:lstStyle/>
          <a:p>
            <a:fld id="{527A9D35-06E8-EB4D-9DFC-75DA46293E24}" type="slidenum">
              <a:rPr lang="en-US" smtClean="0"/>
              <a:t>16</a:t>
            </a:fld>
            <a:endParaRPr lang="en-US"/>
          </a:p>
        </p:txBody>
      </p:sp>
    </p:spTree>
    <p:extLst>
      <p:ext uri="{BB962C8B-B14F-4D97-AF65-F5344CB8AC3E}">
        <p14:creationId xmlns:p14="http://schemas.microsoft.com/office/powerpoint/2010/main" val="3220656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Grant will </a:t>
            </a:r>
            <a:r>
              <a:rPr lang="en-US" err="1"/>
              <a:t>eneable</a:t>
            </a:r>
            <a:r>
              <a:rPr lang="en-US"/>
              <a:t> work:  Beginning</a:t>
            </a:r>
            <a:r>
              <a:rPr lang="en-US" sz="1200"/>
              <a:t> work on: MEP Design, Civic planning, risk Mitigation, IRA implications, Business model</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17</a:t>
            </a:fld>
            <a:endParaRPr lang="en-US"/>
          </a:p>
        </p:txBody>
      </p:sp>
    </p:spTree>
    <p:extLst>
      <p:ext uri="{BB962C8B-B14F-4D97-AF65-F5344CB8AC3E}">
        <p14:creationId xmlns:p14="http://schemas.microsoft.com/office/powerpoint/2010/main" val="2589767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90000"/>
              </a:lnSpc>
              <a:spcBef>
                <a:spcPts val="1000"/>
              </a:spcBef>
              <a:buFont typeface="Wingdings,Sans-Serif"/>
              <a:buChar char="v"/>
            </a:pPr>
            <a:r>
              <a:rPr lang="en-US"/>
              <a:t>Reliability of service</a:t>
            </a:r>
          </a:p>
          <a:p>
            <a:pPr marL="171450" indent="-171450">
              <a:lnSpc>
                <a:spcPct val="90000"/>
              </a:lnSpc>
              <a:spcBef>
                <a:spcPts val="1000"/>
              </a:spcBef>
              <a:buFont typeface="Wingdings,Sans-Serif"/>
              <a:buChar char="v"/>
            </a:pPr>
            <a:r>
              <a:rPr lang="en-US"/>
              <a:t>Cost-effectiveness (affordability for rate payers)</a:t>
            </a:r>
          </a:p>
          <a:p>
            <a:pPr marL="171450" indent="-171450">
              <a:lnSpc>
                <a:spcPct val="90000"/>
              </a:lnSpc>
              <a:spcBef>
                <a:spcPts val="1000"/>
              </a:spcBef>
              <a:buFont typeface="Wingdings,Sans-Serif"/>
              <a:buChar char="v"/>
            </a:pPr>
            <a:r>
              <a:rPr lang="en-US"/>
              <a:t>Falcon-curve (concept of smoothing out seasonal and daily demand patterns</a:t>
            </a:r>
          </a:p>
          <a:p>
            <a:pPr marL="171450" indent="-171450">
              <a:lnSpc>
                <a:spcPct val="90000"/>
              </a:lnSpc>
              <a:spcBef>
                <a:spcPts val="1000"/>
              </a:spcBef>
              <a:buFont typeface="Wingdings,Sans-Serif"/>
              <a:buChar char="v"/>
            </a:pPr>
            <a:r>
              <a:rPr lang="en-US"/>
              <a:t>Buffering variability</a:t>
            </a:r>
          </a:p>
          <a:p>
            <a:pPr marL="171450" indent="-171450">
              <a:lnSpc>
                <a:spcPct val="90000"/>
              </a:lnSpc>
              <a:spcBef>
                <a:spcPts val="1000"/>
              </a:spcBef>
              <a:buFont typeface="Wingdings,Sans-Serif"/>
              <a:buChar char="v"/>
            </a:pPr>
            <a:r>
              <a:rPr lang="en-US"/>
              <a:t>Sustainability and decarbonization</a:t>
            </a:r>
          </a:p>
          <a:p>
            <a:pPr marL="171450" indent="-171450">
              <a:lnSpc>
                <a:spcPct val="90000"/>
              </a:lnSpc>
              <a:spcBef>
                <a:spcPts val="1000"/>
              </a:spcBef>
              <a:buFont typeface="Wingdings,Sans-Serif"/>
              <a:buChar char="v"/>
            </a:pPr>
            <a:r>
              <a:rPr lang="en-US"/>
              <a:t>Opportunity to expand business (electric and gas service territories, this is the gold rush for clean, affordable, reliable heating and cooling)</a:t>
            </a:r>
          </a:p>
        </p:txBody>
      </p:sp>
      <p:sp>
        <p:nvSpPr>
          <p:cNvPr id="4" name="Slide Number Placeholder 3"/>
          <p:cNvSpPr>
            <a:spLocks noGrp="1"/>
          </p:cNvSpPr>
          <p:nvPr>
            <p:ph type="sldNum" sz="quarter" idx="5"/>
          </p:nvPr>
        </p:nvSpPr>
        <p:spPr/>
        <p:txBody>
          <a:bodyPr/>
          <a:lstStyle/>
          <a:p>
            <a:fld id="{527A9D35-06E8-EB4D-9DFC-75DA46293E24}" type="slidenum">
              <a:rPr lang="en-US" smtClean="0"/>
              <a:t>18</a:t>
            </a:fld>
            <a:endParaRPr lang="en-US"/>
          </a:p>
        </p:txBody>
      </p:sp>
    </p:spTree>
    <p:extLst>
      <p:ext uri="{BB962C8B-B14F-4D97-AF65-F5344CB8AC3E}">
        <p14:creationId xmlns:p14="http://schemas.microsoft.com/office/powerpoint/2010/main" val="2306839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endParaRPr lang="en-US"/>
          </a:p>
          <a:p>
            <a:endParaRPr lang="en-US"/>
          </a:p>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19</a:t>
            </a:fld>
            <a:endParaRPr lang="en-US"/>
          </a:p>
        </p:txBody>
      </p:sp>
    </p:spTree>
    <p:extLst>
      <p:ext uri="{BB962C8B-B14F-4D97-AF65-F5344CB8AC3E}">
        <p14:creationId xmlns:p14="http://schemas.microsoft.com/office/powerpoint/2010/main" val="3342679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01126"/>
            <a:ext cx="10363200" cy="2387600"/>
          </a:xfrm>
          <a:prstGeom prst="rect">
            <a:avLst/>
          </a:prstGeom>
        </p:spPr>
        <p:txBody>
          <a:bodyPr anchor="b"/>
          <a:lstStyle>
            <a:lvl1pPr algn="ctr">
              <a:defRPr sz="6000" b="1"/>
            </a:lvl1pPr>
          </a:lstStyle>
          <a:p>
            <a:r>
              <a:rPr lang="en-US"/>
              <a:t>Click to edit Master title style</a:t>
            </a:r>
          </a:p>
        </p:txBody>
      </p:sp>
      <p:sp>
        <p:nvSpPr>
          <p:cNvPr id="3" name="Subtitle 2"/>
          <p:cNvSpPr>
            <a:spLocks noGrp="1"/>
          </p:cNvSpPr>
          <p:nvPr>
            <p:ph type="subTitle" idx="1"/>
          </p:nvPr>
        </p:nvSpPr>
        <p:spPr>
          <a:xfrm>
            <a:off x="1524000" y="3801112"/>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418253" y="6264912"/>
            <a:ext cx="2743200" cy="278129"/>
          </a:xfrm>
          <a:prstGeom prst="rect">
            <a:avLst/>
          </a:prstGeom>
        </p:spPr>
        <p:txBody>
          <a:bodyPr/>
          <a:lstStyle/>
          <a:p>
            <a:fld id="{897A04EF-FE05-4FB1-A200-1E41E7BFE3F9}" type="datetimeFigureOut">
              <a:rPr lang="en-US" smtClean="0"/>
              <a:t>10/7/2024</a:t>
            </a:fld>
            <a:endParaRPr lang="en-US"/>
          </a:p>
        </p:txBody>
      </p:sp>
      <p:sp>
        <p:nvSpPr>
          <p:cNvPr id="5" name="Footer Placeholder 4"/>
          <p:cNvSpPr>
            <a:spLocks noGrp="1"/>
          </p:cNvSpPr>
          <p:nvPr>
            <p:ph type="ftr" sz="quarter" idx="11"/>
          </p:nvPr>
        </p:nvSpPr>
        <p:spPr>
          <a:xfrm>
            <a:off x="4038600" y="6264912"/>
            <a:ext cx="4114800" cy="278129"/>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278129"/>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699460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8254" y="1331843"/>
            <a:ext cx="11355493" cy="655981"/>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18254" y="1987825"/>
            <a:ext cx="11355493" cy="4258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5" name="Footer Placeholder 4"/>
          <p:cNvSpPr>
            <a:spLocks noGrp="1"/>
          </p:cNvSpPr>
          <p:nvPr>
            <p:ph type="ftr" sz="quarter" idx="11"/>
          </p:nvPr>
        </p:nvSpPr>
        <p:spPr>
          <a:xfrm>
            <a:off x="4038600" y="626491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39364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18254" y="1709740"/>
            <a:ext cx="11355493"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418254" y="4589465"/>
            <a:ext cx="11355493"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5" name="Footer Placeholder 4"/>
          <p:cNvSpPr>
            <a:spLocks noGrp="1"/>
          </p:cNvSpPr>
          <p:nvPr>
            <p:ph type="ftr" sz="quarter" idx="11"/>
          </p:nvPr>
        </p:nvSpPr>
        <p:spPr>
          <a:xfrm>
            <a:off x="4038600" y="626491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52043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8254" y="1371599"/>
            <a:ext cx="11355493" cy="6077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18253" y="2067339"/>
            <a:ext cx="5601547" cy="41096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067337"/>
            <a:ext cx="5601547" cy="41096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626204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8253" y="1219512"/>
            <a:ext cx="11355493" cy="84782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418253" y="2229482"/>
            <a:ext cx="5579323" cy="60515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18253" y="2909889"/>
            <a:ext cx="5579323" cy="327977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199" y="2229481"/>
            <a:ext cx="5601547" cy="605156"/>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09887"/>
            <a:ext cx="5601547" cy="32797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8" name="Footer Placeholder 7"/>
          <p:cNvSpPr>
            <a:spLocks noGrp="1"/>
          </p:cNvSpPr>
          <p:nvPr>
            <p:ph type="ftr" sz="quarter" idx="11"/>
          </p:nvPr>
        </p:nvSpPr>
        <p:spPr>
          <a:xfrm>
            <a:off x="4038600" y="626491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421637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18253" y="1339751"/>
            <a:ext cx="11355493" cy="745809"/>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4" name="Footer Placeholder 3"/>
          <p:cNvSpPr>
            <a:spLocks noGrp="1"/>
          </p:cNvSpPr>
          <p:nvPr>
            <p:ph type="ftr" sz="quarter" idx="11"/>
          </p:nvPr>
        </p:nvSpPr>
        <p:spPr>
          <a:xfrm>
            <a:off x="4038600" y="626491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2964661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3" name="Footer Placeholder 2"/>
          <p:cNvSpPr>
            <a:spLocks noGrp="1"/>
          </p:cNvSpPr>
          <p:nvPr>
            <p:ph type="ftr" sz="quarter" idx="11"/>
          </p:nvPr>
        </p:nvSpPr>
        <p:spPr>
          <a:xfrm>
            <a:off x="4038600" y="626491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3845456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8254" y="1192696"/>
            <a:ext cx="4353772" cy="1260944"/>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7" y="1192696"/>
            <a:ext cx="6590559" cy="5064596"/>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8254" y="2453640"/>
            <a:ext cx="435377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3320284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8251" y="1103242"/>
            <a:ext cx="4353775" cy="1292086"/>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7" y="1103242"/>
            <a:ext cx="6590559" cy="5161670"/>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18252" y="2395330"/>
            <a:ext cx="4353773" cy="386958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10/7/2024</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77005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4BF43AA-1294-20D3-B7A6-ACD918B431DA}"/>
              </a:ext>
            </a:extLst>
          </p:cNvPr>
          <p:cNvPicPr>
            <a:picLocks noChangeAspect="1"/>
          </p:cNvPicPr>
          <p:nvPr userDrawn="1"/>
        </p:nvPicPr>
        <p:blipFill>
          <a:blip r:embed="rId11">
            <a:extLst>
              <a:ext uri="{28A0092B-C50C-407E-A947-70E740481C1C}">
                <a14:useLocalDpi xmlns:a14="http://schemas.microsoft.com/office/drawing/2010/main" val="0"/>
              </a:ext>
            </a:extLst>
          </a:blip>
          <a:srcRect t="240" b="240"/>
          <a:stretch/>
        </p:blipFill>
        <p:spPr>
          <a:xfrm>
            <a:off x="0" y="1"/>
            <a:ext cx="12192000" cy="6858000"/>
          </a:xfrm>
          <a:prstGeom prst="rect">
            <a:avLst/>
          </a:prstGeom>
        </p:spPr>
      </p:pic>
    </p:spTree>
    <p:extLst>
      <p:ext uri="{BB962C8B-B14F-4D97-AF65-F5344CB8AC3E}">
        <p14:creationId xmlns:p14="http://schemas.microsoft.com/office/powerpoint/2010/main" val="4195999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914400" rtl="0" eaLnBrk="1" latinLnBrk="0" hangingPunct="1">
        <a:lnSpc>
          <a:spcPct val="90000"/>
        </a:lnSpc>
        <a:spcBef>
          <a:spcPct val="0"/>
        </a:spcBef>
        <a:buNone/>
        <a:defRPr sz="4400" b="1" kern="1200">
          <a:solidFill>
            <a:srgbClr val="0A764A"/>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BD955B"/>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BD955B"/>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BD955B"/>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BD955B"/>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BD955B"/>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hyperlink" Target="mailto:mgarlick@greyedgegroup.com" TargetMode="External"/><Relationship Id="rId7" Type="http://schemas.openxmlformats.org/officeDocument/2006/relationships/image" Target="../media/image35.jpeg"/><Relationship Id="rId2" Type="http://schemas.openxmlformats.org/officeDocument/2006/relationships/hyperlink" Target="mailto:cmillard@vail.gov" TargetMode="External"/><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in a hat and sunglasses standing on a white wall&#10;&#10;Description automatically generated">
            <a:extLst>
              <a:ext uri="{FF2B5EF4-FFF2-40B4-BE49-F238E27FC236}">
                <a16:creationId xmlns:a16="http://schemas.microsoft.com/office/drawing/2014/main" id="{9BD1E278-B91A-9777-F92F-E4644FC6C3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6500" y="2571750"/>
            <a:ext cx="3143248" cy="2095499"/>
          </a:xfrm>
          <a:prstGeom prst="rect">
            <a:avLst/>
          </a:prstGeom>
        </p:spPr>
      </p:pic>
      <p:sp>
        <p:nvSpPr>
          <p:cNvPr id="6" name="TextBox 5">
            <a:extLst>
              <a:ext uri="{FF2B5EF4-FFF2-40B4-BE49-F238E27FC236}">
                <a16:creationId xmlns:a16="http://schemas.microsoft.com/office/drawing/2014/main" id="{8E556BA9-088E-8FAB-7192-782C7FA2CDE4}"/>
              </a:ext>
            </a:extLst>
          </p:cNvPr>
          <p:cNvSpPr txBox="1"/>
          <p:nvPr/>
        </p:nvSpPr>
        <p:spPr>
          <a:xfrm>
            <a:off x="952500" y="4819650"/>
            <a:ext cx="4011291" cy="923330"/>
          </a:xfrm>
          <a:prstGeom prst="rect">
            <a:avLst/>
          </a:prstGeom>
          <a:noFill/>
        </p:spPr>
        <p:txBody>
          <a:bodyPr wrap="none" rtlCol="0">
            <a:spAutoFit/>
          </a:bodyPr>
          <a:lstStyle/>
          <a:p>
            <a:r>
              <a:rPr lang="en-US"/>
              <a:t>Cameron Millard, Clean Energy Specialist</a:t>
            </a:r>
          </a:p>
          <a:p>
            <a:r>
              <a:rPr lang="en-US"/>
              <a:t>Environmental Sustainability</a:t>
            </a:r>
          </a:p>
          <a:p>
            <a:r>
              <a:rPr lang="en-US"/>
              <a:t>Town of Vail</a:t>
            </a:r>
          </a:p>
        </p:txBody>
      </p:sp>
      <p:cxnSp>
        <p:nvCxnSpPr>
          <p:cNvPr id="8" name="Straight Connector 7">
            <a:extLst>
              <a:ext uri="{FF2B5EF4-FFF2-40B4-BE49-F238E27FC236}">
                <a16:creationId xmlns:a16="http://schemas.microsoft.com/office/drawing/2014/main" id="{57FC51C5-BB62-30D1-4EE2-A76DC2C216E7}"/>
              </a:ext>
            </a:extLst>
          </p:cNvPr>
          <p:cNvCxnSpPr>
            <a:cxnSpLocks/>
          </p:cNvCxnSpPr>
          <p:nvPr/>
        </p:nvCxnSpPr>
        <p:spPr>
          <a:xfrm>
            <a:off x="5467350" y="2571750"/>
            <a:ext cx="0" cy="317123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A3D5F77-A314-000A-E503-D9CFD103E671}"/>
              </a:ext>
            </a:extLst>
          </p:cNvPr>
          <p:cNvSpPr txBox="1"/>
          <p:nvPr/>
        </p:nvSpPr>
        <p:spPr>
          <a:xfrm>
            <a:off x="609600" y="1543050"/>
            <a:ext cx="10541604" cy="584775"/>
          </a:xfrm>
          <a:prstGeom prst="rect">
            <a:avLst/>
          </a:prstGeom>
          <a:noFill/>
        </p:spPr>
        <p:txBody>
          <a:bodyPr wrap="none" lIns="91440" tIns="45720" rIns="91440" bIns="45720" rtlCol="0" anchor="t">
            <a:spAutoFit/>
          </a:bodyPr>
          <a:lstStyle/>
          <a:p>
            <a:r>
              <a:rPr lang="en-US" sz="3200">
                <a:solidFill>
                  <a:schemeClr val="accent1"/>
                </a:solidFill>
              </a:rPr>
              <a:t>Decarbonizing Snowmelt in Vail with Networked Geothermal</a:t>
            </a:r>
          </a:p>
        </p:txBody>
      </p:sp>
      <p:sp>
        <p:nvSpPr>
          <p:cNvPr id="11" name="TextBox 10">
            <a:extLst>
              <a:ext uri="{FF2B5EF4-FFF2-40B4-BE49-F238E27FC236}">
                <a16:creationId xmlns:a16="http://schemas.microsoft.com/office/drawing/2014/main" id="{8AC3B373-1DDC-AFB8-575B-8D1C9BDAA08F}"/>
              </a:ext>
            </a:extLst>
          </p:cNvPr>
          <p:cNvSpPr txBox="1"/>
          <p:nvPr/>
        </p:nvSpPr>
        <p:spPr>
          <a:xfrm>
            <a:off x="6604953" y="4803140"/>
            <a:ext cx="2992807" cy="1200329"/>
          </a:xfrm>
          <a:prstGeom prst="rect">
            <a:avLst/>
          </a:prstGeom>
          <a:noFill/>
        </p:spPr>
        <p:txBody>
          <a:bodyPr wrap="none" rtlCol="0">
            <a:spAutoFit/>
          </a:bodyPr>
          <a:lstStyle/>
          <a:p>
            <a:r>
              <a:rPr lang="en-US"/>
              <a:t>Matt Garlick CCP, CEM, BEMP</a:t>
            </a:r>
          </a:p>
          <a:p>
            <a:r>
              <a:rPr lang="en-US"/>
              <a:t>Managing Member </a:t>
            </a:r>
          </a:p>
          <a:p>
            <a:r>
              <a:rPr lang="en-US"/>
              <a:t>The GreyEdge Group</a:t>
            </a:r>
          </a:p>
          <a:p>
            <a:endParaRPr lang="en-US"/>
          </a:p>
        </p:txBody>
      </p:sp>
      <p:pic>
        <p:nvPicPr>
          <p:cNvPr id="13" name="Picture 12">
            <a:extLst>
              <a:ext uri="{FF2B5EF4-FFF2-40B4-BE49-F238E27FC236}">
                <a16:creationId xmlns:a16="http://schemas.microsoft.com/office/drawing/2014/main" id="{3D8B8D72-7CEC-412B-94FD-6FF471997AB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950964" y="2620044"/>
            <a:ext cx="1973575" cy="1973575"/>
          </a:xfrm>
          <a:prstGeom prst="rect">
            <a:avLst/>
          </a:prstGeom>
        </p:spPr>
      </p:pic>
    </p:spTree>
    <p:extLst>
      <p:ext uri="{BB962C8B-B14F-4D97-AF65-F5344CB8AC3E}">
        <p14:creationId xmlns:p14="http://schemas.microsoft.com/office/powerpoint/2010/main" val="428562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936A70-F648-1C65-81BB-509B35766506}"/>
              </a:ext>
            </a:extLst>
          </p:cNvPr>
          <p:cNvSpPr txBox="1"/>
          <p:nvPr/>
        </p:nvSpPr>
        <p:spPr>
          <a:xfrm>
            <a:off x="430922" y="1650124"/>
            <a:ext cx="5827815" cy="4480201"/>
          </a:xfrm>
          <a:prstGeom prst="rect">
            <a:avLst/>
          </a:prstGeom>
          <a:noFill/>
        </p:spPr>
        <p:txBody>
          <a:bodyPr wrap="square" lIns="91440" tIns="45720" rIns="91440" bIns="45720" rtlCol="0" anchor="t">
            <a:spAutoFit/>
          </a:bodyPr>
          <a:lstStyle/>
          <a:p>
            <a:pPr marR="0" lvl="0" algn="l" defTabSz="914400" rtl="0" eaLnBrk="1" fontAlgn="auto" latinLnBrk="0" hangingPunct="1">
              <a:lnSpc>
                <a:spcPct val="90000"/>
              </a:lnSpc>
              <a:spcBef>
                <a:spcPts val="1000"/>
              </a:spcBef>
              <a:spcAft>
                <a:spcPts val="0"/>
              </a:spcAft>
              <a:buClr>
                <a:srgbClr val="BD955B"/>
              </a:buClr>
              <a:buSzTx/>
              <a:tabLst/>
              <a:defRPr/>
            </a:pPr>
            <a:endParaRPr lang="en-US" sz="2800"/>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800"/>
              <a:t> Vail Climate Goals</a:t>
            </a:r>
          </a:p>
          <a:p>
            <a:pPr marL="228600" indent="-228600">
              <a:lnSpc>
                <a:spcPct val="90000"/>
              </a:lnSpc>
              <a:spcBef>
                <a:spcPts val="1000"/>
              </a:spcBef>
              <a:buClr>
                <a:srgbClr val="BD955B"/>
              </a:buClr>
              <a:buFont typeface="Wingdings" pitchFamily="2" charset="2"/>
              <a:buChar char="v"/>
              <a:defRPr/>
            </a:pPr>
            <a:r>
              <a:rPr lang="en-US" sz="2800"/>
              <a:t> Snowmelt and the Guest Experience</a:t>
            </a:r>
            <a:endParaRPr lang="en-US" sz="2800">
              <a:ea typeface="Calibri" panose="020F0502020204030204"/>
              <a:cs typeface="Calibri" panose="020F0502020204030204"/>
            </a:endParaRPr>
          </a:p>
          <a:p>
            <a:pPr marL="228600" indent="-228600">
              <a:lnSpc>
                <a:spcPct val="90000"/>
              </a:lnSpc>
              <a:spcBef>
                <a:spcPts val="1000"/>
              </a:spcBef>
              <a:buClr>
                <a:srgbClr val="BD955B"/>
              </a:buClr>
              <a:buFont typeface="Wingdings" pitchFamily="2" charset="2"/>
              <a:buChar char="v"/>
              <a:defRPr/>
            </a:pPr>
            <a:r>
              <a:rPr lang="en-US" sz="2800"/>
              <a:t> System Efficiency</a:t>
            </a:r>
            <a:endParaRPr lang="en-US" sz="2800">
              <a:ea typeface="Calibri"/>
              <a:cs typeface="Calibri"/>
            </a:endParaRPr>
          </a:p>
          <a:p>
            <a:pPr marL="228600" indent="-228600">
              <a:lnSpc>
                <a:spcPct val="90000"/>
              </a:lnSpc>
              <a:spcBef>
                <a:spcPts val="1000"/>
              </a:spcBef>
              <a:buClr>
                <a:srgbClr val="BD955B"/>
              </a:buClr>
              <a:buFont typeface="Wingdings" pitchFamily="2" charset="2"/>
              <a:buChar char="v"/>
              <a:defRPr/>
            </a:pPr>
            <a:r>
              <a:rPr lang="en-US" sz="2800"/>
              <a:t> Electrification Challenges</a:t>
            </a:r>
            <a:endParaRPr lang="en-US" sz="2800">
              <a:ea typeface="Calibri" panose="020F0502020204030204"/>
              <a:cs typeface="Calibri" panose="020F0502020204030204"/>
            </a:endParaRPr>
          </a:p>
          <a:p>
            <a:pPr marL="228600" indent="-228600">
              <a:lnSpc>
                <a:spcPct val="90000"/>
              </a:lnSpc>
              <a:spcBef>
                <a:spcPts val="1000"/>
              </a:spcBef>
              <a:buClr>
                <a:srgbClr val="BD955B"/>
              </a:buClr>
              <a:buFont typeface="Wingdings" pitchFamily="2" charset="2"/>
              <a:buChar char="v"/>
              <a:defRPr/>
            </a:pPr>
            <a:r>
              <a:rPr lang="en-US" sz="2800"/>
              <a:t> The Thermally Integrated Renewable Grid</a:t>
            </a:r>
          </a:p>
          <a:p>
            <a:pPr marR="0" lvl="0" algn="l" defTabSz="914400" rtl="0" eaLnBrk="1" fontAlgn="auto" latinLnBrk="0" hangingPunct="1">
              <a:lnSpc>
                <a:spcPct val="90000"/>
              </a:lnSpc>
              <a:spcBef>
                <a:spcPts val="1000"/>
              </a:spcBef>
              <a:spcAft>
                <a:spcPts val="0"/>
              </a:spcAft>
              <a:buClr>
                <a:srgbClr val="BD955B"/>
              </a:buClr>
              <a:buSzTx/>
              <a:tabLst/>
              <a:defRPr/>
            </a:pPr>
            <a:endParaRPr lang="en-US" sz="2800">
              <a:ea typeface="Calibri" panose="020F0502020204030204"/>
              <a:cs typeface="Calibri" panose="020F0502020204030204"/>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endParaRPr lang="en-US" sz="2800"/>
          </a:p>
        </p:txBody>
      </p:sp>
      <p:sp>
        <p:nvSpPr>
          <p:cNvPr id="3" name="TextBox 2">
            <a:extLst>
              <a:ext uri="{FF2B5EF4-FFF2-40B4-BE49-F238E27FC236}">
                <a16:creationId xmlns:a16="http://schemas.microsoft.com/office/drawing/2014/main" id="{F293A22B-EF60-2FB4-111C-1C6894821307}"/>
              </a:ext>
            </a:extLst>
          </p:cNvPr>
          <p:cNvSpPr txBox="1"/>
          <p:nvPr/>
        </p:nvSpPr>
        <p:spPr>
          <a:xfrm>
            <a:off x="808913" y="1184000"/>
            <a:ext cx="5124352" cy="584775"/>
          </a:xfrm>
          <a:prstGeom prst="rect">
            <a:avLst/>
          </a:prstGeom>
          <a:noFill/>
        </p:spPr>
        <p:txBody>
          <a:bodyPr wrap="none" lIns="91440" tIns="45720" rIns="91440" bIns="45720" rtlCol="0" anchor="t">
            <a:spAutoFit/>
          </a:bodyPr>
          <a:lstStyle/>
          <a:p>
            <a:r>
              <a:rPr lang="en-US" sz="3200">
                <a:solidFill>
                  <a:schemeClr val="accent1"/>
                </a:solidFill>
              </a:rPr>
              <a:t>The Decarbonization Journey</a:t>
            </a:r>
          </a:p>
        </p:txBody>
      </p:sp>
      <p:pic>
        <p:nvPicPr>
          <p:cNvPr id="5" name="Picture 4">
            <a:extLst>
              <a:ext uri="{FF2B5EF4-FFF2-40B4-BE49-F238E27FC236}">
                <a16:creationId xmlns:a16="http://schemas.microsoft.com/office/drawing/2014/main" id="{224C0172-CDC9-2BEC-144E-EF2CEEB154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0353"/>
          <a:stretch/>
        </p:blipFill>
        <p:spPr bwMode="auto">
          <a:xfrm>
            <a:off x="6860319" y="1184000"/>
            <a:ext cx="4769583" cy="5454429"/>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4F7A0FB1-D016-3D68-3AB9-8F42035C236B}"/>
              </a:ext>
            </a:extLst>
          </p:cNvPr>
          <p:cNvSpPr txBox="1"/>
          <p:nvPr/>
        </p:nvSpPr>
        <p:spPr>
          <a:xfrm>
            <a:off x="7323992" y="870438"/>
            <a:ext cx="3842239" cy="369332"/>
          </a:xfrm>
          <a:prstGeom prst="rect">
            <a:avLst/>
          </a:prstGeom>
          <a:noFill/>
        </p:spPr>
        <p:txBody>
          <a:bodyPr wrap="square" rtlCol="0">
            <a:spAutoFit/>
          </a:bodyPr>
          <a:lstStyle/>
          <a:p>
            <a:r>
              <a:rPr lang="en-US"/>
              <a:t>Vail Electric Snowmelt Boiler Heat Map</a:t>
            </a:r>
          </a:p>
        </p:txBody>
      </p:sp>
    </p:spTree>
    <p:extLst>
      <p:ext uri="{BB962C8B-B14F-4D97-AF65-F5344CB8AC3E}">
        <p14:creationId xmlns:p14="http://schemas.microsoft.com/office/powerpoint/2010/main" val="67585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936A70-F648-1C65-81BB-509B35766506}"/>
              </a:ext>
            </a:extLst>
          </p:cNvPr>
          <p:cNvSpPr txBox="1"/>
          <p:nvPr/>
        </p:nvSpPr>
        <p:spPr>
          <a:xfrm>
            <a:off x="229772" y="2254582"/>
            <a:ext cx="6425552" cy="2674578"/>
          </a:xfrm>
          <a:prstGeom prst="rect">
            <a:avLst/>
          </a:prstGeom>
          <a:noFill/>
        </p:spPr>
        <p:txBody>
          <a:bodyPr wrap="square" lIns="91440" tIns="45720" rIns="91440" bIns="45720" rtlCol="0" anchor="t">
            <a:spAutoFit/>
          </a:body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solidFill>
                  <a:prstClr val="black"/>
                </a:solidFill>
                <a:latin typeface="Calibri" panose="020F0502020204030204"/>
              </a:rPr>
              <a:t> </a:t>
            </a:r>
            <a:r>
              <a:rPr lang="en-US" sz="2800">
                <a:solidFill>
                  <a:prstClr val="black"/>
                </a:solidFill>
                <a:latin typeface="Calibri" panose="020F0502020204030204"/>
              </a:rPr>
              <a:t>Greening the Grid- </a:t>
            </a:r>
            <a:r>
              <a:rPr lang="en-US" sz="2800"/>
              <a:t>The last 10%</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800"/>
              <a:t> Mountain Town Challenges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800"/>
              <a:t>Building Electrification and EV Charging</a:t>
            </a:r>
            <a:endParaRPr lang="en-US" sz="2800">
              <a:ea typeface="Calibri"/>
              <a:cs typeface="Calibri"/>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800"/>
              <a:t>The Falcon Curve</a:t>
            </a:r>
            <a:endParaRPr lang="en-US" sz="2400"/>
          </a:p>
          <a:p>
            <a:endParaRPr lang="en-US" sz="2400"/>
          </a:p>
          <a:p>
            <a:endParaRPr lang="en-US"/>
          </a:p>
        </p:txBody>
      </p:sp>
      <p:sp>
        <p:nvSpPr>
          <p:cNvPr id="4" name="TextBox 3">
            <a:extLst>
              <a:ext uri="{FF2B5EF4-FFF2-40B4-BE49-F238E27FC236}">
                <a16:creationId xmlns:a16="http://schemas.microsoft.com/office/drawing/2014/main" id="{28F6A1B1-712A-AB54-133A-ABDF37EEE203}"/>
              </a:ext>
            </a:extLst>
          </p:cNvPr>
          <p:cNvSpPr txBox="1"/>
          <p:nvPr/>
        </p:nvSpPr>
        <p:spPr>
          <a:xfrm>
            <a:off x="718942" y="1186156"/>
            <a:ext cx="3789627" cy="1077218"/>
          </a:xfrm>
          <a:prstGeom prst="rect">
            <a:avLst/>
          </a:prstGeom>
          <a:noFill/>
        </p:spPr>
        <p:txBody>
          <a:bodyPr wrap="none" lIns="91440" tIns="45720" rIns="91440" bIns="45720" rtlCol="0" anchor="t">
            <a:spAutoFit/>
          </a:bodyPr>
          <a:lstStyle/>
          <a:p>
            <a:r>
              <a:rPr lang="en-US" sz="3200">
                <a:solidFill>
                  <a:schemeClr val="accent1"/>
                </a:solidFill>
              </a:rPr>
              <a:t>Grid Decarbonization</a:t>
            </a:r>
          </a:p>
          <a:p>
            <a:endParaRPr lang="en-US" sz="3200"/>
          </a:p>
        </p:txBody>
      </p:sp>
      <p:pic>
        <p:nvPicPr>
          <p:cNvPr id="6" name="Picture 5">
            <a:extLst>
              <a:ext uri="{FF2B5EF4-FFF2-40B4-BE49-F238E27FC236}">
                <a16:creationId xmlns:a16="http://schemas.microsoft.com/office/drawing/2014/main" id="{A8A207B4-0482-187C-2743-A7DAD7F974C1}"/>
              </a:ext>
            </a:extLst>
          </p:cNvPr>
          <p:cNvPicPr>
            <a:picLocks noChangeAspect="1"/>
          </p:cNvPicPr>
          <p:nvPr/>
        </p:nvPicPr>
        <p:blipFill rotWithShape="1">
          <a:blip r:embed="rId2"/>
          <a:srcRect l="16828" r="30959" b="7690"/>
          <a:stretch/>
        </p:blipFill>
        <p:spPr>
          <a:xfrm>
            <a:off x="6426607" y="1"/>
            <a:ext cx="5777900" cy="6866574"/>
          </a:xfrm>
          <a:prstGeom prst="rect">
            <a:avLst/>
          </a:prstGeom>
        </p:spPr>
      </p:pic>
      <p:pic>
        <p:nvPicPr>
          <p:cNvPr id="7" name="Picture 6">
            <a:extLst>
              <a:ext uri="{FF2B5EF4-FFF2-40B4-BE49-F238E27FC236}">
                <a16:creationId xmlns:a16="http://schemas.microsoft.com/office/drawing/2014/main" id="{F65205DB-B725-1FAE-39F4-5008718164D6}"/>
              </a:ext>
            </a:extLst>
          </p:cNvPr>
          <p:cNvPicPr>
            <a:picLocks noChangeAspect="1"/>
          </p:cNvPicPr>
          <p:nvPr/>
        </p:nvPicPr>
        <p:blipFill rotWithShape="1">
          <a:blip r:embed="rId2"/>
          <a:srcRect t="91342"/>
          <a:stretch/>
        </p:blipFill>
        <p:spPr>
          <a:xfrm>
            <a:off x="75414" y="6400010"/>
            <a:ext cx="7869142" cy="457990"/>
          </a:xfrm>
          <a:prstGeom prst="rect">
            <a:avLst/>
          </a:prstGeom>
        </p:spPr>
      </p:pic>
    </p:spTree>
    <p:extLst>
      <p:ext uri="{BB962C8B-B14F-4D97-AF65-F5344CB8AC3E}">
        <p14:creationId xmlns:p14="http://schemas.microsoft.com/office/powerpoint/2010/main" val="4278631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8F6CA26-EBA7-944A-CB81-C296D35FCFB6}"/>
              </a:ext>
            </a:extLst>
          </p:cNvPr>
          <p:cNvPicPr>
            <a:picLocks noChangeAspect="1"/>
          </p:cNvPicPr>
          <p:nvPr/>
        </p:nvPicPr>
        <p:blipFill rotWithShape="1">
          <a:blip r:embed="rId3">
            <a:extLst>
              <a:ext uri="{28A0092B-C50C-407E-A947-70E740481C1C}">
                <a14:useLocalDpi xmlns:a14="http://schemas.microsoft.com/office/drawing/2010/main" val="0"/>
              </a:ext>
            </a:extLst>
          </a:blip>
          <a:srcRect b="4624"/>
          <a:stretch/>
        </p:blipFill>
        <p:spPr>
          <a:xfrm>
            <a:off x="845096" y="1201067"/>
            <a:ext cx="9956688" cy="5395323"/>
          </a:xfrm>
          <a:prstGeom prst="rect">
            <a:avLst/>
          </a:prstGeom>
        </p:spPr>
      </p:pic>
      <p:sp>
        <p:nvSpPr>
          <p:cNvPr id="2" name="TextBox 1">
            <a:extLst>
              <a:ext uri="{FF2B5EF4-FFF2-40B4-BE49-F238E27FC236}">
                <a16:creationId xmlns:a16="http://schemas.microsoft.com/office/drawing/2014/main" id="{F9F2B114-18D2-123E-BAB6-B135D1B33531}"/>
              </a:ext>
            </a:extLst>
          </p:cNvPr>
          <p:cNvSpPr txBox="1"/>
          <p:nvPr/>
        </p:nvSpPr>
        <p:spPr>
          <a:xfrm>
            <a:off x="776163" y="1201067"/>
            <a:ext cx="9956688" cy="584775"/>
          </a:xfrm>
          <a:prstGeom prst="rect">
            <a:avLst/>
          </a:prstGeom>
          <a:solidFill>
            <a:schemeClr val="bg1"/>
          </a:solidFill>
        </p:spPr>
        <p:txBody>
          <a:bodyPr wrap="square" lIns="91440" tIns="45720" rIns="91440" bIns="45720" rtlCol="0" anchor="t">
            <a:spAutoFit/>
          </a:bodyPr>
          <a:lstStyle/>
          <a:p>
            <a:r>
              <a:rPr lang="en-US" sz="3200">
                <a:solidFill>
                  <a:schemeClr val="accent1"/>
                </a:solidFill>
              </a:rPr>
              <a:t>Thermal Energy Networks (TEN)</a:t>
            </a:r>
            <a:endParaRPr lang="en-US" sz="3200">
              <a:solidFill>
                <a:schemeClr val="accent1"/>
              </a:solidFill>
              <a:ea typeface="Calibri" panose="020F0502020204030204"/>
              <a:cs typeface="Calibri" panose="020F0502020204030204"/>
            </a:endParaRPr>
          </a:p>
        </p:txBody>
      </p:sp>
      <p:sp>
        <p:nvSpPr>
          <p:cNvPr id="13" name="TextBox 12">
            <a:extLst>
              <a:ext uri="{FF2B5EF4-FFF2-40B4-BE49-F238E27FC236}">
                <a16:creationId xmlns:a16="http://schemas.microsoft.com/office/drawing/2014/main" id="{0D124C38-2EFF-718C-4E9E-04F8AD8DC92E}"/>
              </a:ext>
            </a:extLst>
          </p:cNvPr>
          <p:cNvSpPr txBox="1"/>
          <p:nvPr/>
        </p:nvSpPr>
        <p:spPr>
          <a:xfrm>
            <a:off x="9577895" y="6596390"/>
            <a:ext cx="2447778" cy="261610"/>
          </a:xfrm>
          <a:prstGeom prst="rect">
            <a:avLst/>
          </a:prstGeom>
          <a:noFill/>
        </p:spPr>
        <p:txBody>
          <a:bodyPr wrap="square" rtlCol="0">
            <a:spAutoFit/>
          </a:bodyPr>
          <a:lstStyle/>
          <a:p>
            <a:r>
              <a:rPr lang="en-US" sz="1100"/>
              <a:t>Image Credit: HEET</a:t>
            </a:r>
          </a:p>
        </p:txBody>
      </p:sp>
    </p:spTree>
    <p:extLst>
      <p:ext uri="{BB962C8B-B14F-4D97-AF65-F5344CB8AC3E}">
        <p14:creationId xmlns:p14="http://schemas.microsoft.com/office/powerpoint/2010/main" val="2706539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E7B18-3BC6-1816-6DD4-134D3C85EA44}"/>
              </a:ext>
            </a:extLst>
          </p:cNvPr>
          <p:cNvSpPr txBox="1"/>
          <p:nvPr/>
        </p:nvSpPr>
        <p:spPr>
          <a:xfrm>
            <a:off x="822902" y="1213848"/>
            <a:ext cx="10850880" cy="584775"/>
          </a:xfrm>
          <a:prstGeom prst="rect">
            <a:avLst/>
          </a:prstGeom>
          <a:noFill/>
        </p:spPr>
        <p:txBody>
          <a:bodyPr wrap="square" lIns="91440" tIns="45720" rIns="91440" bIns="45720" rtlCol="0" anchor="t">
            <a:spAutoFit/>
          </a:bodyPr>
          <a:lstStyle/>
          <a:p>
            <a:r>
              <a:rPr lang="en-US" sz="3200">
                <a:solidFill>
                  <a:schemeClr val="accent1"/>
                </a:solidFill>
              </a:rPr>
              <a:t>Heat Pump Systems</a:t>
            </a:r>
          </a:p>
        </p:txBody>
      </p:sp>
      <p:pic>
        <p:nvPicPr>
          <p:cNvPr id="5" name="Content Placeholder 4">
            <a:extLst>
              <a:ext uri="{FF2B5EF4-FFF2-40B4-BE49-F238E27FC236}">
                <a16:creationId xmlns:a16="http://schemas.microsoft.com/office/drawing/2014/main" id="{D357DFD4-7A25-5414-4C94-D4F2228BC6CD}"/>
              </a:ext>
            </a:extLst>
          </p:cNvPr>
          <p:cNvPicPr>
            <a:picLocks noChangeAspect="1"/>
          </p:cNvPicPr>
          <p:nvPr/>
        </p:nvPicPr>
        <p:blipFill rotWithShape="1">
          <a:blip r:embed="rId3"/>
          <a:srcRect l="57868" t="17732"/>
          <a:stretch/>
        </p:blipFill>
        <p:spPr>
          <a:xfrm>
            <a:off x="7388352" y="964937"/>
            <a:ext cx="4108762" cy="5803005"/>
          </a:xfrm>
          <a:prstGeom prst="rect">
            <a:avLst/>
          </a:prstGeom>
        </p:spPr>
      </p:pic>
      <p:pic>
        <p:nvPicPr>
          <p:cNvPr id="2" name="Picture 1">
            <a:extLst>
              <a:ext uri="{FF2B5EF4-FFF2-40B4-BE49-F238E27FC236}">
                <a16:creationId xmlns:a16="http://schemas.microsoft.com/office/drawing/2014/main" id="{2F27C9B7-4F5C-1F41-712C-ED0B9CBC00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86" y="2389848"/>
            <a:ext cx="5981576" cy="3145546"/>
          </a:xfrm>
          <a:prstGeom prst="rect">
            <a:avLst/>
          </a:prstGeom>
        </p:spPr>
      </p:pic>
    </p:spTree>
    <p:extLst>
      <p:ext uri="{BB962C8B-B14F-4D97-AF65-F5344CB8AC3E}">
        <p14:creationId xmlns:p14="http://schemas.microsoft.com/office/powerpoint/2010/main" val="1444074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modular heat energy management process&#10;&#10;Description automatically generated">
            <a:extLst>
              <a:ext uri="{FF2B5EF4-FFF2-40B4-BE49-F238E27FC236}">
                <a16:creationId xmlns:a16="http://schemas.microsoft.com/office/drawing/2014/main" id="{874D4AF7-6D84-FF93-99F0-3B28FC2CE0AF}"/>
              </a:ext>
            </a:extLst>
          </p:cNvPr>
          <p:cNvPicPr>
            <a:picLocks noChangeAspect="1"/>
          </p:cNvPicPr>
          <p:nvPr/>
        </p:nvPicPr>
        <p:blipFill rotWithShape="1">
          <a:blip r:embed="rId3"/>
          <a:srcRect t="10451"/>
          <a:stretch/>
        </p:blipFill>
        <p:spPr>
          <a:xfrm>
            <a:off x="1546173" y="1183902"/>
            <a:ext cx="9807513" cy="5674098"/>
          </a:xfrm>
          <a:prstGeom prst="rect">
            <a:avLst/>
          </a:prstGeom>
        </p:spPr>
      </p:pic>
      <p:sp>
        <p:nvSpPr>
          <p:cNvPr id="3" name="TextBox 2">
            <a:extLst>
              <a:ext uri="{FF2B5EF4-FFF2-40B4-BE49-F238E27FC236}">
                <a16:creationId xmlns:a16="http://schemas.microsoft.com/office/drawing/2014/main" id="{F293A22B-EF60-2FB4-111C-1C6894821307}"/>
              </a:ext>
            </a:extLst>
          </p:cNvPr>
          <p:cNvSpPr txBox="1"/>
          <p:nvPr/>
        </p:nvSpPr>
        <p:spPr>
          <a:xfrm>
            <a:off x="750191" y="1199207"/>
            <a:ext cx="11176461" cy="1077218"/>
          </a:xfrm>
          <a:prstGeom prst="rect">
            <a:avLst/>
          </a:prstGeom>
          <a:noFill/>
        </p:spPr>
        <p:txBody>
          <a:bodyPr wrap="square" lIns="91440" tIns="45720" rIns="91440" bIns="45720" rtlCol="0" anchor="t">
            <a:spAutoFit/>
          </a:bodyPr>
          <a:lstStyle/>
          <a:p>
            <a:r>
              <a:rPr lang="en-US" sz="3200">
                <a:solidFill>
                  <a:schemeClr val="accent1"/>
                </a:solidFill>
              </a:rPr>
              <a:t>The ATL</a:t>
            </a:r>
            <a:endParaRPr lang="en-US" sz="3200">
              <a:solidFill>
                <a:schemeClr val="accent1"/>
              </a:solidFill>
              <a:ea typeface="Calibri"/>
              <a:cs typeface="Calibri"/>
            </a:endParaRPr>
          </a:p>
          <a:p>
            <a:pPr algn="ctr"/>
            <a:endParaRPr lang="en-US" sz="3200" b="1">
              <a:solidFill>
                <a:schemeClr val="accent1"/>
              </a:solidFill>
            </a:endParaRPr>
          </a:p>
        </p:txBody>
      </p:sp>
    </p:spTree>
    <p:extLst>
      <p:ext uri="{BB962C8B-B14F-4D97-AF65-F5344CB8AC3E}">
        <p14:creationId xmlns:p14="http://schemas.microsoft.com/office/powerpoint/2010/main" val="967033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E7B18-3BC6-1816-6DD4-134D3C85EA44}"/>
              </a:ext>
            </a:extLst>
          </p:cNvPr>
          <p:cNvSpPr txBox="1"/>
          <p:nvPr/>
        </p:nvSpPr>
        <p:spPr>
          <a:xfrm>
            <a:off x="771144" y="1163320"/>
            <a:ext cx="10850880" cy="584775"/>
          </a:xfrm>
          <a:prstGeom prst="rect">
            <a:avLst/>
          </a:prstGeom>
          <a:noFill/>
        </p:spPr>
        <p:txBody>
          <a:bodyPr wrap="square" lIns="91440" tIns="45720" rIns="91440" bIns="45720" rtlCol="0" anchor="t">
            <a:spAutoFit/>
          </a:bodyPr>
          <a:lstStyle/>
          <a:p>
            <a:r>
              <a:rPr lang="en-US" sz="3200">
                <a:solidFill>
                  <a:schemeClr val="accent1"/>
                </a:solidFill>
              </a:rPr>
              <a:t>ATL Microgrids</a:t>
            </a:r>
          </a:p>
        </p:txBody>
      </p:sp>
      <p:pic>
        <p:nvPicPr>
          <p:cNvPr id="4" name="Content Placeholder 3">
            <a:extLst>
              <a:ext uri="{FF2B5EF4-FFF2-40B4-BE49-F238E27FC236}">
                <a16:creationId xmlns:a16="http://schemas.microsoft.com/office/drawing/2014/main" id="{B98FC010-6E61-F79C-427C-AA704957B265}"/>
              </a:ext>
            </a:extLst>
          </p:cNvPr>
          <p:cNvPicPr>
            <a:picLocks noChangeAspect="1"/>
          </p:cNvPicPr>
          <p:nvPr/>
        </p:nvPicPr>
        <p:blipFill rotWithShape="1">
          <a:blip r:embed="rId3"/>
          <a:srcRect l="47449" t="-3881" r="-505" b="1988"/>
          <a:stretch/>
        </p:blipFill>
        <p:spPr>
          <a:xfrm>
            <a:off x="3626994" y="1165375"/>
            <a:ext cx="5531881" cy="5437648"/>
          </a:xfrm>
          <a:prstGeom prst="rect">
            <a:avLst/>
          </a:prstGeom>
        </p:spPr>
      </p:pic>
      <p:sp>
        <p:nvSpPr>
          <p:cNvPr id="2" name="Rectangle 1">
            <a:extLst>
              <a:ext uri="{FF2B5EF4-FFF2-40B4-BE49-F238E27FC236}">
                <a16:creationId xmlns:a16="http://schemas.microsoft.com/office/drawing/2014/main" id="{B2D7F4A4-882F-5691-C486-D9CE5EE58C08}"/>
              </a:ext>
            </a:extLst>
          </p:cNvPr>
          <p:cNvSpPr/>
          <p:nvPr/>
        </p:nvSpPr>
        <p:spPr>
          <a:xfrm>
            <a:off x="3626994" y="6356978"/>
            <a:ext cx="1965960" cy="246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0259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774244" y="1194838"/>
            <a:ext cx="5711372" cy="584775"/>
          </a:xfrm>
          <a:prstGeom prst="rect">
            <a:avLst/>
          </a:prstGeom>
          <a:noFill/>
        </p:spPr>
        <p:txBody>
          <a:bodyPr wrap="none" lIns="91440" tIns="45720" rIns="91440" bIns="45720" rtlCol="0" anchor="t">
            <a:spAutoFit/>
          </a:bodyPr>
          <a:lstStyle/>
          <a:p>
            <a:r>
              <a:rPr lang="en-US" sz="3200">
                <a:solidFill>
                  <a:schemeClr val="accent1"/>
                </a:solidFill>
              </a:rPr>
              <a:t>Hybrid Systems – the 50/90 Rule</a:t>
            </a:r>
          </a:p>
        </p:txBody>
      </p:sp>
      <p:pic>
        <p:nvPicPr>
          <p:cNvPr id="4" name="Picture 2">
            <a:extLst>
              <a:ext uri="{FF2B5EF4-FFF2-40B4-BE49-F238E27FC236}">
                <a16:creationId xmlns:a16="http://schemas.microsoft.com/office/drawing/2014/main" id="{AA657A47-71E2-7C8A-6C74-866FC74A9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6810" y="2037360"/>
            <a:ext cx="6538380" cy="4018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791608" y="1194014"/>
            <a:ext cx="5200654" cy="584775"/>
          </a:xfrm>
          <a:prstGeom prst="rect">
            <a:avLst/>
          </a:prstGeom>
          <a:noFill/>
        </p:spPr>
        <p:txBody>
          <a:bodyPr wrap="none" lIns="91440" tIns="45720" rIns="91440" bIns="45720" rtlCol="0" anchor="t">
            <a:spAutoFit/>
          </a:bodyPr>
          <a:lstStyle/>
          <a:p>
            <a:r>
              <a:rPr lang="en-US" sz="3200">
                <a:solidFill>
                  <a:schemeClr val="accent1"/>
                </a:solidFill>
              </a:rPr>
              <a:t>The Value of System Diversity</a:t>
            </a:r>
          </a:p>
        </p:txBody>
      </p:sp>
      <p:pic>
        <p:nvPicPr>
          <p:cNvPr id="4" name="Picture 3">
            <a:extLst>
              <a:ext uri="{FF2B5EF4-FFF2-40B4-BE49-F238E27FC236}">
                <a16:creationId xmlns:a16="http://schemas.microsoft.com/office/drawing/2014/main" id="{232A3D41-71C0-8360-5FA3-00CB69EC8150}"/>
              </a:ext>
            </a:extLst>
          </p:cNvPr>
          <p:cNvPicPr>
            <a:picLocks noChangeAspect="1"/>
          </p:cNvPicPr>
          <p:nvPr/>
        </p:nvPicPr>
        <p:blipFill rotWithShape="1">
          <a:blip r:embed="rId3">
            <a:extLst>
              <a:ext uri="{28A0092B-C50C-407E-A947-70E740481C1C}">
                <a14:useLocalDpi xmlns:a14="http://schemas.microsoft.com/office/drawing/2010/main" val="0"/>
              </a:ext>
            </a:extLst>
          </a:blip>
          <a:srcRect l="-654" t="33088" r="654" b="431"/>
          <a:stretch/>
        </p:blipFill>
        <p:spPr>
          <a:xfrm>
            <a:off x="829343" y="2222788"/>
            <a:ext cx="9533570" cy="4167852"/>
          </a:xfrm>
          <a:prstGeom prst="rect">
            <a:avLst/>
          </a:prstGeom>
        </p:spPr>
      </p:pic>
      <p:sp>
        <p:nvSpPr>
          <p:cNvPr id="3" name="Rectangle 2">
            <a:extLst>
              <a:ext uri="{FF2B5EF4-FFF2-40B4-BE49-F238E27FC236}">
                <a16:creationId xmlns:a16="http://schemas.microsoft.com/office/drawing/2014/main" id="{350A720A-A7F3-211B-E418-FAF3EFC66017}"/>
              </a:ext>
            </a:extLst>
          </p:cNvPr>
          <p:cNvSpPr/>
          <p:nvPr/>
        </p:nvSpPr>
        <p:spPr>
          <a:xfrm>
            <a:off x="5324750" y="5231678"/>
            <a:ext cx="1335024" cy="9557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5770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804018" y="1207503"/>
            <a:ext cx="6918689" cy="584775"/>
          </a:xfrm>
          <a:prstGeom prst="rect">
            <a:avLst/>
          </a:prstGeom>
          <a:noFill/>
        </p:spPr>
        <p:txBody>
          <a:bodyPr wrap="none" lIns="91440" tIns="45720" rIns="91440" bIns="45720" rtlCol="0" anchor="t">
            <a:spAutoFit/>
          </a:bodyPr>
          <a:lstStyle/>
          <a:p>
            <a:r>
              <a:rPr lang="en-US" sz="3200">
                <a:solidFill>
                  <a:schemeClr val="accent1"/>
                </a:solidFill>
              </a:rPr>
              <a:t>Case Studies- Colorado Mesa University</a:t>
            </a:r>
          </a:p>
        </p:txBody>
      </p:sp>
      <p:sp>
        <p:nvSpPr>
          <p:cNvPr id="98" name="TextBox 97">
            <a:extLst>
              <a:ext uri="{FF2B5EF4-FFF2-40B4-BE49-F238E27FC236}">
                <a16:creationId xmlns:a16="http://schemas.microsoft.com/office/drawing/2014/main" id="{C6641CF3-E228-9F65-9022-1F0F32341ACA}"/>
              </a:ext>
            </a:extLst>
          </p:cNvPr>
          <p:cNvSpPr txBox="1"/>
          <p:nvPr/>
        </p:nvSpPr>
        <p:spPr>
          <a:xfrm>
            <a:off x="1738475" y="4976734"/>
            <a:ext cx="185500" cy="646331"/>
          </a:xfrm>
          <a:prstGeom prst="rect">
            <a:avLst/>
          </a:prstGeom>
          <a:noFill/>
        </p:spPr>
        <p:txBody>
          <a:bodyPr wrap="none" rtlCol="0">
            <a:spAutoFit/>
          </a:bodyPr>
          <a:lstStyle/>
          <a:p>
            <a:endParaRPr lang="en-US"/>
          </a:p>
          <a:p>
            <a:endParaRPr lang="en-US"/>
          </a:p>
        </p:txBody>
      </p:sp>
      <p:sp>
        <p:nvSpPr>
          <p:cNvPr id="3" name="Rectangle 2">
            <a:extLst>
              <a:ext uri="{FF2B5EF4-FFF2-40B4-BE49-F238E27FC236}">
                <a16:creationId xmlns:a16="http://schemas.microsoft.com/office/drawing/2014/main" id="{FDC93C58-DDDB-8FEE-F156-D29967905A97}"/>
              </a:ext>
            </a:extLst>
          </p:cNvPr>
          <p:cNvSpPr/>
          <p:nvPr/>
        </p:nvSpPr>
        <p:spPr>
          <a:xfrm>
            <a:off x="8641080" y="1669255"/>
            <a:ext cx="1965960" cy="246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0" name="Picture 279">
            <a:extLst>
              <a:ext uri="{FF2B5EF4-FFF2-40B4-BE49-F238E27FC236}">
                <a16:creationId xmlns:a16="http://schemas.microsoft.com/office/drawing/2014/main" id="{CBA65196-9B87-1960-B404-62812DEEEC2C}"/>
              </a:ext>
            </a:extLst>
          </p:cNvPr>
          <p:cNvPicPr>
            <a:picLocks noChangeAspect="1"/>
          </p:cNvPicPr>
          <p:nvPr/>
        </p:nvPicPr>
        <p:blipFill>
          <a:blip r:embed="rId2"/>
          <a:stretch>
            <a:fillRect/>
          </a:stretch>
        </p:blipFill>
        <p:spPr>
          <a:xfrm>
            <a:off x="2075175" y="1752489"/>
            <a:ext cx="7754625" cy="5028215"/>
          </a:xfrm>
          <a:prstGeom prst="rect">
            <a:avLst/>
          </a:prstGeom>
        </p:spPr>
      </p:pic>
    </p:spTree>
    <p:extLst>
      <p:ext uri="{BB962C8B-B14F-4D97-AF65-F5344CB8AC3E}">
        <p14:creationId xmlns:p14="http://schemas.microsoft.com/office/powerpoint/2010/main" val="1643537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838716" y="1208485"/>
            <a:ext cx="6902659" cy="584775"/>
          </a:xfrm>
          <a:prstGeom prst="rect">
            <a:avLst/>
          </a:prstGeom>
          <a:noFill/>
        </p:spPr>
        <p:txBody>
          <a:bodyPr wrap="none" lIns="91440" tIns="45720" rIns="91440" bIns="45720" rtlCol="0" anchor="t">
            <a:spAutoFit/>
          </a:bodyPr>
          <a:lstStyle/>
          <a:p>
            <a:r>
              <a:rPr lang="en-US" sz="3200">
                <a:solidFill>
                  <a:schemeClr val="accent1"/>
                </a:solidFill>
              </a:rPr>
              <a:t>Case Studies- Colorado Mesa University</a:t>
            </a:r>
          </a:p>
        </p:txBody>
      </p:sp>
      <p:pic>
        <p:nvPicPr>
          <p:cNvPr id="4" name="Picture 3">
            <a:extLst>
              <a:ext uri="{FF2B5EF4-FFF2-40B4-BE49-F238E27FC236}">
                <a16:creationId xmlns:a16="http://schemas.microsoft.com/office/drawing/2014/main" id="{12792859-241F-676A-EEF4-1680458F5904}"/>
              </a:ext>
            </a:extLst>
          </p:cNvPr>
          <p:cNvPicPr>
            <a:picLocks noChangeAspect="1"/>
          </p:cNvPicPr>
          <p:nvPr/>
        </p:nvPicPr>
        <p:blipFill rotWithShape="1">
          <a:blip r:embed="rId2"/>
          <a:srcRect t="31235"/>
          <a:stretch/>
        </p:blipFill>
        <p:spPr>
          <a:xfrm>
            <a:off x="7727117" y="1145590"/>
            <a:ext cx="4394677" cy="2089980"/>
          </a:xfrm>
          <a:prstGeom prst="rect">
            <a:avLst/>
          </a:prstGeom>
        </p:spPr>
      </p:pic>
      <p:sp>
        <p:nvSpPr>
          <p:cNvPr id="6" name="TextBox 5">
            <a:extLst>
              <a:ext uri="{FF2B5EF4-FFF2-40B4-BE49-F238E27FC236}">
                <a16:creationId xmlns:a16="http://schemas.microsoft.com/office/drawing/2014/main" id="{54E0BBAA-73F4-9E65-4FF8-A5F8DE966BD8}"/>
              </a:ext>
            </a:extLst>
          </p:cNvPr>
          <p:cNvSpPr txBox="1"/>
          <p:nvPr/>
        </p:nvSpPr>
        <p:spPr>
          <a:xfrm>
            <a:off x="1077736" y="2284911"/>
            <a:ext cx="8846720" cy="3754874"/>
          </a:xfrm>
          <a:prstGeom prst="rect">
            <a:avLst/>
          </a:prstGeom>
          <a:noFill/>
        </p:spPr>
        <p:txBody>
          <a:bodyPr wrap="square" lIns="91440" tIns="45720" rIns="91440" bIns="45720" anchor="t">
            <a:spAutoFit/>
          </a:bodyPr>
          <a:lstStyle/>
          <a:p>
            <a:pPr algn="l">
              <a:lnSpc>
                <a:spcPct val="100000"/>
              </a:lnSpc>
              <a:spcBef>
                <a:spcPts val="600"/>
              </a:spcBef>
            </a:pPr>
            <a:r>
              <a:rPr lang="en-US" sz="2800" b="1" u="sng"/>
              <a:t>Without District System:</a:t>
            </a:r>
          </a:p>
          <a:p>
            <a:pPr algn="l">
              <a:lnSpc>
                <a:spcPct val="100000"/>
              </a:lnSpc>
              <a:spcBef>
                <a:spcPts val="600"/>
              </a:spcBef>
            </a:pPr>
            <a:r>
              <a:rPr lang="en-US" b="1">
                <a:solidFill>
                  <a:srgbClr val="00B050"/>
                </a:solidFill>
              </a:rPr>
              <a:t>217 </a:t>
            </a:r>
            <a:r>
              <a:rPr lang="en-US"/>
              <a:t>vertical feet of borehole per installed ton</a:t>
            </a:r>
          </a:p>
          <a:p>
            <a:pPr algn="l">
              <a:lnSpc>
                <a:spcPct val="100000"/>
              </a:lnSpc>
              <a:spcBef>
                <a:spcPts val="600"/>
              </a:spcBef>
            </a:pPr>
            <a:r>
              <a:rPr lang="en-US"/>
              <a:t>Calculated water use: 14.5MM gallons/yr. (3,400 tons CT)</a:t>
            </a:r>
          </a:p>
          <a:p>
            <a:pPr algn="l">
              <a:lnSpc>
                <a:spcPct val="100000"/>
              </a:lnSpc>
              <a:spcBef>
                <a:spcPts val="600"/>
              </a:spcBef>
            </a:pPr>
            <a:r>
              <a:rPr lang="en-US"/>
              <a:t>Electric Load 784 kW</a:t>
            </a:r>
          </a:p>
          <a:p>
            <a:pPr algn="l">
              <a:lnSpc>
                <a:spcPct val="100000"/>
              </a:lnSpc>
              <a:spcBef>
                <a:spcPts val="0"/>
              </a:spcBef>
            </a:pPr>
            <a:endParaRPr lang="en-US" sz="1600" b="1" u="sng"/>
          </a:p>
          <a:p>
            <a:pPr algn="l">
              <a:lnSpc>
                <a:spcPct val="100000"/>
              </a:lnSpc>
              <a:spcBef>
                <a:spcPts val="600"/>
              </a:spcBef>
            </a:pPr>
            <a:r>
              <a:rPr lang="en-US" sz="2800" b="1" u="sng"/>
              <a:t>With District System:</a:t>
            </a:r>
            <a:endParaRPr lang="en-US"/>
          </a:p>
          <a:p>
            <a:pPr algn="l">
              <a:lnSpc>
                <a:spcPct val="100000"/>
              </a:lnSpc>
              <a:spcBef>
                <a:spcPts val="600"/>
              </a:spcBef>
            </a:pPr>
            <a:r>
              <a:rPr lang="en-US" b="1">
                <a:solidFill>
                  <a:srgbClr val="00B050"/>
                </a:solidFill>
              </a:rPr>
              <a:t>84</a:t>
            </a:r>
            <a:r>
              <a:rPr lang="en-US"/>
              <a:t> vertical feet of borehole per installed ton</a:t>
            </a:r>
          </a:p>
          <a:p>
            <a:pPr algn="l">
              <a:lnSpc>
                <a:spcPct val="100000"/>
              </a:lnSpc>
              <a:spcBef>
                <a:spcPts val="600"/>
              </a:spcBef>
            </a:pPr>
            <a:r>
              <a:rPr lang="en-US"/>
              <a:t>Estimated Water Use: 4.5MM gallons (705 tons CT)</a:t>
            </a:r>
          </a:p>
          <a:p>
            <a:pPr algn="l">
              <a:lnSpc>
                <a:spcPct val="100000"/>
              </a:lnSpc>
              <a:spcBef>
                <a:spcPts val="600"/>
              </a:spcBef>
            </a:pPr>
            <a:r>
              <a:rPr lang="en-US" u="sng"/>
              <a:t>Electric Load: 185 kW</a:t>
            </a:r>
          </a:p>
          <a:p>
            <a:pPr algn="l">
              <a:lnSpc>
                <a:spcPct val="100000"/>
              </a:lnSpc>
              <a:spcBef>
                <a:spcPts val="600"/>
              </a:spcBef>
            </a:pPr>
            <a:r>
              <a:rPr lang="en-US"/>
              <a:t>&gt;$2,000,000 in annual utility savings</a:t>
            </a:r>
            <a:endParaRPr lang="en-US">
              <a:ea typeface="Calibri"/>
              <a:cs typeface="Calibri"/>
            </a:endParaRPr>
          </a:p>
        </p:txBody>
      </p:sp>
      <p:pic>
        <p:nvPicPr>
          <p:cNvPr id="3" name="Picture 2" descr="\\SSERV001\Public\Sound Geothermal Documents\Pictures\CMU-Mesa State College\Wubben - Science\Wubben Mechanical article.png">
            <a:extLst>
              <a:ext uri="{FF2B5EF4-FFF2-40B4-BE49-F238E27FC236}">
                <a16:creationId xmlns:a16="http://schemas.microsoft.com/office/drawing/2014/main" id="{26186740-5E97-4B31-8AE3-6BD0B935A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919" y="3235570"/>
            <a:ext cx="5069799" cy="35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993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6FE6-5A1A-A115-52DF-961A98EB5F81}"/>
              </a:ext>
            </a:extLst>
          </p:cNvPr>
          <p:cNvSpPr txBox="1">
            <a:spLocks/>
          </p:cNvSpPr>
          <p:nvPr/>
        </p:nvSpPr>
        <p:spPr>
          <a:xfrm>
            <a:off x="774192" y="1254386"/>
            <a:ext cx="10515600" cy="45809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solidFill>
                  <a:schemeClr val="accent1"/>
                </a:solidFill>
                <a:latin typeface="+mn-lt"/>
              </a:rPr>
              <a:t>Electric </a:t>
            </a:r>
            <a:r>
              <a:rPr lang="en-US" sz="3200">
                <a:solidFill>
                  <a:schemeClr val="accent1"/>
                </a:solidFill>
                <a:latin typeface="+mn-lt"/>
                <a:ea typeface="+mn-ea"/>
                <a:cs typeface="+mn-cs"/>
              </a:rPr>
              <a:t>Demand</a:t>
            </a:r>
            <a:r>
              <a:rPr lang="en-US" sz="3200">
                <a:solidFill>
                  <a:schemeClr val="accent1"/>
                </a:solidFill>
                <a:latin typeface="+mn-lt"/>
              </a:rPr>
              <a:t> Response</a:t>
            </a:r>
          </a:p>
        </p:txBody>
      </p:sp>
      <p:sp>
        <p:nvSpPr>
          <p:cNvPr id="3" name="Content Placeholder 2">
            <a:extLst>
              <a:ext uri="{FF2B5EF4-FFF2-40B4-BE49-F238E27FC236}">
                <a16:creationId xmlns:a16="http://schemas.microsoft.com/office/drawing/2014/main" id="{83C3E337-AD4E-F2C6-48AF-CCBB1AFAE66B}"/>
              </a:ext>
            </a:extLst>
          </p:cNvPr>
          <p:cNvSpPr txBox="1">
            <a:spLocks/>
          </p:cNvSpPr>
          <p:nvPr/>
        </p:nvSpPr>
        <p:spPr>
          <a:xfrm>
            <a:off x="838200" y="1985138"/>
            <a:ext cx="10515600" cy="3115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endParaRPr lang="en-US"/>
          </a:p>
        </p:txBody>
      </p:sp>
      <p:pic>
        <p:nvPicPr>
          <p:cNvPr id="16" name="Picture 15">
            <a:extLst>
              <a:ext uri="{FF2B5EF4-FFF2-40B4-BE49-F238E27FC236}">
                <a16:creationId xmlns:a16="http://schemas.microsoft.com/office/drawing/2014/main" id="{22B74F5E-49BB-1A97-C675-307F8A82A6B4}"/>
              </a:ext>
            </a:extLst>
          </p:cNvPr>
          <p:cNvPicPr>
            <a:picLocks noChangeAspect="1"/>
          </p:cNvPicPr>
          <p:nvPr/>
        </p:nvPicPr>
        <p:blipFill>
          <a:blip r:embed="rId3"/>
          <a:stretch>
            <a:fillRect/>
          </a:stretch>
        </p:blipFill>
        <p:spPr>
          <a:xfrm>
            <a:off x="2351532" y="1843040"/>
            <a:ext cx="7972044" cy="4860402"/>
          </a:xfrm>
          <a:prstGeom prst="rect">
            <a:avLst/>
          </a:prstGeom>
        </p:spPr>
      </p:pic>
    </p:spTree>
    <p:extLst>
      <p:ext uri="{BB962C8B-B14F-4D97-AF65-F5344CB8AC3E}">
        <p14:creationId xmlns:p14="http://schemas.microsoft.com/office/powerpoint/2010/main" val="2237010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E07084-3462-DD72-23DF-348F6B83CDD4}"/>
              </a:ext>
            </a:extLst>
          </p:cNvPr>
          <p:cNvSpPr txBox="1"/>
          <p:nvPr/>
        </p:nvSpPr>
        <p:spPr>
          <a:xfrm>
            <a:off x="796978" y="1188940"/>
            <a:ext cx="10031115" cy="584775"/>
          </a:xfrm>
          <a:prstGeom prst="rect">
            <a:avLst/>
          </a:prstGeom>
          <a:noFill/>
        </p:spPr>
        <p:txBody>
          <a:bodyPr wrap="square" lIns="91440" tIns="45720" rIns="91440" bIns="45720" rtlCol="0" anchor="t">
            <a:spAutoFit/>
          </a:bodyPr>
          <a:lstStyle/>
          <a:p>
            <a:r>
              <a:rPr lang="en-US" sz="3200">
                <a:solidFill>
                  <a:schemeClr val="accent1"/>
                </a:solidFill>
              </a:rPr>
              <a:t>The Vail Decarbonization Challenge</a:t>
            </a:r>
          </a:p>
        </p:txBody>
      </p:sp>
      <p:sp>
        <p:nvSpPr>
          <p:cNvPr id="6" name="TextBox 5">
            <a:extLst>
              <a:ext uri="{FF2B5EF4-FFF2-40B4-BE49-F238E27FC236}">
                <a16:creationId xmlns:a16="http://schemas.microsoft.com/office/drawing/2014/main" id="{6A2A280C-7729-B4BD-0609-952970E9EAC6}"/>
              </a:ext>
            </a:extLst>
          </p:cNvPr>
          <p:cNvSpPr txBox="1"/>
          <p:nvPr/>
        </p:nvSpPr>
        <p:spPr>
          <a:xfrm>
            <a:off x="8026400" y="1909859"/>
            <a:ext cx="4014216" cy="4796185"/>
          </a:xfrm>
          <a:prstGeom prst="rect">
            <a:avLst/>
          </a:prstGeom>
          <a:noFill/>
        </p:spPr>
        <p:txBody>
          <a:bodyPr wrap="square">
            <a:spAutoFit/>
          </a:bodyPr>
          <a:lstStyle/>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 Climate Goals (50% by 2030)</a:t>
            </a: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 Largest s</a:t>
            </a:r>
            <a:r>
              <a:rPr lang="en-US" sz="2400" err="1">
                <a:solidFill>
                  <a:prstClr val="black"/>
                </a:solidFill>
                <a:latin typeface="Calibri" panose="020F0502020204030204"/>
              </a:rPr>
              <a:t>nowmelt</a:t>
            </a:r>
            <a:r>
              <a:rPr lang="en-US" sz="2400">
                <a:solidFill>
                  <a:prstClr val="black"/>
                </a:solidFill>
                <a:latin typeface="Calibri" panose="020F0502020204030204"/>
              </a:rPr>
              <a:t> in N. America?</a:t>
            </a: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 </a:t>
            </a:r>
            <a:r>
              <a:rPr lang="en-US" sz="2400">
                <a:solidFill>
                  <a:prstClr val="black"/>
                </a:solidFill>
                <a:latin typeface="Calibri" panose="020F0502020204030204"/>
              </a:rPr>
              <a:t>Guest experience is important</a:t>
            </a: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r>
              <a:rPr lang="en-US" sz="2400">
                <a:solidFill>
                  <a:prstClr val="black"/>
                </a:solidFill>
                <a:latin typeface="Calibri" panose="020F0502020204030204"/>
              </a:rPr>
              <a:t> System performance a must!</a:t>
            </a: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r>
              <a:rPr lang="en-US" sz="2400">
                <a:solidFill>
                  <a:prstClr val="black"/>
                </a:solidFill>
                <a:latin typeface="Calibri" panose="020F0502020204030204"/>
              </a:rPr>
              <a:t> Peak load is late afternoon</a:t>
            </a: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a:p>
            <a:endParaRPr lang="en-US" sz="2400"/>
          </a:p>
        </p:txBody>
      </p:sp>
      <p:pic>
        <p:nvPicPr>
          <p:cNvPr id="4" name="Picture 3" descr="A map of a city&#10;&#10;Description automatically generated">
            <a:extLst>
              <a:ext uri="{FF2B5EF4-FFF2-40B4-BE49-F238E27FC236}">
                <a16:creationId xmlns:a16="http://schemas.microsoft.com/office/drawing/2014/main" id="{1124EECC-FBFE-316B-CBEA-6FF66EB46A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702" y="1776477"/>
            <a:ext cx="7561484" cy="4713769"/>
          </a:xfrm>
          <a:prstGeom prst="rect">
            <a:avLst/>
          </a:prstGeom>
        </p:spPr>
      </p:pic>
    </p:spTree>
    <p:extLst>
      <p:ext uri="{BB962C8B-B14F-4D97-AF65-F5344CB8AC3E}">
        <p14:creationId xmlns:p14="http://schemas.microsoft.com/office/powerpoint/2010/main" val="2984318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55F28-AACA-E689-C5DE-1752F0C1D94C}"/>
              </a:ext>
            </a:extLst>
          </p:cNvPr>
          <p:cNvSpPr txBox="1"/>
          <p:nvPr/>
        </p:nvSpPr>
        <p:spPr>
          <a:xfrm>
            <a:off x="670560" y="1209589"/>
            <a:ext cx="7809317" cy="584775"/>
          </a:xfrm>
          <a:prstGeom prst="rect">
            <a:avLst/>
          </a:prstGeom>
          <a:noFill/>
        </p:spPr>
        <p:txBody>
          <a:bodyPr wrap="none" rtlCol="0">
            <a:spAutoFit/>
          </a:bodyPr>
          <a:lstStyle/>
          <a:p>
            <a:r>
              <a:rPr lang="en-US" sz="3200">
                <a:solidFill>
                  <a:schemeClr val="accent1"/>
                </a:solidFill>
              </a:rPr>
              <a:t>Energy and Carbon Reduction Potential in Vail</a:t>
            </a:r>
          </a:p>
        </p:txBody>
      </p:sp>
      <p:pic>
        <p:nvPicPr>
          <p:cNvPr id="8" name="Picture 7">
            <a:extLst>
              <a:ext uri="{FF2B5EF4-FFF2-40B4-BE49-F238E27FC236}">
                <a16:creationId xmlns:a16="http://schemas.microsoft.com/office/drawing/2014/main" id="{7D97B518-C0F7-6116-B2C9-34221A7CEE12}"/>
              </a:ext>
            </a:extLst>
          </p:cNvPr>
          <p:cNvPicPr>
            <a:picLocks noChangeAspect="1"/>
          </p:cNvPicPr>
          <p:nvPr/>
        </p:nvPicPr>
        <p:blipFill>
          <a:blip r:embed="rId3"/>
          <a:stretch>
            <a:fillRect/>
          </a:stretch>
        </p:blipFill>
        <p:spPr>
          <a:xfrm>
            <a:off x="560832" y="2295144"/>
            <a:ext cx="5915451" cy="3692799"/>
          </a:xfrm>
          <a:prstGeom prst="rect">
            <a:avLst/>
          </a:prstGeom>
        </p:spPr>
      </p:pic>
      <p:pic>
        <p:nvPicPr>
          <p:cNvPr id="10" name="Picture 9">
            <a:extLst>
              <a:ext uri="{FF2B5EF4-FFF2-40B4-BE49-F238E27FC236}">
                <a16:creationId xmlns:a16="http://schemas.microsoft.com/office/drawing/2014/main" id="{DC753960-7299-E658-823E-6A790955B14F}"/>
              </a:ext>
            </a:extLst>
          </p:cNvPr>
          <p:cNvPicPr>
            <a:picLocks noChangeAspect="1"/>
          </p:cNvPicPr>
          <p:nvPr/>
        </p:nvPicPr>
        <p:blipFill rotWithShape="1">
          <a:blip r:embed="rId4">
            <a:extLst>
              <a:ext uri="{28A0092B-C50C-407E-A947-70E740481C1C}">
                <a14:useLocalDpi xmlns:a14="http://schemas.microsoft.com/office/drawing/2010/main" val="0"/>
              </a:ext>
            </a:extLst>
          </a:blip>
          <a:srcRect b="42400"/>
          <a:stretch/>
        </p:blipFill>
        <p:spPr>
          <a:xfrm>
            <a:off x="6922658" y="2295144"/>
            <a:ext cx="4808332" cy="3692799"/>
          </a:xfrm>
          <a:prstGeom prst="rect">
            <a:avLst/>
          </a:prstGeom>
        </p:spPr>
      </p:pic>
    </p:spTree>
    <p:extLst>
      <p:ext uri="{BB962C8B-B14F-4D97-AF65-F5344CB8AC3E}">
        <p14:creationId xmlns:p14="http://schemas.microsoft.com/office/powerpoint/2010/main" val="3610845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301D0-4BD7-A091-5DB2-B481EC2BC022}"/>
              </a:ext>
            </a:extLst>
          </p:cNvPr>
          <p:cNvSpPr txBox="1"/>
          <p:nvPr/>
        </p:nvSpPr>
        <p:spPr>
          <a:xfrm>
            <a:off x="631970" y="1176233"/>
            <a:ext cx="6876819" cy="1077218"/>
          </a:xfrm>
          <a:prstGeom prst="rect">
            <a:avLst/>
          </a:prstGeom>
          <a:noFill/>
        </p:spPr>
        <p:txBody>
          <a:bodyPr wrap="none" rtlCol="0">
            <a:spAutoFit/>
          </a:bodyPr>
          <a:lstStyle/>
          <a:p>
            <a:r>
              <a:rPr lang="en-US" sz="3200">
                <a:solidFill>
                  <a:schemeClr val="accent1"/>
                </a:solidFill>
              </a:rPr>
              <a:t>Thermal Energy Network Study- Phase 1</a:t>
            </a:r>
          </a:p>
          <a:p>
            <a:endParaRPr lang="en-US" sz="3200"/>
          </a:p>
        </p:txBody>
      </p:sp>
      <p:sp>
        <p:nvSpPr>
          <p:cNvPr id="4" name="TextBox 3">
            <a:extLst>
              <a:ext uri="{FF2B5EF4-FFF2-40B4-BE49-F238E27FC236}">
                <a16:creationId xmlns:a16="http://schemas.microsoft.com/office/drawing/2014/main" id="{EBBD0BD7-EE5E-743C-2259-7B817F4C23A8}"/>
              </a:ext>
            </a:extLst>
          </p:cNvPr>
          <p:cNvSpPr txBox="1"/>
          <p:nvPr/>
        </p:nvSpPr>
        <p:spPr>
          <a:xfrm>
            <a:off x="601228" y="2042343"/>
            <a:ext cx="3843360" cy="3208058"/>
          </a:xfrm>
          <a:prstGeom prst="rect">
            <a:avLst/>
          </a:prstGeom>
          <a:noFill/>
        </p:spPr>
        <p:txBody>
          <a:bodyPr wrap="none" rtlCol="0">
            <a:spAutoFit/>
          </a:bodyPr>
          <a:lstStyle/>
          <a:p>
            <a:pPr marR="0" lvl="0" algn="l" defTabSz="914400" rtl="0" eaLnBrk="1" fontAlgn="auto" latinLnBrk="0" hangingPunct="1">
              <a:lnSpc>
                <a:spcPct val="90000"/>
              </a:lnSpc>
              <a:spcBef>
                <a:spcPts val="1000"/>
              </a:spcBef>
              <a:spcAft>
                <a:spcPts val="0"/>
              </a:spcAft>
              <a:buClr>
                <a:srgbClr val="BD955B"/>
              </a:buClr>
              <a:buSzTx/>
              <a:tabLst/>
              <a:defRPr/>
            </a:pP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solidFill>
                  <a:prstClr val="black"/>
                </a:solidFill>
                <a:latin typeface="Calibri" panose="020F0502020204030204"/>
              </a:rPr>
              <a:t>Initial Feasibility Study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50/90 decarbonization rule</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Hydrogeology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Test Borehole</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Thermal sources</a:t>
            </a:r>
          </a:p>
          <a:p>
            <a:pPr marL="342900" indent="-342900">
              <a:buFont typeface="Wingdings" pitchFamily="2" charset="2"/>
              <a:buChar char="v"/>
            </a:pPr>
            <a:endParaRPr lang="en-US" sz="2400"/>
          </a:p>
        </p:txBody>
      </p:sp>
      <p:pic>
        <p:nvPicPr>
          <p:cNvPr id="11" name="Picture 10" descr="A person standing next to a machine&#10;&#10;Description automatically generated">
            <a:extLst>
              <a:ext uri="{FF2B5EF4-FFF2-40B4-BE49-F238E27FC236}">
                <a16:creationId xmlns:a16="http://schemas.microsoft.com/office/drawing/2014/main" id="{991BA66E-CDFA-592C-1E0A-267367E142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1012" y="1069008"/>
            <a:ext cx="4169663" cy="5537834"/>
          </a:xfrm>
          <a:prstGeom prst="rect">
            <a:avLst/>
          </a:prstGeom>
        </p:spPr>
      </p:pic>
      <p:pic>
        <p:nvPicPr>
          <p:cNvPr id="5" name="Picture 4">
            <a:extLst>
              <a:ext uri="{FF2B5EF4-FFF2-40B4-BE49-F238E27FC236}">
                <a16:creationId xmlns:a16="http://schemas.microsoft.com/office/drawing/2014/main" id="{285103CE-05AF-D1C0-1295-0EE3DD24A23D}"/>
              </a:ext>
            </a:extLst>
          </p:cNvPr>
          <p:cNvPicPr>
            <a:picLocks noChangeAspect="1"/>
          </p:cNvPicPr>
          <p:nvPr/>
        </p:nvPicPr>
        <p:blipFill>
          <a:blip r:embed="rId4"/>
          <a:stretch>
            <a:fillRect/>
          </a:stretch>
        </p:blipFill>
        <p:spPr>
          <a:xfrm>
            <a:off x="784527" y="1969423"/>
            <a:ext cx="6076392" cy="4637419"/>
          </a:xfrm>
          <a:prstGeom prst="rect">
            <a:avLst/>
          </a:prstGeom>
        </p:spPr>
      </p:pic>
    </p:spTree>
    <p:extLst>
      <p:ext uri="{BB962C8B-B14F-4D97-AF65-F5344CB8AC3E}">
        <p14:creationId xmlns:p14="http://schemas.microsoft.com/office/powerpoint/2010/main" val="2306416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55F28-AACA-E689-C5DE-1752F0C1D94C}"/>
              </a:ext>
            </a:extLst>
          </p:cNvPr>
          <p:cNvSpPr txBox="1"/>
          <p:nvPr/>
        </p:nvSpPr>
        <p:spPr>
          <a:xfrm>
            <a:off x="773101" y="1249190"/>
            <a:ext cx="7729488" cy="584775"/>
          </a:xfrm>
          <a:prstGeom prst="rect">
            <a:avLst/>
          </a:prstGeom>
          <a:noFill/>
        </p:spPr>
        <p:txBody>
          <a:bodyPr wrap="none" rtlCol="0">
            <a:spAutoFit/>
          </a:bodyPr>
          <a:lstStyle/>
          <a:p>
            <a:r>
              <a:rPr lang="en-US" sz="3200">
                <a:solidFill>
                  <a:schemeClr val="accent1"/>
                </a:solidFill>
              </a:rPr>
              <a:t>Potential Thermal Management Assets in Vail</a:t>
            </a:r>
          </a:p>
        </p:txBody>
      </p:sp>
      <p:pic>
        <p:nvPicPr>
          <p:cNvPr id="3" name="Picture 2">
            <a:extLst>
              <a:ext uri="{FF2B5EF4-FFF2-40B4-BE49-F238E27FC236}">
                <a16:creationId xmlns:a16="http://schemas.microsoft.com/office/drawing/2014/main" id="{9553A5FF-1ED8-7D8C-920A-7C7441AEF2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0659" y="2038042"/>
            <a:ext cx="2839704" cy="3973849"/>
          </a:xfrm>
          <a:prstGeom prst="rect">
            <a:avLst/>
          </a:prstGeom>
        </p:spPr>
      </p:pic>
      <p:pic>
        <p:nvPicPr>
          <p:cNvPr id="8" name="Picture 7">
            <a:extLst>
              <a:ext uri="{FF2B5EF4-FFF2-40B4-BE49-F238E27FC236}">
                <a16:creationId xmlns:a16="http://schemas.microsoft.com/office/drawing/2014/main" id="{AC68A19A-1E8C-B3BA-8CA6-451F3C54BA9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757" t="20075" r="21391" b="12683"/>
          <a:stretch/>
        </p:blipFill>
        <p:spPr>
          <a:xfrm>
            <a:off x="3394667" y="2038042"/>
            <a:ext cx="2072059" cy="1840811"/>
          </a:xfrm>
          <a:prstGeom prst="rect">
            <a:avLst/>
          </a:prstGeom>
        </p:spPr>
      </p:pic>
      <p:pic>
        <p:nvPicPr>
          <p:cNvPr id="9" name="Picture 8">
            <a:extLst>
              <a:ext uri="{FF2B5EF4-FFF2-40B4-BE49-F238E27FC236}">
                <a16:creationId xmlns:a16="http://schemas.microsoft.com/office/drawing/2014/main" id="{D2F9A566-7598-4BEB-78B0-9689F65D477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6181" r="7338"/>
          <a:stretch/>
        </p:blipFill>
        <p:spPr>
          <a:xfrm rot="5400000">
            <a:off x="3430591" y="3935589"/>
            <a:ext cx="2040378" cy="2112226"/>
          </a:xfrm>
          <a:prstGeom prst="rect">
            <a:avLst/>
          </a:prstGeom>
        </p:spPr>
      </p:pic>
      <p:pic>
        <p:nvPicPr>
          <p:cNvPr id="10" name="Picture 9">
            <a:extLst>
              <a:ext uri="{FF2B5EF4-FFF2-40B4-BE49-F238E27FC236}">
                <a16:creationId xmlns:a16="http://schemas.microsoft.com/office/drawing/2014/main" id="{FAC0EF35-C374-6BB9-7F8F-35B66ECB416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79" t="35115" r="9655" b="28590"/>
          <a:stretch/>
        </p:blipFill>
        <p:spPr>
          <a:xfrm>
            <a:off x="9011315" y="4010857"/>
            <a:ext cx="2755227" cy="1961690"/>
          </a:xfrm>
          <a:prstGeom prst="rect">
            <a:avLst/>
          </a:prstGeom>
        </p:spPr>
      </p:pic>
      <p:pic>
        <p:nvPicPr>
          <p:cNvPr id="11" name="Picture 10">
            <a:extLst>
              <a:ext uri="{FF2B5EF4-FFF2-40B4-BE49-F238E27FC236}">
                <a16:creationId xmlns:a16="http://schemas.microsoft.com/office/drawing/2014/main" id="{6C4E14CF-B18D-CB32-E6A6-7AFEBF953A9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340" t="343" r="15341" b="-343"/>
          <a:stretch/>
        </p:blipFill>
        <p:spPr>
          <a:xfrm rot="5400000">
            <a:off x="9438056" y="1611301"/>
            <a:ext cx="1901744" cy="2755227"/>
          </a:xfrm>
          <a:prstGeom prst="rect">
            <a:avLst/>
          </a:prstGeom>
        </p:spPr>
      </p:pic>
      <p:pic>
        <p:nvPicPr>
          <p:cNvPr id="12" name="Picture 11">
            <a:extLst>
              <a:ext uri="{FF2B5EF4-FFF2-40B4-BE49-F238E27FC236}">
                <a16:creationId xmlns:a16="http://schemas.microsoft.com/office/drawing/2014/main" id="{37DEB216-FE3F-F082-03E9-27512AAC4994}"/>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r="11431"/>
          <a:stretch/>
        </p:blipFill>
        <p:spPr>
          <a:xfrm rot="5400000">
            <a:off x="5288044" y="2425334"/>
            <a:ext cx="3942120" cy="3167537"/>
          </a:xfrm>
          <a:prstGeom prst="rect">
            <a:avLst/>
          </a:prstGeom>
        </p:spPr>
      </p:pic>
    </p:spTree>
    <p:extLst>
      <p:ext uri="{BB962C8B-B14F-4D97-AF65-F5344CB8AC3E}">
        <p14:creationId xmlns:p14="http://schemas.microsoft.com/office/powerpoint/2010/main" val="538715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5D977E-E8E5-EC83-C23B-C0C333A29B04}"/>
              </a:ext>
            </a:extLst>
          </p:cNvPr>
          <p:cNvSpPr txBox="1"/>
          <p:nvPr/>
        </p:nvSpPr>
        <p:spPr>
          <a:xfrm>
            <a:off x="802054" y="1186404"/>
            <a:ext cx="9550400" cy="584775"/>
          </a:xfrm>
          <a:prstGeom prst="rect">
            <a:avLst/>
          </a:prstGeom>
          <a:noFill/>
        </p:spPr>
        <p:txBody>
          <a:bodyPr wrap="square" rtlCol="0">
            <a:spAutoFit/>
          </a:bodyPr>
          <a:lstStyle/>
          <a:p>
            <a:r>
              <a:rPr lang="en-US" sz="3200">
                <a:solidFill>
                  <a:schemeClr val="accent1"/>
                </a:solidFill>
              </a:rPr>
              <a:t>Geothermal Energy Grant Program:  Phase II Award</a:t>
            </a:r>
          </a:p>
        </p:txBody>
      </p:sp>
      <p:sp>
        <p:nvSpPr>
          <p:cNvPr id="3" name="TextBox 2">
            <a:extLst>
              <a:ext uri="{FF2B5EF4-FFF2-40B4-BE49-F238E27FC236}">
                <a16:creationId xmlns:a16="http://schemas.microsoft.com/office/drawing/2014/main" id="{3A3FF3B2-8CE4-9F45-EAE7-AE9842181752}"/>
              </a:ext>
            </a:extLst>
          </p:cNvPr>
          <p:cNvSpPr txBox="1"/>
          <p:nvPr/>
        </p:nvSpPr>
        <p:spPr>
          <a:xfrm>
            <a:off x="155996" y="1777020"/>
            <a:ext cx="6487719" cy="5072158"/>
          </a:xfrm>
          <a:prstGeom prst="rect">
            <a:avLst/>
          </a:prstGeom>
          <a:noFill/>
        </p:spPr>
        <p:txBody>
          <a:bodyPr wrap="square" lIns="91440" tIns="45720" rIns="91440" bIns="45720" rtlCol="0" anchor="t">
            <a:spAutoFit/>
          </a:bodyPr>
          <a:lstStyle/>
          <a:p>
            <a:r>
              <a:rPr lang="en-US" sz="2400">
                <a:ea typeface="Calibri"/>
                <a:cs typeface="Calibri"/>
              </a:rPr>
              <a:t>Colorado Energy Office – 7 million grant round.</a:t>
            </a:r>
          </a:p>
          <a:p>
            <a:endParaRPr lang="en-US" sz="2400">
              <a:ea typeface="Calibri"/>
              <a:cs typeface="Calibri"/>
            </a:endParaRPr>
          </a:p>
          <a:p>
            <a:r>
              <a:rPr lang="en-US" sz="2400">
                <a:ea typeface="Calibri"/>
                <a:cs typeface="Calibri"/>
              </a:rPr>
              <a:t>Awarded TOV $250,000 for development of the </a:t>
            </a:r>
            <a:r>
              <a:rPr lang="en-US" sz="2400"/>
              <a:t>Civic Area Geothermal Heating District, to include:</a:t>
            </a:r>
            <a:endParaRPr lang="en-US"/>
          </a:p>
          <a:p>
            <a:endParaRPr lang="en-US" sz="2400"/>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Wastewater treatment plant</a:t>
            </a:r>
          </a:p>
          <a:p>
            <a:pPr marL="228600" indent="-228600">
              <a:lnSpc>
                <a:spcPct val="90000"/>
              </a:lnSpc>
              <a:spcBef>
                <a:spcPts val="1000"/>
              </a:spcBef>
              <a:buClr>
                <a:srgbClr val="BD955B"/>
              </a:buClr>
              <a:buFont typeface="Wingdings" pitchFamily="2" charset="2"/>
              <a:buChar char="v"/>
              <a:defRPr/>
            </a:pPr>
            <a:r>
              <a:rPr lang="en-US" sz="2400"/>
              <a:t>Hotels like the Arrabelle</a:t>
            </a:r>
            <a:endParaRPr lang="en-US" sz="2400">
              <a:ea typeface="Calibri"/>
              <a:cs typeface="Calibri"/>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Library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Ice arena</a:t>
            </a:r>
          </a:p>
          <a:p>
            <a:pPr marL="228600" indent="-228600">
              <a:lnSpc>
                <a:spcPct val="90000"/>
              </a:lnSpc>
              <a:spcBef>
                <a:spcPts val="1000"/>
              </a:spcBef>
              <a:buClr>
                <a:srgbClr val="BD955B"/>
              </a:buClr>
              <a:buFont typeface="Wingdings" pitchFamily="2" charset="2"/>
              <a:buChar char="v"/>
              <a:defRPr/>
            </a:pPr>
            <a:r>
              <a:rPr lang="en-US" sz="2400"/>
              <a:t>Lionshead structure snowmelt plant</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Geothermal Wells</a:t>
            </a:r>
          </a:p>
          <a:p>
            <a:pPr marL="342900" indent="-342900">
              <a:buFont typeface="Wingdings" pitchFamily="2" charset="2"/>
              <a:buChar char="v"/>
            </a:pPr>
            <a:endParaRPr lang="en-US" sz="2400"/>
          </a:p>
        </p:txBody>
      </p:sp>
      <p:pic>
        <p:nvPicPr>
          <p:cNvPr id="5" name="Picture 4" descr="An indoor ice rink with flags from the ceiling&#10;&#10;Description automatically generated">
            <a:extLst>
              <a:ext uri="{FF2B5EF4-FFF2-40B4-BE49-F238E27FC236}">
                <a16:creationId xmlns:a16="http://schemas.microsoft.com/office/drawing/2014/main" id="{2AD8E07D-38F9-1427-F8AB-6337E5830D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581" y="3624063"/>
            <a:ext cx="4088116" cy="3082933"/>
          </a:xfrm>
          <a:prstGeom prst="rect">
            <a:avLst/>
          </a:prstGeom>
        </p:spPr>
      </p:pic>
      <p:pic>
        <p:nvPicPr>
          <p:cNvPr id="6" name="Picture 5" descr="A river running through a town&#10;&#10;Description automatically generated">
            <a:extLst>
              <a:ext uri="{FF2B5EF4-FFF2-40B4-BE49-F238E27FC236}">
                <a16:creationId xmlns:a16="http://schemas.microsoft.com/office/drawing/2014/main" id="{8B58C647-C972-BEF2-F69D-AB1669AFB6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9228" y="3640844"/>
            <a:ext cx="2425425" cy="3065747"/>
          </a:xfrm>
          <a:prstGeom prst="rect">
            <a:avLst/>
          </a:prstGeom>
        </p:spPr>
      </p:pic>
      <p:pic>
        <p:nvPicPr>
          <p:cNvPr id="4" name="Picture 3" descr="A logo with text and a circle&#10;&#10;Description automatically generated">
            <a:extLst>
              <a:ext uri="{FF2B5EF4-FFF2-40B4-BE49-F238E27FC236}">
                <a16:creationId xmlns:a16="http://schemas.microsoft.com/office/drawing/2014/main" id="{7E2C250C-AEE7-76DA-2334-16CFF0FE5852}"/>
              </a:ext>
            </a:extLst>
          </p:cNvPr>
          <p:cNvPicPr>
            <a:picLocks noChangeAspect="1"/>
          </p:cNvPicPr>
          <p:nvPr/>
        </p:nvPicPr>
        <p:blipFill>
          <a:blip r:embed="rId5"/>
          <a:stretch>
            <a:fillRect/>
          </a:stretch>
        </p:blipFill>
        <p:spPr>
          <a:xfrm>
            <a:off x="7811795" y="2265010"/>
            <a:ext cx="4219511" cy="933572"/>
          </a:xfrm>
          <a:prstGeom prst="rect">
            <a:avLst/>
          </a:prstGeom>
        </p:spPr>
      </p:pic>
    </p:spTree>
    <p:extLst>
      <p:ext uri="{BB962C8B-B14F-4D97-AF65-F5344CB8AC3E}">
        <p14:creationId xmlns:p14="http://schemas.microsoft.com/office/powerpoint/2010/main" val="2895128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C07FB39-5015-3D11-127B-7016B42105A3}"/>
              </a:ext>
            </a:extLst>
          </p:cNvPr>
          <p:cNvGrpSpPr/>
          <p:nvPr/>
        </p:nvGrpSpPr>
        <p:grpSpPr>
          <a:xfrm>
            <a:off x="2214315" y="1781872"/>
            <a:ext cx="9338777" cy="5050363"/>
            <a:chOff x="2990852" y="1854070"/>
            <a:chExt cx="8994840" cy="4888425"/>
          </a:xfrm>
        </p:grpSpPr>
        <p:pic>
          <p:nvPicPr>
            <p:cNvPr id="6" name="Picture 5">
              <a:extLst>
                <a:ext uri="{FF2B5EF4-FFF2-40B4-BE49-F238E27FC236}">
                  <a16:creationId xmlns:a16="http://schemas.microsoft.com/office/drawing/2014/main" id="{BC3F597D-AEDF-E27E-7F5F-BA90653A58DE}"/>
                </a:ext>
              </a:extLst>
            </p:cNvPr>
            <p:cNvPicPr>
              <a:picLocks noChangeAspect="1"/>
            </p:cNvPicPr>
            <p:nvPr/>
          </p:nvPicPr>
          <p:blipFill rotWithShape="1">
            <a:blip r:embed="rId3"/>
            <a:srcRect t="7568"/>
            <a:stretch/>
          </p:blipFill>
          <p:spPr>
            <a:xfrm>
              <a:off x="2990852" y="1854071"/>
              <a:ext cx="8994840" cy="4888424"/>
            </a:xfrm>
            <a:prstGeom prst="rect">
              <a:avLst/>
            </a:prstGeom>
          </p:spPr>
        </p:pic>
        <p:sp>
          <p:nvSpPr>
            <p:cNvPr id="7" name="Rectangle 6">
              <a:extLst>
                <a:ext uri="{FF2B5EF4-FFF2-40B4-BE49-F238E27FC236}">
                  <a16:creationId xmlns:a16="http://schemas.microsoft.com/office/drawing/2014/main" id="{C0F1A875-FF83-0521-8525-E74FFA8C886B}"/>
                </a:ext>
              </a:extLst>
            </p:cNvPr>
            <p:cNvSpPr/>
            <p:nvPr/>
          </p:nvSpPr>
          <p:spPr>
            <a:xfrm>
              <a:off x="5241902" y="6272784"/>
              <a:ext cx="2493922" cy="374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F393C67-4DDA-A3A2-47C1-6D677C68EA2C}"/>
                </a:ext>
              </a:extLst>
            </p:cNvPr>
            <p:cNvSpPr/>
            <p:nvPr/>
          </p:nvSpPr>
          <p:spPr>
            <a:xfrm>
              <a:off x="4849039" y="5897880"/>
              <a:ext cx="2493922" cy="374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6766B54-EE27-A69C-1A42-906979DA3D6A}"/>
                </a:ext>
              </a:extLst>
            </p:cNvPr>
            <p:cNvSpPr/>
            <p:nvPr/>
          </p:nvSpPr>
          <p:spPr>
            <a:xfrm>
              <a:off x="5241902" y="1854070"/>
              <a:ext cx="2493922" cy="913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EF7CDED7-0A71-BC74-73C5-FA90B3873303}"/>
              </a:ext>
            </a:extLst>
          </p:cNvPr>
          <p:cNvSpPr txBox="1"/>
          <p:nvPr/>
        </p:nvSpPr>
        <p:spPr>
          <a:xfrm>
            <a:off x="776639" y="1197097"/>
            <a:ext cx="10643616" cy="584775"/>
          </a:xfrm>
          <a:prstGeom prst="rect">
            <a:avLst/>
          </a:prstGeom>
          <a:noFill/>
        </p:spPr>
        <p:txBody>
          <a:bodyPr wrap="square" rtlCol="0">
            <a:spAutoFit/>
          </a:bodyPr>
          <a:lstStyle/>
          <a:p>
            <a:r>
              <a:rPr lang="en-US" sz="3200">
                <a:solidFill>
                  <a:schemeClr val="accent1"/>
                </a:solidFill>
              </a:rPr>
              <a:t>The Utility Thermal Energy Network (UTEN) Business Model</a:t>
            </a:r>
          </a:p>
        </p:txBody>
      </p:sp>
      <p:sp>
        <p:nvSpPr>
          <p:cNvPr id="3" name="TextBox 2">
            <a:extLst>
              <a:ext uri="{FF2B5EF4-FFF2-40B4-BE49-F238E27FC236}">
                <a16:creationId xmlns:a16="http://schemas.microsoft.com/office/drawing/2014/main" id="{05785CA6-992A-DDDD-2324-E969B31D7F44}"/>
              </a:ext>
            </a:extLst>
          </p:cNvPr>
          <p:cNvSpPr txBox="1"/>
          <p:nvPr/>
        </p:nvSpPr>
        <p:spPr>
          <a:xfrm>
            <a:off x="542544" y="2099186"/>
            <a:ext cx="7052443" cy="4315027"/>
          </a:xfrm>
          <a:prstGeom prst="rect">
            <a:avLst/>
          </a:prstGeom>
          <a:noFill/>
        </p:spPr>
        <p:txBody>
          <a:bodyPr wrap="none" rtlCol="0">
            <a:spAutoFit/>
          </a:bodyPr>
          <a:lstStyle/>
          <a:p>
            <a:pPr marL="228600" lvl="0" indent="-228600">
              <a:lnSpc>
                <a:spcPct val="90000"/>
              </a:lnSpc>
              <a:spcBef>
                <a:spcPts val="1000"/>
              </a:spcBef>
              <a:buClr>
                <a:srgbClr val="BD955B"/>
              </a:buClr>
              <a:buFont typeface="Wingdings" pitchFamily="2" charset="2"/>
              <a:buChar char="v"/>
              <a:defRPr/>
            </a:pPr>
            <a:r>
              <a:rPr lang="en-US" sz="2800"/>
              <a:t>UTEN Conversation is Evolving Nationally</a:t>
            </a:r>
          </a:p>
          <a:p>
            <a:pPr marL="228600" lvl="0" indent="-228600">
              <a:lnSpc>
                <a:spcPct val="90000"/>
              </a:lnSpc>
              <a:spcBef>
                <a:spcPts val="1000"/>
              </a:spcBef>
              <a:buClr>
                <a:srgbClr val="BD955B"/>
              </a:buClr>
              <a:buFont typeface="Wingdings" pitchFamily="2" charset="2"/>
              <a:buChar char="v"/>
              <a:defRPr/>
            </a:pPr>
            <a:r>
              <a:rPr lang="en-US" sz="2800"/>
              <a:t> Who Finances, Owns, and Operates?</a:t>
            </a:r>
          </a:p>
          <a:p>
            <a:pPr marL="685800" lvl="1" indent="-228600">
              <a:lnSpc>
                <a:spcPct val="90000"/>
              </a:lnSpc>
              <a:spcBef>
                <a:spcPts val="1000"/>
              </a:spcBef>
              <a:buClr>
                <a:srgbClr val="BD955B"/>
              </a:buClr>
              <a:buFont typeface="Wingdings" pitchFamily="2" charset="2"/>
              <a:buChar char="v"/>
              <a:defRPr/>
            </a:pPr>
            <a:r>
              <a:rPr lang="en-US" sz="2800"/>
              <a:t>Third Party</a:t>
            </a:r>
          </a:p>
          <a:p>
            <a:pPr marL="685800" lvl="1" indent="-228600">
              <a:lnSpc>
                <a:spcPct val="90000"/>
              </a:lnSpc>
              <a:spcBef>
                <a:spcPts val="1000"/>
              </a:spcBef>
              <a:buClr>
                <a:srgbClr val="BD955B"/>
              </a:buClr>
              <a:buFont typeface="Wingdings" pitchFamily="2" charset="2"/>
              <a:buChar char="v"/>
              <a:defRPr/>
            </a:pPr>
            <a:r>
              <a:rPr lang="en-US" sz="2800"/>
              <a:t>Municipality or Customers</a:t>
            </a:r>
          </a:p>
          <a:p>
            <a:pPr marL="685800" lvl="1" indent="-228600">
              <a:lnSpc>
                <a:spcPct val="90000"/>
              </a:lnSpc>
              <a:spcBef>
                <a:spcPts val="1000"/>
              </a:spcBef>
              <a:buClr>
                <a:srgbClr val="BD955B"/>
              </a:buClr>
              <a:buFont typeface="Wingdings" pitchFamily="2" charset="2"/>
              <a:buChar char="v"/>
              <a:defRPr/>
            </a:pPr>
            <a:r>
              <a:rPr lang="en-US" sz="2800"/>
              <a:t>Utility Company</a:t>
            </a:r>
          </a:p>
          <a:p>
            <a:pPr marL="228600" indent="-228600">
              <a:lnSpc>
                <a:spcPct val="90000"/>
              </a:lnSpc>
              <a:spcBef>
                <a:spcPts val="1000"/>
              </a:spcBef>
              <a:buClr>
                <a:srgbClr val="BD955B"/>
              </a:buClr>
              <a:buFont typeface="Wingdings" pitchFamily="2" charset="2"/>
              <a:buChar char="v"/>
              <a:defRPr/>
            </a:pPr>
            <a:r>
              <a:rPr lang="en-US" sz="2800"/>
              <a:t>Design, Commissioning and Controls Support</a:t>
            </a:r>
          </a:p>
          <a:p>
            <a:pPr marL="228600" indent="-228600">
              <a:lnSpc>
                <a:spcPct val="90000"/>
              </a:lnSpc>
              <a:spcBef>
                <a:spcPts val="1000"/>
              </a:spcBef>
              <a:buClr>
                <a:srgbClr val="BD955B"/>
              </a:buClr>
              <a:buFont typeface="Wingdings" pitchFamily="2" charset="2"/>
              <a:buChar char="v"/>
              <a:defRPr/>
            </a:pPr>
            <a:r>
              <a:rPr lang="en-US" sz="2800"/>
              <a:t>Billing and Customer Participation</a:t>
            </a:r>
          </a:p>
          <a:p>
            <a:endParaRPr lang="en-US" sz="2400"/>
          </a:p>
          <a:p>
            <a:endParaRPr lang="en-US" sz="2400"/>
          </a:p>
        </p:txBody>
      </p:sp>
    </p:spTree>
    <p:extLst>
      <p:ext uri="{BB962C8B-B14F-4D97-AF65-F5344CB8AC3E}">
        <p14:creationId xmlns:p14="http://schemas.microsoft.com/office/powerpoint/2010/main" val="3612919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B4F4E-5590-49F5-FD14-1C857FAB0F1D}"/>
              </a:ext>
            </a:extLst>
          </p:cNvPr>
          <p:cNvSpPr txBox="1"/>
          <p:nvPr/>
        </p:nvSpPr>
        <p:spPr>
          <a:xfrm>
            <a:off x="640273" y="1332807"/>
            <a:ext cx="10387584" cy="584775"/>
          </a:xfrm>
          <a:prstGeom prst="rect">
            <a:avLst/>
          </a:prstGeom>
          <a:noFill/>
        </p:spPr>
        <p:txBody>
          <a:bodyPr wrap="square" rtlCol="0">
            <a:spAutoFit/>
          </a:bodyPr>
          <a:lstStyle/>
          <a:p>
            <a:r>
              <a:rPr lang="en-US" sz="3200">
                <a:solidFill>
                  <a:schemeClr val="accent1"/>
                </a:solidFill>
              </a:rPr>
              <a:t>The Paradigm Shift</a:t>
            </a:r>
          </a:p>
        </p:txBody>
      </p:sp>
      <p:sp>
        <p:nvSpPr>
          <p:cNvPr id="3" name="TextBox 2">
            <a:extLst>
              <a:ext uri="{FF2B5EF4-FFF2-40B4-BE49-F238E27FC236}">
                <a16:creationId xmlns:a16="http://schemas.microsoft.com/office/drawing/2014/main" id="{5F3A73F5-34D1-41A3-0E88-3D360C5740B7}"/>
              </a:ext>
            </a:extLst>
          </p:cNvPr>
          <p:cNvSpPr txBox="1"/>
          <p:nvPr/>
        </p:nvSpPr>
        <p:spPr>
          <a:xfrm>
            <a:off x="482870" y="2136145"/>
            <a:ext cx="11467370" cy="4201150"/>
          </a:xfrm>
          <a:prstGeom prst="rect">
            <a:avLst/>
          </a:prstGeom>
          <a:noFill/>
        </p:spPr>
        <p:txBody>
          <a:bodyPr wrap="none" lIns="91440" tIns="45720" rIns="91440" bIns="45720" rtlCol="0" anchor="t">
            <a:spAutoFit/>
          </a:bodyPr>
          <a:lstStyle/>
          <a:p>
            <a:pPr marL="228600" marR="0" lvl="0" indent="-228600" algn="l" defTabSz="914400" rtl="0" eaLnBrk="1" fontAlgn="auto" latinLnBrk="0" hangingPunct="1">
              <a:lnSpc>
                <a:spcPct val="150000"/>
              </a:lnSpc>
              <a:spcBef>
                <a:spcPts val="1000"/>
              </a:spcBef>
              <a:spcAft>
                <a:spcPts val="0"/>
              </a:spcAft>
              <a:buClr>
                <a:srgbClr val="BD955B"/>
              </a:buClr>
              <a:buSzTx/>
              <a:buFont typeface="Wingdings" pitchFamily="2" charset="2"/>
              <a:buChar char="v"/>
              <a:tabLst/>
              <a:defRPr/>
            </a:pPr>
            <a:r>
              <a:rPr lang="en-US" sz="2500"/>
              <a:t> Beneficial Electrification is </a:t>
            </a:r>
            <a:r>
              <a:rPr lang="en-US" sz="2500" i="1"/>
              <a:t>the challenge</a:t>
            </a:r>
            <a:r>
              <a:rPr lang="en-US" sz="2500"/>
              <a:t> of our times</a:t>
            </a:r>
            <a:r>
              <a:rPr lang="en-US" sz="2500" b="1"/>
              <a:t>- </a:t>
            </a:r>
            <a:r>
              <a:rPr lang="en-US" sz="2500"/>
              <a:t>The </a:t>
            </a:r>
            <a:r>
              <a:rPr lang="en-US" sz="2500" b="1" i="1"/>
              <a:t>last 10% is most difficult!</a:t>
            </a:r>
            <a:endParaRPr lang="en-US" sz="2500" b="1" i="1">
              <a:ea typeface="Calibri"/>
              <a:cs typeface="Calibri"/>
            </a:endParaRPr>
          </a:p>
          <a:p>
            <a:pPr marL="228600" marR="0" lvl="0" indent="-228600" algn="l" defTabSz="914400" rtl="0" eaLnBrk="1" fontAlgn="auto" latinLnBrk="0" hangingPunct="1">
              <a:lnSpc>
                <a:spcPct val="150000"/>
              </a:lnSpc>
              <a:spcBef>
                <a:spcPts val="1000"/>
              </a:spcBef>
              <a:spcAft>
                <a:spcPts val="0"/>
              </a:spcAft>
              <a:buClr>
                <a:srgbClr val="BD955B"/>
              </a:buClr>
              <a:buSzTx/>
              <a:buFont typeface="Wingdings" pitchFamily="2" charset="2"/>
              <a:buChar char="v"/>
              <a:tabLst/>
              <a:defRPr/>
            </a:pPr>
            <a:r>
              <a:rPr lang="en-US" sz="2500"/>
              <a:t> The TEN is a holistic tool to achieve decarbonization in the built environment</a:t>
            </a:r>
          </a:p>
          <a:p>
            <a:pPr marL="228600" marR="0" lvl="0" indent="-228600" algn="l" defTabSz="914400" rtl="0" eaLnBrk="1" fontAlgn="auto" latinLnBrk="0" hangingPunct="1">
              <a:lnSpc>
                <a:spcPct val="150000"/>
              </a:lnSpc>
              <a:spcBef>
                <a:spcPts val="1000"/>
              </a:spcBef>
              <a:spcAft>
                <a:spcPts val="0"/>
              </a:spcAft>
              <a:buClr>
                <a:srgbClr val="BD955B"/>
              </a:buClr>
              <a:buSzTx/>
              <a:buFont typeface="Wingdings" pitchFamily="2" charset="2"/>
              <a:buChar char="v"/>
              <a:tabLst/>
              <a:defRPr/>
            </a:pPr>
            <a:r>
              <a:rPr lang="en-US" sz="2500"/>
              <a:t> A TEN is a demand response tool that increases power factor of electrical grid</a:t>
            </a:r>
          </a:p>
          <a:p>
            <a:pPr marL="228600" marR="0" lvl="0" indent="-228600" algn="l" defTabSz="914400" rtl="0" eaLnBrk="1" fontAlgn="auto" latinLnBrk="0" hangingPunct="1">
              <a:lnSpc>
                <a:spcPct val="150000"/>
              </a:lnSpc>
              <a:spcBef>
                <a:spcPts val="1000"/>
              </a:spcBef>
              <a:spcAft>
                <a:spcPts val="0"/>
              </a:spcAft>
              <a:buClr>
                <a:srgbClr val="BD955B"/>
              </a:buClr>
              <a:buSzTx/>
              <a:buFont typeface="Wingdings" pitchFamily="2" charset="2"/>
              <a:buChar char="v"/>
              <a:tabLst/>
              <a:defRPr/>
            </a:pPr>
            <a:r>
              <a:rPr lang="en-US" sz="2500"/>
              <a:t> A TEN offers the highest possible COP for Heating and Cooling</a:t>
            </a:r>
          </a:p>
          <a:p>
            <a:pPr algn="ctr"/>
            <a:endParaRPr lang="en-US" sz="2800"/>
          </a:p>
          <a:p>
            <a:pPr algn="ctr"/>
            <a:r>
              <a:rPr lang="en-US" sz="2800"/>
              <a:t> </a:t>
            </a:r>
            <a:r>
              <a:rPr lang="en-US" sz="4000" b="1">
                <a:solidFill>
                  <a:srgbClr val="00B050"/>
                </a:solidFill>
              </a:rPr>
              <a:t>In a TEN, Liabilities can become Assets</a:t>
            </a:r>
            <a:endParaRPr lang="en-US" sz="2800" b="1">
              <a:solidFill>
                <a:srgbClr val="00B050"/>
              </a:solidFill>
              <a:ea typeface="Calibri"/>
              <a:cs typeface="Calibri"/>
            </a:endParaRPr>
          </a:p>
          <a:p>
            <a:endParaRPr lang="en-US" sz="2400"/>
          </a:p>
        </p:txBody>
      </p:sp>
    </p:spTree>
    <p:extLst>
      <p:ext uri="{BB962C8B-B14F-4D97-AF65-F5344CB8AC3E}">
        <p14:creationId xmlns:p14="http://schemas.microsoft.com/office/powerpoint/2010/main" val="814118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B621E5-0836-7508-1108-3D4F53845F8B}"/>
              </a:ext>
            </a:extLst>
          </p:cNvPr>
          <p:cNvSpPr txBox="1"/>
          <p:nvPr/>
        </p:nvSpPr>
        <p:spPr>
          <a:xfrm>
            <a:off x="1985614" y="1606534"/>
            <a:ext cx="6558398" cy="584775"/>
          </a:xfrm>
          <a:prstGeom prst="rect">
            <a:avLst/>
          </a:prstGeom>
          <a:noFill/>
        </p:spPr>
        <p:txBody>
          <a:bodyPr wrap="none" rtlCol="0">
            <a:spAutoFit/>
          </a:bodyPr>
          <a:lstStyle/>
          <a:p>
            <a:r>
              <a:rPr lang="en-US" sz="3200">
                <a:solidFill>
                  <a:schemeClr val="accent1"/>
                </a:solidFill>
              </a:rPr>
              <a:t>Thank you!   Questions and Discussion</a:t>
            </a:r>
          </a:p>
        </p:txBody>
      </p:sp>
      <p:sp>
        <p:nvSpPr>
          <p:cNvPr id="5" name="TextBox 4">
            <a:extLst>
              <a:ext uri="{FF2B5EF4-FFF2-40B4-BE49-F238E27FC236}">
                <a16:creationId xmlns:a16="http://schemas.microsoft.com/office/drawing/2014/main" id="{8F98E20F-32B7-EBE9-BF1B-4A065E34923F}"/>
              </a:ext>
            </a:extLst>
          </p:cNvPr>
          <p:cNvSpPr txBox="1"/>
          <p:nvPr/>
        </p:nvSpPr>
        <p:spPr>
          <a:xfrm>
            <a:off x="789538" y="5767017"/>
            <a:ext cx="1851533" cy="1200329"/>
          </a:xfrm>
          <a:prstGeom prst="rect">
            <a:avLst/>
          </a:prstGeom>
          <a:noFill/>
        </p:spPr>
        <p:txBody>
          <a:bodyPr wrap="none" rtlCol="0">
            <a:spAutoFit/>
          </a:bodyPr>
          <a:lstStyle/>
          <a:p>
            <a:r>
              <a:rPr lang="en-US"/>
              <a:t>Cameron Millard</a:t>
            </a:r>
          </a:p>
          <a:p>
            <a:r>
              <a:rPr lang="en-US">
                <a:hlinkClick r:id="rId2"/>
              </a:rPr>
              <a:t>cmillard@vail.gov</a:t>
            </a:r>
            <a:endParaRPr lang="en-US"/>
          </a:p>
          <a:p>
            <a:endParaRPr lang="en-US"/>
          </a:p>
          <a:p>
            <a:endParaRPr lang="en-US"/>
          </a:p>
        </p:txBody>
      </p:sp>
      <p:sp>
        <p:nvSpPr>
          <p:cNvPr id="6" name="TextBox 5">
            <a:extLst>
              <a:ext uri="{FF2B5EF4-FFF2-40B4-BE49-F238E27FC236}">
                <a16:creationId xmlns:a16="http://schemas.microsoft.com/office/drawing/2014/main" id="{BFD9036E-4764-DEB3-9534-A5A4676D4F50}"/>
              </a:ext>
            </a:extLst>
          </p:cNvPr>
          <p:cNvSpPr txBox="1"/>
          <p:nvPr/>
        </p:nvSpPr>
        <p:spPr>
          <a:xfrm>
            <a:off x="6025844" y="5767017"/>
            <a:ext cx="3050900" cy="923330"/>
          </a:xfrm>
          <a:prstGeom prst="rect">
            <a:avLst/>
          </a:prstGeom>
          <a:noFill/>
        </p:spPr>
        <p:txBody>
          <a:bodyPr wrap="none" rtlCol="0">
            <a:spAutoFit/>
          </a:bodyPr>
          <a:lstStyle/>
          <a:p>
            <a:r>
              <a:rPr lang="en-US"/>
              <a:t>Matthew Garlick</a:t>
            </a:r>
          </a:p>
          <a:p>
            <a:r>
              <a:rPr lang="en-US">
                <a:hlinkClick r:id="rId3"/>
              </a:rPr>
              <a:t>mgarlick@greyedgegroup.com</a:t>
            </a:r>
            <a:endParaRPr lang="en-US"/>
          </a:p>
          <a:p>
            <a:endParaRPr lang="en-US"/>
          </a:p>
        </p:txBody>
      </p:sp>
      <p:pic>
        <p:nvPicPr>
          <p:cNvPr id="12" name="Graphic 11" descr="Questions with solid fill">
            <a:extLst>
              <a:ext uri="{FF2B5EF4-FFF2-40B4-BE49-F238E27FC236}">
                <a16:creationId xmlns:a16="http://schemas.microsoft.com/office/drawing/2014/main" id="{72615E33-3469-B6D8-C8B9-BB885D43D3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372" y="2005128"/>
            <a:ext cx="3050899" cy="3050899"/>
          </a:xfrm>
          <a:prstGeom prst="rect">
            <a:avLst/>
          </a:prstGeom>
        </p:spPr>
      </p:pic>
      <p:pic>
        <p:nvPicPr>
          <p:cNvPr id="3" name="Picture 2" descr="A logo with a blue circle and black text&#10;&#10;Description automatically generated">
            <a:extLst>
              <a:ext uri="{FF2B5EF4-FFF2-40B4-BE49-F238E27FC236}">
                <a16:creationId xmlns:a16="http://schemas.microsoft.com/office/drawing/2014/main" id="{E6171C72-3996-951C-A019-056A1283CD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8060" y="5523735"/>
            <a:ext cx="1676105" cy="935038"/>
          </a:xfrm>
          <a:prstGeom prst="rect">
            <a:avLst/>
          </a:prstGeom>
        </p:spPr>
      </p:pic>
      <p:pic>
        <p:nvPicPr>
          <p:cNvPr id="8" name="Picture 7" descr="A close-up of a logo&#10;&#10;Description automatically generated">
            <a:extLst>
              <a:ext uri="{FF2B5EF4-FFF2-40B4-BE49-F238E27FC236}">
                <a16:creationId xmlns:a16="http://schemas.microsoft.com/office/drawing/2014/main" id="{D08F774E-48A4-A59B-7190-3E43CB2F2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77243" y="5767017"/>
            <a:ext cx="2311400" cy="825500"/>
          </a:xfrm>
          <a:prstGeom prst="rect">
            <a:avLst/>
          </a:prstGeom>
        </p:spPr>
      </p:pic>
      <p:pic>
        <p:nvPicPr>
          <p:cNvPr id="9" name="Picture 8" descr="A city in the snow&#10;&#10;Description automatically generated">
            <a:extLst>
              <a:ext uri="{FF2B5EF4-FFF2-40B4-BE49-F238E27FC236}">
                <a16:creationId xmlns:a16="http://schemas.microsoft.com/office/drawing/2014/main" id="{D7DB3C5B-49A8-6BBB-9CEC-EEEABB2237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44562" y="2261757"/>
            <a:ext cx="6440502" cy="2906483"/>
          </a:xfrm>
          <a:prstGeom prst="rect">
            <a:avLst/>
          </a:prstGeom>
        </p:spPr>
      </p:pic>
    </p:spTree>
    <p:extLst>
      <p:ext uri="{BB962C8B-B14F-4D97-AF65-F5344CB8AC3E}">
        <p14:creationId xmlns:p14="http://schemas.microsoft.com/office/powerpoint/2010/main" val="416618227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0A764A"/>
      </a:accent1>
      <a:accent2>
        <a:srgbClr val="BD955B"/>
      </a:accent2>
      <a:accent3>
        <a:srgbClr val="000000"/>
      </a:accent3>
      <a:accent4>
        <a:srgbClr val="000000"/>
      </a:accent4>
      <a:accent5>
        <a:srgbClr val="000000"/>
      </a:accent5>
      <a:accent6>
        <a:srgbClr val="000000"/>
      </a:accent6>
      <a:hlink>
        <a:srgbClr val="0070C0"/>
      </a:hlink>
      <a:folHlink>
        <a:srgbClr val="FF00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MUE-Wide-Screen-PPT-Template.potx" id="{0528F96E-3C8F-49DD-AD6E-1C914756DB5B}" vid="{6123447D-6FF2-4B2F-AF88-E0D2066F96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AE5EE057BC9F43B26E08BE3C93F443" ma:contentTypeVersion="14" ma:contentTypeDescription="Create a new document." ma:contentTypeScope="" ma:versionID="4bc4c357b05fc27a2c4fd2ed5f0caf66">
  <xsd:schema xmlns:xsd="http://www.w3.org/2001/XMLSchema" xmlns:xs="http://www.w3.org/2001/XMLSchema" xmlns:p="http://schemas.microsoft.com/office/2006/metadata/properties" xmlns:ns2="f63aac96-6c22-4acb-bcd1-d671912bd8aa" xmlns:ns3="ab10ce27-33c4-4ede-8105-a3cd7fc3dcd0" targetNamespace="http://schemas.microsoft.com/office/2006/metadata/properties" ma:root="true" ma:fieldsID="39b62f2764437405437cdea7525b1e45" ns2:_="" ns3:_="">
    <xsd:import namespace="f63aac96-6c22-4acb-bcd1-d671912bd8aa"/>
    <xsd:import namespace="ab10ce27-33c4-4ede-8105-a3cd7fc3dc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Date_x002d_Tim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aac96-6c22-4acb-bcd1-d671912bd8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13e8058-98c7-47b1-9de9-5c0c3ae8178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ate_x002d_Time" ma:index="20" nillable="true" ma:displayName="Date-Time" ma:format="DateTime" ma:internalName="Date_x002d_Time">
      <xsd:simpleType>
        <xsd:restriction base="dms:DateTim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10ce27-33c4-4ede-8105-a3cd7fc3dcd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118888e-c2cf-453c-b2ee-45c9ded50370}" ma:internalName="TaxCatchAll" ma:showField="CatchAllData" ma:web="ab10ce27-33c4-4ede-8105-a3cd7fc3d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_x002d_Time xmlns="f63aac96-6c22-4acb-bcd1-d671912bd8aa" xsi:nil="true"/>
    <lcf76f155ced4ddcb4097134ff3c332f xmlns="f63aac96-6c22-4acb-bcd1-d671912bd8aa">
      <Terms xmlns="http://schemas.microsoft.com/office/infopath/2007/PartnerControls"/>
    </lcf76f155ced4ddcb4097134ff3c332f>
    <TaxCatchAll xmlns="ab10ce27-33c4-4ede-8105-a3cd7fc3dcd0" xsi:nil="true"/>
  </documentManagement>
</p:properties>
</file>

<file path=customXml/itemProps1.xml><?xml version="1.0" encoding="utf-8"?>
<ds:datastoreItem xmlns:ds="http://schemas.openxmlformats.org/officeDocument/2006/customXml" ds:itemID="{B9F8CED2-F833-49E6-A55E-1E92ACEFD8A2}"/>
</file>

<file path=customXml/itemProps2.xml><?xml version="1.0" encoding="utf-8"?>
<ds:datastoreItem xmlns:ds="http://schemas.openxmlformats.org/officeDocument/2006/customXml" ds:itemID="{F93C8FAC-E992-4B0A-B25F-B9CA0FDAE670}"/>
</file>

<file path=customXml/itemProps3.xml><?xml version="1.0" encoding="utf-8"?>
<ds:datastoreItem xmlns:ds="http://schemas.openxmlformats.org/officeDocument/2006/customXml" ds:itemID="{01441A45-9DAA-4564-B657-5F42B307077B}"/>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Tiger Adolf</dc:creator>
  <cp:revision>11</cp:revision>
  <dcterms:created xsi:type="dcterms:W3CDTF">2021-06-22T17:13:53Z</dcterms:created>
  <dcterms:modified xsi:type="dcterms:W3CDTF">2024-10-08T01:55:38Z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0x01010020AE5EE057BC9F43B26E08BE3C93F443</vt:lpwstr>
  </property>
  <property fmtid="{D5CDD505-2E9C-101B-9397-08002B2CF9AE}" pid="3" name="MediaServiceImageTags">
    <vt:lpwstr/>
  </property>
</Properties>
</file>