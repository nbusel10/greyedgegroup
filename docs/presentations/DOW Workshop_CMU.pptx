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56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73" r:id="rId13"/>
    <p:sldId id="278" r:id="rId14"/>
    <p:sldId id="275" r:id="rId15"/>
    <p:sldId id="279" r:id="rId16"/>
    <p:sldId id="267" r:id="rId17"/>
    <p:sldId id="268" r:id="rId18"/>
    <p:sldId id="269" r:id="rId19"/>
    <p:sldId id="280" r:id="rId20"/>
    <p:sldId id="270" r:id="rId21"/>
    <p:sldId id="271" r:id="rId22"/>
    <p:sldId id="272" r:id="rId23"/>
    <p:sldId id="277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FF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A7FF"/>
    <a:srgbClr val="000000"/>
    <a:srgbClr val="004A87"/>
    <a:srgbClr val="222222"/>
    <a:srgbClr val="6E98BB"/>
    <a:srgbClr val="262626"/>
    <a:srgbClr val="29A9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03" autoAdjust="0"/>
    <p:restoredTop sz="96247" autoAdjust="0"/>
  </p:normalViewPr>
  <p:slideViewPr>
    <p:cSldViewPr snapToGrid="0">
      <p:cViewPr varScale="1">
        <p:scale>
          <a:sx n="98" d="100"/>
          <a:sy n="98" d="100"/>
        </p:scale>
        <p:origin x="900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2D03E6-69D3-EC46-8AEA-D177ED48C7E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90CE59-2927-C541-859E-B98601521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0205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0B94AB-FD4A-CA45-AA08-2D28A9BC8D45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E0D7A5-7444-B84D-8EF6-4302FB18F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671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400" b="1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How to update the logo in the Workshop PowerPoint Template:</a:t>
            </a:r>
          </a:p>
          <a:p>
            <a:endParaRPr lang="en-US" sz="24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r>
              <a:rPr lang="en-US" sz="24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You will need to place your logo into the PowerPoint template in 2 places. Please refer to the following instructions for guidance on how to place your logo:</a:t>
            </a:r>
          </a:p>
          <a:p>
            <a:pPr lvl="0"/>
            <a:r>
              <a:rPr lang="en-US" sz="24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- Open the PPT template in a new widescreen (16:9) presentation.</a:t>
            </a:r>
          </a:p>
          <a:p>
            <a:pPr lvl="0"/>
            <a:r>
              <a:rPr lang="en-US" sz="24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- Click “View” on the top toolbar.</a:t>
            </a:r>
          </a:p>
          <a:p>
            <a:pPr lvl="0"/>
            <a:r>
              <a:rPr lang="en-US" sz="24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- Click “Slide Master.”</a:t>
            </a:r>
          </a:p>
          <a:p>
            <a:pPr lvl="0"/>
            <a:r>
              <a:rPr lang="en-US" sz="24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- Edit the top content slide and delete the “Insert Your Logo” textbox.</a:t>
            </a:r>
          </a:p>
          <a:p>
            <a:pPr lvl="0"/>
            <a:r>
              <a:rPr lang="en-US" sz="24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- Place your logo (JPG or PNG) into the content slide in its place. Resize accordingly.</a:t>
            </a:r>
          </a:p>
          <a:p>
            <a:pPr lvl="0"/>
            <a:r>
              <a:rPr lang="en-US" sz="24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- Edit the second, title slide and delete the “Insert Your Logo” textbox.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- Place your logo (JPG or PNG) into the title slide in its place. Resize accordingly.</a:t>
            </a:r>
          </a:p>
          <a:p>
            <a:pPr marL="0" lvl="0" indent="0">
              <a:buFontTx/>
              <a:buNone/>
            </a:pPr>
            <a:r>
              <a:rPr lang="en-US" sz="240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- Click “Close Master View”.</a:t>
            </a:r>
            <a:endParaRPr lang="en-US" sz="3600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E0D7A5-7444-B84D-8EF6-4302FB18FD5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6647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E0D7A5-7444-B84D-8EF6-4302FB18FD5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3218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E0D7A5-7444-B84D-8EF6-4302FB18FD5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4616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B077E-A3D1-6F68-8496-904010EA3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3617DD-BE62-FC58-553A-A346F42718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C71E8B-ECCF-B0F8-93AE-8957EC10B5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CD5F6C-FB53-DCAB-607B-7D252182E1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E0D7A5-7444-B84D-8EF6-4302FB18FD5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0036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E0D7A5-7444-B84D-8EF6-4302FB18FD5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6346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E0D7A5-7444-B84D-8EF6-4302FB18FD56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1662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E0D7A5-7444-B84D-8EF6-4302FB18FD56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3930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AE7F6AF-1169-B530-EFFC-B79D7E7237E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F90A801-0265-34DA-E924-66B0311BC5DD}"/>
              </a:ext>
            </a:extLst>
          </p:cNvPr>
          <p:cNvSpPr/>
          <p:nvPr userDrawn="1"/>
        </p:nvSpPr>
        <p:spPr>
          <a:xfrm>
            <a:off x="1" y="1049627"/>
            <a:ext cx="12192000" cy="317553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57368" y="1458045"/>
            <a:ext cx="8132352" cy="648810"/>
          </a:xfrm>
        </p:spPr>
        <p:txBody>
          <a:bodyPr anchor="b">
            <a:normAutofit/>
          </a:bodyPr>
          <a:lstStyle>
            <a:lvl1pPr algn="l">
              <a:defRPr sz="4000" b="1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 dirty="0"/>
              <a:t>Title is Arial Bold, 33-44pt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57368" y="2106855"/>
            <a:ext cx="9001409" cy="1655762"/>
          </a:xfrm>
        </p:spPr>
        <p:txBody>
          <a:bodyPr/>
          <a:lstStyle>
            <a:lvl1pPr marL="0" indent="0" algn="l">
              <a:buNone/>
              <a:defRPr sz="2400" b="1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 Name(s) and Title(s)—Arial Bold 24pt</a:t>
            </a:r>
          </a:p>
          <a:p>
            <a:r>
              <a:rPr lang="en-US" dirty="0"/>
              <a:t>Date—Arial Bold 24pt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8C8CAAE-9AA5-E655-F143-97FAAEDCBCD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9177135" y="5203514"/>
            <a:ext cx="2729525" cy="1543581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8CCA5BA-E78E-4993-5484-84AAB2506DFC}"/>
              </a:ext>
            </a:extLst>
          </p:cNvPr>
          <p:cNvSpPr/>
          <p:nvPr userDrawn="1"/>
        </p:nvSpPr>
        <p:spPr>
          <a:xfrm>
            <a:off x="-1" y="4148958"/>
            <a:ext cx="9903855" cy="133268"/>
          </a:xfrm>
          <a:prstGeom prst="rect">
            <a:avLst/>
          </a:prstGeom>
          <a:solidFill>
            <a:srgbClr val="0EA7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C3740DE-35B0-3941-8294-041D9F4B671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9543" y="110677"/>
            <a:ext cx="2114845" cy="762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5274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742646" y="6272214"/>
            <a:ext cx="2743200" cy="363233"/>
          </a:xfrm>
          <a:prstGeom prst="rect">
            <a:avLst/>
          </a:prstGeom>
        </p:spPr>
        <p:txBody>
          <a:bodyPr/>
          <a:lstStyle>
            <a:lvl1pPr algn="ctr">
              <a:defRPr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99B1552A-2818-9B45-B83D-7E1DB4B1F48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5193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6607" y="1509281"/>
            <a:ext cx="5456793" cy="45072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6565" y="1509281"/>
            <a:ext cx="5588764" cy="45072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1361872" y="785994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742646" y="6272214"/>
            <a:ext cx="2743200" cy="363233"/>
          </a:xfrm>
          <a:prstGeom prst="rect">
            <a:avLst/>
          </a:prstGeom>
        </p:spPr>
        <p:txBody>
          <a:bodyPr/>
          <a:lstStyle>
            <a:lvl1pPr algn="ctr">
              <a:defRPr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99B1552A-2818-9B45-B83D-7E1DB4B1F48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7890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6607" y="222553"/>
            <a:ext cx="5838655" cy="951534"/>
          </a:xfrm>
        </p:spPr>
        <p:txBody>
          <a:bodyPr/>
          <a:lstStyle>
            <a:lvl1pPr algn="ctr">
              <a:defRPr>
                <a:solidFill>
                  <a:srgbClr val="22222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6607" y="1509281"/>
            <a:ext cx="5456793" cy="45072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Box 4"/>
          <p:cNvSpPr txBox="1"/>
          <p:nvPr userDrawn="1"/>
        </p:nvSpPr>
        <p:spPr>
          <a:xfrm>
            <a:off x="1361872" y="785994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742646" y="6272214"/>
            <a:ext cx="2743200" cy="363233"/>
          </a:xfrm>
          <a:prstGeom prst="rect">
            <a:avLst/>
          </a:prstGeom>
        </p:spPr>
        <p:txBody>
          <a:bodyPr/>
          <a:lstStyle>
            <a:lvl1pPr algn="ctr">
              <a:defRPr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99B1552A-2818-9B45-B83D-7E1DB4B1F48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6712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742646" y="6272214"/>
            <a:ext cx="2743200" cy="363233"/>
          </a:xfrm>
          <a:prstGeom prst="rect">
            <a:avLst/>
          </a:prstGeom>
        </p:spPr>
        <p:txBody>
          <a:bodyPr/>
          <a:lstStyle>
            <a:lvl1pPr algn="ctr">
              <a:defRPr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99B1552A-2818-9B45-B83D-7E1DB4B1F48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811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3163" y="230548"/>
            <a:ext cx="11383867" cy="950976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1586429"/>
            <a:ext cx="6593842" cy="427462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3164" y="1586429"/>
            <a:ext cx="4378861" cy="4282559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795130" y="644055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742646" y="6272214"/>
            <a:ext cx="2743200" cy="363233"/>
          </a:xfrm>
          <a:prstGeom prst="rect">
            <a:avLst/>
          </a:prstGeom>
        </p:spPr>
        <p:txBody>
          <a:bodyPr/>
          <a:lstStyle>
            <a:lvl1pPr algn="ctr">
              <a:defRPr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99B1552A-2818-9B45-B83D-7E1DB4B1F48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913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6607" y="222553"/>
            <a:ext cx="11438721" cy="951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Slide Title is Arial Bold, 32pt, Title Case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3164" y="1487277"/>
            <a:ext cx="11442164" cy="456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96640B6-18E4-2487-C43F-F1CE5E3954B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rcRect/>
          <a:stretch/>
        </p:blipFill>
        <p:spPr>
          <a:xfrm>
            <a:off x="9716652" y="5489620"/>
            <a:ext cx="2223602" cy="1257475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029CECC-5EA9-6705-2809-D77644ED3E94}"/>
              </a:ext>
            </a:extLst>
          </p:cNvPr>
          <p:cNvSpPr/>
          <p:nvPr userDrawn="1"/>
        </p:nvSpPr>
        <p:spPr>
          <a:xfrm>
            <a:off x="0" y="0"/>
            <a:ext cx="12192000" cy="222553"/>
          </a:xfrm>
          <a:prstGeom prst="rect">
            <a:avLst/>
          </a:prstGeom>
          <a:solidFill>
            <a:srgbClr val="0EA7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9C6E134-72C2-136B-4DEA-B85FBDB5C345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483830" y="6047877"/>
            <a:ext cx="2114845" cy="762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443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9" r:id="rId4"/>
    <p:sldLayoutId id="2147483654" r:id="rId5"/>
    <p:sldLayoutId id="2147483657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 baseline="0">
          <a:solidFill>
            <a:sysClr val="windowText" lastClr="000000"/>
          </a:solidFill>
          <a:latin typeface="Arial" charset="0"/>
          <a:ea typeface="Arial" charset="0"/>
          <a:cs typeface="Arial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3"/>
        </a:buClr>
        <a:buFont typeface="Arial"/>
        <a:buChar char="•"/>
        <a:defRPr sz="2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  <a:lvl2pPr marL="685800" indent="-400050" algn="l" defTabSz="914400" rtl="0" eaLnBrk="1" latinLnBrk="0" hangingPunct="1">
        <a:lnSpc>
          <a:spcPct val="90000"/>
        </a:lnSpc>
        <a:spcBef>
          <a:spcPts val="500"/>
        </a:spcBef>
        <a:buClr>
          <a:schemeClr val="accent3"/>
        </a:buClr>
        <a:buFont typeface="Symbol" panose="05050102010706020507" pitchFamily="18" charset="2"/>
        <a:buChar char="-"/>
        <a:defRPr sz="24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1143000" indent="-400050" algn="l" defTabSz="914400" rtl="0" eaLnBrk="1" latinLnBrk="0" hangingPunct="1">
        <a:lnSpc>
          <a:spcPct val="90000"/>
        </a:lnSpc>
        <a:spcBef>
          <a:spcPts val="500"/>
        </a:spcBef>
        <a:buClr>
          <a:schemeClr val="accent3"/>
        </a:buClr>
        <a:buFont typeface="Wingdings" panose="05000000000000000000" pitchFamily="2" charset="2"/>
        <a:buChar char="§"/>
        <a:defRPr sz="20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3pPr>
      <a:lvl4pPr marL="1485900" indent="-342900" algn="l" defTabSz="914400" rtl="0" eaLnBrk="1" latinLnBrk="0" hangingPunct="1">
        <a:lnSpc>
          <a:spcPct val="90000"/>
        </a:lnSpc>
        <a:spcBef>
          <a:spcPts val="500"/>
        </a:spcBef>
        <a:buClr>
          <a:schemeClr val="accent3"/>
        </a:buClr>
        <a:buFont typeface="Symbol" panose="05050102010706020507" pitchFamily="18" charset="2"/>
        <a:buChar char="~"/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47399-783E-4002-9058-08D594A9F6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7368" y="1808001"/>
            <a:ext cx="11334632" cy="648810"/>
          </a:xfrm>
        </p:spPr>
        <p:txBody>
          <a:bodyPr>
            <a:noAutofit/>
          </a:bodyPr>
          <a:lstStyle/>
          <a:p>
            <a:r>
              <a:rPr lang="en-US" sz="4800" dirty="0"/>
              <a:t>A Commercial Case Study: </a:t>
            </a:r>
            <a:br>
              <a:rPr lang="en-US" sz="4800" dirty="0"/>
            </a:br>
            <a:r>
              <a:rPr lang="en-US" sz="4800" dirty="0"/>
              <a:t>Colorado Mesa University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DCC7DF-44E6-4C73-8F46-031377EAD7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7368" y="2601119"/>
            <a:ext cx="9001409" cy="1655762"/>
          </a:xfrm>
        </p:spPr>
        <p:txBody>
          <a:bodyPr/>
          <a:lstStyle/>
          <a:p>
            <a:r>
              <a:rPr lang="en-US" dirty="0"/>
              <a:t>Matt Garlick </a:t>
            </a:r>
            <a:r>
              <a:rPr lang="en-US" sz="1400" dirty="0"/>
              <a:t>CEM, BEMP, CCP</a:t>
            </a:r>
          </a:p>
          <a:p>
            <a:r>
              <a:rPr lang="en-US" dirty="0"/>
              <a:t>CEO</a:t>
            </a:r>
          </a:p>
          <a:p>
            <a:r>
              <a:rPr lang="en-US" dirty="0"/>
              <a:t>The GreyEdge Group</a:t>
            </a:r>
          </a:p>
        </p:txBody>
      </p:sp>
    </p:spTree>
    <p:extLst>
      <p:ext uri="{BB962C8B-B14F-4D97-AF65-F5344CB8AC3E}">
        <p14:creationId xmlns:p14="http://schemas.microsoft.com/office/powerpoint/2010/main" val="3868351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olorado Mesa University - Grand Junction, CO | Appily">
            <a:extLst>
              <a:ext uri="{FF2B5EF4-FFF2-40B4-BE49-F238E27FC236}">
                <a16:creationId xmlns:a16="http://schemas.microsoft.com/office/drawing/2014/main" id="{B858DA0F-4D4E-2556-46DA-7006983987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1E45A0-CA20-B0D2-A692-29CA8740E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ysClr val="windowText" lastClr="000000"/>
                </a:solidFill>
              </a:rPr>
              <a:t>Colorado Mesa University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B91847-8D1C-0BC5-409E-1A0C43BAA2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7698" y="1543469"/>
            <a:ext cx="3569235" cy="2633419"/>
          </a:xfrm>
          <a:solidFill>
            <a:schemeClr val="bg1">
              <a:alpha val="66000"/>
            </a:schemeClr>
          </a:solidFill>
        </p:spPr>
        <p:txBody>
          <a:bodyPr>
            <a:normAutofit/>
          </a:bodyPr>
          <a:lstStyle/>
          <a:p>
            <a:pPr>
              <a:buClr>
                <a:srgbClr val="0EA7FF"/>
              </a:buClr>
            </a:pPr>
            <a:r>
              <a:rPr lang="en-US" dirty="0"/>
              <a:t>Grand Junction, CO</a:t>
            </a:r>
          </a:p>
          <a:p>
            <a:pPr>
              <a:buClr>
                <a:srgbClr val="0EA7FF"/>
              </a:buClr>
            </a:pPr>
            <a:r>
              <a:rPr lang="en-US" dirty="0"/>
              <a:t>11,000 Students</a:t>
            </a:r>
          </a:p>
          <a:p>
            <a:pPr>
              <a:buClr>
                <a:srgbClr val="0EA7FF"/>
              </a:buClr>
            </a:pPr>
            <a:r>
              <a:rPr lang="en-US" dirty="0"/>
              <a:t>141 Acres</a:t>
            </a:r>
          </a:p>
          <a:p>
            <a:pPr>
              <a:buClr>
                <a:srgbClr val="0EA7FF"/>
              </a:buClr>
            </a:pPr>
            <a:r>
              <a:rPr lang="en-US" dirty="0"/>
              <a:t>37 Buildings</a:t>
            </a:r>
          </a:p>
          <a:p>
            <a:pPr>
              <a:buClr>
                <a:srgbClr val="0EA7FF"/>
              </a:buClr>
            </a:pPr>
            <a:r>
              <a:rPr lang="en-US" dirty="0"/>
              <a:t>Climate Zone 5B</a:t>
            </a:r>
          </a:p>
          <a:p>
            <a:pPr>
              <a:buClr>
                <a:srgbClr val="0EA7FF"/>
              </a:buClr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E82685-1696-1BE8-7F21-C9748801BA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1552A-2818-9B45-B83D-7E1DB4B1F484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6" name="Google Shape;63;p14">
            <a:extLst>
              <a:ext uri="{FF2B5EF4-FFF2-40B4-BE49-F238E27FC236}">
                <a16:creationId xmlns:a16="http://schemas.microsoft.com/office/drawing/2014/main" id="{E5E66351-EE71-64A3-EC8E-C9CB38D2892C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rcRect l="368" t="-4378" r="-368" b="78921"/>
          <a:stretch>
            <a:fillRect/>
          </a:stretch>
        </p:blipFill>
        <p:spPr>
          <a:xfrm>
            <a:off x="0" y="0"/>
            <a:ext cx="9207749" cy="132091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17644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B6B3B-9618-6C84-4999-1E741DE3C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607" y="222552"/>
            <a:ext cx="11438721" cy="1448203"/>
          </a:xfrm>
        </p:spPr>
        <p:txBody>
          <a:bodyPr>
            <a:normAutofit/>
          </a:bodyPr>
          <a:lstStyle/>
          <a:p>
            <a:r>
              <a:rPr lang="en-US" dirty="0"/>
              <a:t>Evolution</a:t>
            </a:r>
            <a:br>
              <a:rPr lang="en-US" dirty="0"/>
            </a:br>
            <a:r>
              <a:rPr lang="en-US" dirty="0"/>
              <a:t>2008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249C050-1766-2AEA-F89B-D326D365D7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96356" y="230307"/>
            <a:ext cx="6107288" cy="658548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060257-36D9-0679-AC8E-C622F5053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1552A-2818-9B45-B83D-7E1DB4B1F484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7" name="Callout: Line 6">
            <a:extLst>
              <a:ext uri="{FF2B5EF4-FFF2-40B4-BE49-F238E27FC236}">
                <a16:creationId xmlns:a16="http://schemas.microsoft.com/office/drawing/2014/main" id="{F1FA6AEF-7632-9214-840F-87F2E7CD193E}"/>
              </a:ext>
            </a:extLst>
          </p:cNvPr>
          <p:cNvSpPr/>
          <p:nvPr/>
        </p:nvSpPr>
        <p:spPr>
          <a:xfrm>
            <a:off x="5458177" y="3090689"/>
            <a:ext cx="1281289" cy="668867"/>
          </a:xfrm>
          <a:prstGeom prst="borderCallout1">
            <a:avLst>
              <a:gd name="adj1" fmla="val 98075"/>
              <a:gd name="adj2" fmla="val 97996"/>
              <a:gd name="adj3" fmla="val 151319"/>
              <a:gd name="adj4" fmla="val 123770"/>
            </a:avLst>
          </a:prstGeom>
          <a:ln w="41275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Dominguez Hall</a:t>
            </a:r>
          </a:p>
        </p:txBody>
      </p:sp>
    </p:spTree>
    <p:extLst>
      <p:ext uri="{BB962C8B-B14F-4D97-AF65-F5344CB8AC3E}">
        <p14:creationId xmlns:p14="http://schemas.microsoft.com/office/powerpoint/2010/main" val="3019409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B339A-0BEB-CB47-21F1-2182EE342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7C534-2760-5B7F-DC96-D4D6D4EDF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607" y="222552"/>
            <a:ext cx="11438721" cy="1448203"/>
          </a:xfrm>
        </p:spPr>
        <p:txBody>
          <a:bodyPr>
            <a:normAutofit/>
          </a:bodyPr>
          <a:lstStyle/>
          <a:p>
            <a:r>
              <a:rPr lang="en-US" dirty="0"/>
              <a:t>Evolution</a:t>
            </a:r>
            <a:br>
              <a:rPr lang="en-US" dirty="0"/>
            </a:br>
            <a:r>
              <a:rPr lang="en-US" dirty="0"/>
              <a:t>2009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F0B956C-B68E-D875-6D7F-891427AF94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296356" y="230307"/>
            <a:ext cx="6107288" cy="658548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3E19F-9EE2-B8AB-7FD0-C28DE0816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1552A-2818-9B45-B83D-7E1DB4B1F484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3235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DE0B8-FE15-F911-F82A-D3BF2B27A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D1381E-CD02-E439-9297-6A2162EFA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607" y="222552"/>
            <a:ext cx="11438721" cy="1448203"/>
          </a:xfrm>
        </p:spPr>
        <p:txBody>
          <a:bodyPr>
            <a:normAutofit/>
          </a:bodyPr>
          <a:lstStyle/>
          <a:p>
            <a:r>
              <a:rPr lang="en-US" dirty="0"/>
              <a:t>Evolution</a:t>
            </a:r>
            <a:br>
              <a:rPr lang="en-US" dirty="0"/>
            </a:br>
            <a:r>
              <a:rPr lang="en-US" dirty="0"/>
              <a:t>2011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444A919-D0F0-97E6-83BC-C9ED66F3C0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296356" y="230307"/>
            <a:ext cx="6107288" cy="658548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628518-3DE4-2713-8409-B1092E284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1552A-2818-9B45-B83D-7E1DB4B1F484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7082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87B8F-72DA-B15E-3EDB-858220939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992A7-8618-74CB-8795-6E730262B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607" y="222552"/>
            <a:ext cx="11438721" cy="1448203"/>
          </a:xfrm>
        </p:spPr>
        <p:txBody>
          <a:bodyPr>
            <a:normAutofit/>
          </a:bodyPr>
          <a:lstStyle/>
          <a:p>
            <a:r>
              <a:rPr lang="en-US" dirty="0"/>
              <a:t>Evolution</a:t>
            </a:r>
            <a:br>
              <a:rPr lang="en-US" dirty="0"/>
            </a:br>
            <a:r>
              <a:rPr lang="en-US" dirty="0"/>
              <a:t>2017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0158161-0441-D78D-C439-56B4C8AD93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296356" y="230307"/>
            <a:ext cx="6107288" cy="658548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44ECAB-4886-2FED-DCB9-F06C3C516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1552A-2818-9B45-B83D-7E1DB4B1F484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4862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F1D2B-FF93-1026-6C15-D66ED6D36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16B77-FE82-4E2E-2B9E-C8F74A0B9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607" y="222552"/>
            <a:ext cx="11438721" cy="1448203"/>
          </a:xfrm>
        </p:spPr>
        <p:txBody>
          <a:bodyPr>
            <a:normAutofit/>
          </a:bodyPr>
          <a:lstStyle/>
          <a:p>
            <a:r>
              <a:rPr lang="en-US" dirty="0"/>
              <a:t>Evolution</a:t>
            </a:r>
            <a:br>
              <a:rPr lang="en-US" dirty="0"/>
            </a:br>
            <a:r>
              <a:rPr lang="en-US" dirty="0"/>
              <a:t>2020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C63E433-06CD-A854-BB54-3E78FE6820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296356" y="230307"/>
            <a:ext cx="6107288" cy="658548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346330-2572-48A5-4973-B94B13176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1552A-2818-9B45-B83D-7E1DB4B1F484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335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1EA1F-DE14-E91E-DD02-5BCAAD4F4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B10CF-D850-CCF0-D3BA-F3FD33387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607" y="222552"/>
            <a:ext cx="11438721" cy="1448203"/>
          </a:xfrm>
        </p:spPr>
        <p:txBody>
          <a:bodyPr>
            <a:normAutofit/>
          </a:bodyPr>
          <a:lstStyle/>
          <a:p>
            <a:r>
              <a:rPr lang="en-US" dirty="0"/>
              <a:t>Evolution</a:t>
            </a:r>
            <a:br>
              <a:rPr lang="en-US" dirty="0"/>
            </a:br>
            <a:r>
              <a:rPr lang="en-US" dirty="0"/>
              <a:t>Current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C23C7E7-CE64-535A-D4BA-C0F897DB97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578578" y="272513"/>
            <a:ext cx="6107288" cy="658548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DFF98F-311E-98FF-AEBE-6AFB8C4E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1552A-2818-9B45-B83D-7E1DB4B1F484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337DB1-BFF0-5B0A-9B45-AFD62224EA2F}"/>
              </a:ext>
            </a:extLst>
          </p:cNvPr>
          <p:cNvSpPr txBox="1"/>
          <p:nvPr/>
        </p:nvSpPr>
        <p:spPr>
          <a:xfrm>
            <a:off x="278074" y="1720716"/>
            <a:ext cx="330050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Arial" charset="0"/>
                <a:cs typeface="Arial" charset="0"/>
              </a:rPr>
              <a:t>79% of campus connected (20 </a:t>
            </a:r>
            <a:r>
              <a:rPr lang="en-US" sz="2400" dirty="0" err="1">
                <a:latin typeface="Arial" charset="0"/>
                <a:cs typeface="Arial" charset="0"/>
              </a:rPr>
              <a:t>bldgs</a:t>
            </a:r>
            <a:r>
              <a:rPr lang="en-US" sz="2400" dirty="0">
                <a:latin typeface="Arial" charset="0"/>
                <a:cs typeface="Arial" charset="0"/>
              </a:rPr>
              <a:t>, 1.5MSF)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Arial" charset="0"/>
                <a:cs typeface="Arial" charset="0"/>
              </a:rPr>
              <a:t>3,500 Ton Capacity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Arial" charset="0"/>
                <a:cs typeface="Arial" charset="0"/>
              </a:rPr>
              <a:t>Five independent </a:t>
            </a:r>
            <a:r>
              <a:rPr lang="en-US" sz="2400" dirty="0" err="1">
                <a:latin typeface="Arial" charset="0"/>
                <a:cs typeface="Arial" charset="0"/>
              </a:rPr>
              <a:t>Microdistricts</a:t>
            </a:r>
            <a:endParaRPr lang="en-US" sz="2400" dirty="0">
              <a:latin typeface="Arial" charset="0"/>
              <a:cs typeface="Arial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Arial" charset="0"/>
                <a:cs typeface="Arial" charset="0"/>
              </a:rPr>
              <a:t>Expansion on track to double area served by 2030</a:t>
            </a:r>
          </a:p>
        </p:txBody>
      </p:sp>
    </p:spTree>
    <p:extLst>
      <p:ext uri="{BB962C8B-B14F-4D97-AF65-F5344CB8AC3E}">
        <p14:creationId xmlns:p14="http://schemas.microsoft.com/office/powerpoint/2010/main" val="36256544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998CD-FCFF-DD39-A3EC-1E192E445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CMU is a Hybrid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C3E29D-7634-9193-9FF3-AA4E236BA3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164" y="1487277"/>
            <a:ext cx="3986254" cy="4560600"/>
          </a:xfrm>
        </p:spPr>
        <p:txBody>
          <a:bodyPr>
            <a:normAutofit/>
          </a:bodyPr>
          <a:lstStyle/>
          <a:p>
            <a:r>
              <a:rPr lang="en-US" sz="2400" dirty="0"/>
              <a:t>The 50/90 Rule</a:t>
            </a:r>
          </a:p>
          <a:p>
            <a:endParaRPr lang="en-US" sz="2400" dirty="0"/>
          </a:p>
          <a:p>
            <a:r>
              <a:rPr lang="en-US" sz="2400" dirty="0"/>
              <a:t>Thermal </a:t>
            </a:r>
            <a:r>
              <a:rPr lang="en-US" sz="2400" dirty="0" err="1"/>
              <a:t>Resouces</a:t>
            </a:r>
            <a:r>
              <a:rPr lang="en-US" sz="2400" dirty="0"/>
              <a:t>:</a:t>
            </a:r>
          </a:p>
          <a:p>
            <a:pPr lvl="1"/>
            <a:r>
              <a:rPr lang="en-US" dirty="0"/>
              <a:t>Load Diversity!</a:t>
            </a:r>
          </a:p>
          <a:p>
            <a:pPr lvl="1"/>
            <a:r>
              <a:rPr lang="en-US" dirty="0"/>
              <a:t>Boilers</a:t>
            </a:r>
          </a:p>
          <a:p>
            <a:pPr lvl="1"/>
            <a:r>
              <a:rPr lang="en-US" dirty="0"/>
              <a:t>Cooling Towers</a:t>
            </a:r>
          </a:p>
          <a:p>
            <a:pPr lvl="1"/>
            <a:r>
              <a:rPr lang="en-US" dirty="0"/>
              <a:t>Irrigation </a:t>
            </a:r>
            <a:r>
              <a:rPr lang="en-US" dirty="0" err="1"/>
              <a:t>Hx</a:t>
            </a:r>
            <a:endParaRPr lang="en-US" dirty="0"/>
          </a:p>
          <a:p>
            <a:pPr lvl="1"/>
            <a:r>
              <a:rPr lang="en-US" dirty="0"/>
              <a:t>Geoexchange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312BF4-456D-CD0D-1A29-94F9DC44A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1552A-2818-9B45-B83D-7E1DB4B1F484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4223776-1C90-A8FC-47E2-69AD192C3D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2711" y="1487277"/>
            <a:ext cx="8139289" cy="418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28561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1B00E-206A-F4B4-B872-39191D7E2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14520-BEDC-CDB8-2112-ABE1B5B5B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CMU is a Hybrid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96545-2421-4EEC-7E8D-CC4AEDD06D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164" y="1487277"/>
            <a:ext cx="3986254" cy="4560600"/>
          </a:xfrm>
        </p:spPr>
        <p:txBody>
          <a:bodyPr>
            <a:normAutofit/>
          </a:bodyPr>
          <a:lstStyle/>
          <a:p>
            <a:r>
              <a:rPr lang="en-US" sz="2400" dirty="0"/>
              <a:t>The 50/90 Rule</a:t>
            </a:r>
          </a:p>
          <a:p>
            <a:endParaRPr lang="en-US" sz="2400" dirty="0"/>
          </a:p>
          <a:p>
            <a:r>
              <a:rPr lang="en-US" sz="2400" dirty="0"/>
              <a:t>Thermal Resources:</a:t>
            </a:r>
          </a:p>
          <a:p>
            <a:pPr lvl="1"/>
            <a:r>
              <a:rPr lang="en-US" dirty="0"/>
              <a:t>Load Diversity!</a:t>
            </a:r>
          </a:p>
          <a:p>
            <a:pPr lvl="1"/>
            <a:r>
              <a:rPr lang="en-US" dirty="0"/>
              <a:t>Boilers</a:t>
            </a:r>
          </a:p>
          <a:p>
            <a:pPr lvl="1"/>
            <a:r>
              <a:rPr lang="en-US" dirty="0"/>
              <a:t>Cooling Towers</a:t>
            </a:r>
          </a:p>
          <a:p>
            <a:pPr lvl="1"/>
            <a:r>
              <a:rPr lang="en-US" dirty="0"/>
              <a:t>Irrigation </a:t>
            </a:r>
            <a:r>
              <a:rPr lang="en-US" dirty="0" err="1"/>
              <a:t>Hx</a:t>
            </a:r>
            <a:endParaRPr lang="en-US" dirty="0"/>
          </a:p>
          <a:p>
            <a:pPr lvl="1"/>
            <a:r>
              <a:rPr lang="en-US" dirty="0"/>
              <a:t>Geoexchange</a:t>
            </a:r>
          </a:p>
          <a:p>
            <a:r>
              <a:rPr lang="en-US" sz="2400" dirty="0"/>
              <a:t>Boilers have turned on ONCE in 10 years!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A7E3D4-B81F-9B9F-3BCF-3E9494156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1552A-2818-9B45-B83D-7E1DB4B1F484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683B9EC-6284-1214-5A00-74810D29A6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2711" y="1487277"/>
            <a:ext cx="8139289" cy="418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0481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97CFE-AEEB-F961-2852-F0F4D4923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Multi-Source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B381B-1AE1-EF79-DA57-0FC1D63475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115" y="2223912"/>
            <a:ext cx="6967192" cy="2991556"/>
          </a:xfrm>
        </p:spPr>
        <p:txBody>
          <a:bodyPr>
            <a:normAutofit/>
          </a:bodyPr>
          <a:lstStyle/>
          <a:p>
            <a:r>
              <a:rPr lang="en-US" dirty="0"/>
              <a:t>Standard Geo System- 217 feet per ton</a:t>
            </a:r>
          </a:p>
          <a:p>
            <a:endParaRPr lang="en-US" dirty="0"/>
          </a:p>
          <a:p>
            <a:r>
              <a:rPr lang="en-US" dirty="0"/>
              <a:t>CMU ATL- 84 feet per ton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CC94CA-9F08-9593-3EF5-A57AE7D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1552A-2818-9B45-B83D-7E1DB4B1F484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4CD47C-C069-9E65-B922-818EA7579C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6308" y="609001"/>
            <a:ext cx="4159086" cy="505031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523EF86-16F7-378A-6EED-1DE1FF1E6DCC}"/>
              </a:ext>
            </a:extLst>
          </p:cNvPr>
          <p:cNvSpPr txBox="1"/>
          <p:nvPr/>
        </p:nvSpPr>
        <p:spPr>
          <a:xfrm>
            <a:off x="8278762" y="6581001"/>
            <a:ext cx="14945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Image Credit: NLR</a:t>
            </a:r>
          </a:p>
        </p:txBody>
      </p:sp>
    </p:spTree>
    <p:extLst>
      <p:ext uri="{BB962C8B-B14F-4D97-AF65-F5344CB8AC3E}">
        <p14:creationId xmlns:p14="http://schemas.microsoft.com/office/powerpoint/2010/main" val="21332577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06B0A-2717-1966-ED83-1AF27716E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770B9-DB67-E653-EB9A-CD38F4BE9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Multi-Source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E3DF5-06A2-BC78-7B2C-65B2FBB2E0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115" y="2223912"/>
            <a:ext cx="6967192" cy="2991556"/>
          </a:xfrm>
        </p:spPr>
        <p:txBody>
          <a:bodyPr>
            <a:normAutofit/>
          </a:bodyPr>
          <a:lstStyle/>
          <a:p>
            <a:r>
              <a:rPr lang="en-US" dirty="0"/>
              <a:t>Standard Geo System- 217 feet per ton</a:t>
            </a:r>
          </a:p>
          <a:p>
            <a:endParaRPr lang="en-US" dirty="0"/>
          </a:p>
          <a:p>
            <a:r>
              <a:rPr lang="en-US" dirty="0"/>
              <a:t>CMU ATL- 84 feet per ton</a:t>
            </a:r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sz="3200" b="1" dirty="0"/>
              <a:t>62%</a:t>
            </a:r>
            <a:r>
              <a:rPr lang="en-US" dirty="0"/>
              <a:t> </a:t>
            </a:r>
            <a:r>
              <a:rPr lang="en-US" dirty="0" err="1"/>
              <a:t>CapEx</a:t>
            </a:r>
            <a:r>
              <a:rPr lang="en-US" dirty="0"/>
              <a:t> Reduction!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2AFC5-D416-3BA8-6EA1-383EFEA94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1552A-2818-9B45-B83D-7E1DB4B1F484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257632-AE0A-4F37-0BDC-5C1EB5451A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6308" y="609001"/>
            <a:ext cx="4159086" cy="505031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86269CD-091A-ADD3-4EDB-FFCD73096869}"/>
              </a:ext>
            </a:extLst>
          </p:cNvPr>
          <p:cNvSpPr txBox="1"/>
          <p:nvPr/>
        </p:nvSpPr>
        <p:spPr>
          <a:xfrm>
            <a:off x="8278762" y="6581001"/>
            <a:ext cx="14945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Image Credit: NLR</a:t>
            </a:r>
          </a:p>
        </p:txBody>
      </p:sp>
    </p:spTree>
    <p:extLst>
      <p:ext uri="{BB962C8B-B14F-4D97-AF65-F5344CB8AC3E}">
        <p14:creationId xmlns:p14="http://schemas.microsoft.com/office/powerpoint/2010/main" val="26310549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AF6B4-987B-9824-7481-10E112DF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Energy Use Intensity (</a:t>
            </a:r>
            <a:r>
              <a:rPr lang="en-US" dirty="0" err="1"/>
              <a:t>kBTU</a:t>
            </a:r>
            <a:r>
              <a:rPr lang="en-US" dirty="0"/>
              <a:t>/sf/yr)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B43C79-DCCE-6214-EE7E-F01DFCCD0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1552A-2818-9B45-B83D-7E1DB4B1F484}" type="slidenum">
              <a:rPr lang="en-US" smtClean="0"/>
              <a:pPr/>
              <a:t>13</a:t>
            </a:fld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C794FBF-6828-E375-3C74-968C326451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667" y="1480304"/>
            <a:ext cx="9990666" cy="4067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842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27041-6E52-EFAC-8DF2-789A5DF37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2C6A4-52D7-BDFC-D080-ADFB2AF48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System Efficiency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C27BDC-CBAF-F675-3342-88124A128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1552A-2818-9B45-B83D-7E1DB4B1F484}" type="slidenum">
              <a:rPr lang="en-US" smtClean="0"/>
              <a:pPr/>
              <a:t>14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C0D6E7-A468-B2DE-1863-8F4A3BCE23C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1235"/>
          <a:stretch/>
        </p:blipFill>
        <p:spPr>
          <a:xfrm>
            <a:off x="2065422" y="1797649"/>
            <a:ext cx="8097647" cy="3851003"/>
          </a:xfrm>
          <a:prstGeom prst="rect">
            <a:avLst/>
          </a:prstGeom>
        </p:spPr>
      </p:pic>
      <p:sp>
        <p:nvSpPr>
          <p:cNvPr id="3" name="Google Shape;179;p22">
            <a:extLst>
              <a:ext uri="{FF2B5EF4-FFF2-40B4-BE49-F238E27FC236}">
                <a16:creationId xmlns:a16="http://schemas.microsoft.com/office/drawing/2014/main" id="{5188DD71-A78A-73A9-90C1-8E2615DCC066}"/>
              </a:ext>
            </a:extLst>
          </p:cNvPr>
          <p:cNvSpPr txBox="1"/>
          <p:nvPr/>
        </p:nvSpPr>
        <p:spPr>
          <a:xfrm>
            <a:off x="2704503" y="6501196"/>
            <a:ext cx="7458566" cy="363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0675" tIns="120675" rIns="120675" bIns="1206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83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Source: Xcel Energy’s “Evaluating a Community Ground Source Heat Pump System at CMU”</a:t>
            </a:r>
            <a:endParaRPr sz="1283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33021245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654B5-1B82-4512-537B-48EEDB6C3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Utility Savings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8565CF-0637-8C70-EB2E-DB98F60B2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1552A-2818-9B45-B83D-7E1DB4B1F484}" type="slidenum">
              <a:rPr lang="en-US" smtClean="0"/>
              <a:pPr/>
              <a:t>15</a:t>
            </a:fld>
            <a:endParaRPr lang="en-US"/>
          </a:p>
        </p:txBody>
      </p:sp>
      <p:pic>
        <p:nvPicPr>
          <p:cNvPr id="5" name="Google Shape;194;p24">
            <a:extLst>
              <a:ext uri="{FF2B5EF4-FFF2-40B4-BE49-F238E27FC236}">
                <a16:creationId xmlns:a16="http://schemas.microsoft.com/office/drawing/2014/main" id="{351274A3-119C-C0F1-46B7-F422779767CA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2">
            <a:alphaModFix/>
          </a:blip>
          <a:stretch>
            <a:fillRect/>
          </a:stretch>
        </p:blipFill>
        <p:spPr>
          <a:xfrm>
            <a:off x="396607" y="1174087"/>
            <a:ext cx="6339238" cy="471067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95;p24">
            <a:extLst>
              <a:ext uri="{FF2B5EF4-FFF2-40B4-BE49-F238E27FC236}">
                <a16:creationId xmlns:a16="http://schemas.microsoft.com/office/drawing/2014/main" id="{8D36101A-7B68-940A-A0D3-47F568A20D8D}"/>
              </a:ext>
            </a:extLst>
          </p:cNvPr>
          <p:cNvSpPr txBox="1">
            <a:spLocks/>
          </p:cNvSpPr>
          <p:nvPr/>
        </p:nvSpPr>
        <p:spPr>
          <a:xfrm>
            <a:off x="7485846" y="1646622"/>
            <a:ext cx="4051398" cy="18828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3"/>
              </a:buClr>
              <a:buFont typeface="Arial"/>
              <a:buChar char="•"/>
              <a:defRPr sz="2800" b="0" i="0" kern="12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4000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3"/>
              </a:buClr>
              <a:buFont typeface="Symbol" panose="05050102010706020507" pitchFamily="18" charset="2"/>
              <a:buChar char="-"/>
              <a:defRPr sz="2400" b="0" i="0" kern="12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4000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3"/>
              </a:buClr>
              <a:buFont typeface="Wingdings" panose="05000000000000000000" pitchFamily="2" charset="2"/>
              <a:buChar char="§"/>
              <a:defRPr sz="2000" b="0" i="0" kern="12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4859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3"/>
              </a:buClr>
              <a:buFont typeface="Symbol" panose="05050102010706020507" pitchFamily="18" charset="2"/>
              <a:buChar char="~"/>
              <a:defRPr sz="1800" b="0" i="0" kern="12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5000"/>
              </a:lnSpc>
              <a:spcBef>
                <a:spcPts val="0"/>
              </a:spcBef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rgbClr val="5D0022"/>
                </a:solidFill>
                <a:latin typeface="DM Sans"/>
                <a:ea typeface="DM Sans"/>
                <a:cs typeface="DM Sans"/>
                <a:sym typeface="DM Sans"/>
              </a:rPr>
              <a:t>Annual energy savings: $1,568,032</a:t>
            </a:r>
          </a:p>
          <a:p>
            <a:pPr marL="0" indent="0">
              <a:lnSpc>
                <a:spcPct val="95000"/>
              </a:lnSpc>
              <a:spcBef>
                <a:spcPts val="0"/>
              </a:spcBef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indent="0">
              <a:lnSpc>
                <a:spcPct val="95000"/>
              </a:lnSpc>
              <a:spcBef>
                <a:spcPts val="0"/>
              </a:spcBef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rgbClr val="5D0022"/>
                </a:solidFill>
                <a:latin typeface="DM Sans"/>
                <a:ea typeface="DM Sans"/>
                <a:cs typeface="DM Sans"/>
                <a:sym typeface="DM Sans"/>
              </a:rPr>
              <a:t>Cumulative energy savings (since 2008): </a:t>
            </a:r>
          </a:p>
          <a:p>
            <a:pPr marL="0" indent="0">
              <a:lnSpc>
                <a:spcPct val="95000"/>
              </a:lnSpc>
              <a:spcBef>
                <a:spcPts val="0"/>
              </a:spcBef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rgbClr val="5D0022"/>
                </a:solidFill>
                <a:latin typeface="DM Sans"/>
                <a:ea typeface="DM Sans"/>
                <a:cs typeface="DM Sans"/>
                <a:sym typeface="DM Sans"/>
              </a:rPr>
              <a:t>$16 million +</a:t>
            </a:r>
          </a:p>
          <a:p>
            <a:pPr marL="0" indent="0">
              <a:lnSpc>
                <a:spcPct val="95000"/>
              </a:lnSpc>
              <a:spcBef>
                <a:spcPts val="0"/>
              </a:spcBef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rgbClr val="5D0022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indent="0">
              <a:lnSpc>
                <a:spcPct val="95000"/>
              </a:lnSpc>
              <a:spcBef>
                <a:spcPts val="0"/>
              </a:spcBef>
              <a:buClr>
                <a:schemeClr val="dk1"/>
              </a:buClr>
              <a:buSzPts val="1100"/>
              <a:buFont typeface="Arial"/>
              <a:buNone/>
            </a:pPr>
            <a:endParaRPr lang="en-US" sz="1600" dirty="0"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36990910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5B24-980C-EE90-54EF-306BF1757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69A0B-C595-B6D0-EDBF-B1381347A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Utility Savings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6A1B55-886D-389F-4EB0-0E479BCA5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1552A-2818-9B45-B83D-7E1DB4B1F484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8" name="Google Shape;146;p19">
            <a:extLst>
              <a:ext uri="{FF2B5EF4-FFF2-40B4-BE49-F238E27FC236}">
                <a16:creationId xmlns:a16="http://schemas.microsoft.com/office/drawing/2014/main" id="{1F99BD8C-37B8-5E8A-09E5-EF979A67EF96}"/>
              </a:ext>
            </a:extLst>
          </p:cNvPr>
          <p:cNvSpPr txBox="1"/>
          <p:nvPr/>
        </p:nvSpPr>
        <p:spPr>
          <a:xfrm>
            <a:off x="490256" y="1656207"/>
            <a:ext cx="6688755" cy="35455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latin typeface="Arial" charset="0"/>
                <a:cs typeface="Arial" charset="0"/>
                <a:sym typeface="DM Sans"/>
              </a:rPr>
              <a:t>Compared to a conventional cooling and heating system, this system has:</a:t>
            </a:r>
            <a:endParaRPr sz="2400" dirty="0">
              <a:latin typeface="Arial" charset="0"/>
              <a:cs typeface="Arial" charset="0"/>
              <a:sym typeface="DM Sans"/>
            </a:endParaRPr>
          </a:p>
          <a:p>
            <a:pPr marL="457200" marR="0" lvl="1" indent="-1968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300"/>
              <a:buFont typeface="DM Sans"/>
              <a:buChar char="•"/>
            </a:pPr>
            <a:r>
              <a:rPr lang="en" sz="2400" dirty="0">
                <a:latin typeface="Arial" charset="0"/>
                <a:cs typeface="Arial" charset="0"/>
                <a:sym typeface="DM Sans"/>
              </a:rPr>
              <a:t>Demand reduction of ~650 kW </a:t>
            </a:r>
          </a:p>
          <a:p>
            <a:pPr marL="457200" marR="0" lvl="1" indent="-1968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300"/>
              <a:buFont typeface="DM Sans"/>
              <a:buChar char="•"/>
            </a:pPr>
            <a:r>
              <a:rPr lang="en" sz="2400" dirty="0">
                <a:latin typeface="Arial" charset="0"/>
                <a:cs typeface="Arial" charset="0"/>
                <a:sym typeface="DM Sans"/>
              </a:rPr>
              <a:t>Energy savings of ~1.3 GWh</a:t>
            </a:r>
          </a:p>
          <a:p>
            <a:pPr marL="457200" marR="0" lvl="1" indent="-1968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300"/>
              <a:buFont typeface="DM Sans"/>
              <a:buChar char="•"/>
            </a:pPr>
            <a:r>
              <a:rPr lang="en" sz="2400" dirty="0">
                <a:latin typeface="Arial" charset="0"/>
                <a:cs typeface="Arial" charset="0"/>
                <a:sym typeface="DM Sans"/>
              </a:rPr>
              <a:t>Natural gas savings of ~58,000 Dth </a:t>
            </a:r>
          </a:p>
          <a:p>
            <a:pPr marL="457200" marR="0" lvl="1" indent="-1968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300"/>
              <a:buFont typeface="DM Sans"/>
              <a:buChar char="•"/>
            </a:pPr>
            <a:r>
              <a:rPr lang="en" sz="2400" dirty="0">
                <a:latin typeface="Arial" charset="0"/>
                <a:cs typeface="Arial" charset="0"/>
                <a:sym typeface="DM Sans"/>
              </a:rPr>
              <a:t>Water savings of ~10 million gallons</a:t>
            </a:r>
            <a:endParaRPr sz="2400" dirty="0">
              <a:latin typeface="Arial" charset="0"/>
              <a:cs typeface="Arial" charset="0"/>
              <a:sym typeface="DM Sans"/>
            </a:endParaRPr>
          </a:p>
        </p:txBody>
      </p:sp>
      <p:sp>
        <p:nvSpPr>
          <p:cNvPr id="9" name="Google Shape;147;p19">
            <a:extLst>
              <a:ext uri="{FF2B5EF4-FFF2-40B4-BE49-F238E27FC236}">
                <a16:creationId xmlns:a16="http://schemas.microsoft.com/office/drawing/2014/main" id="{28B195B2-DDA4-4F36-141D-ED7E8B87A208}"/>
              </a:ext>
            </a:extLst>
          </p:cNvPr>
          <p:cNvSpPr/>
          <p:nvPr/>
        </p:nvSpPr>
        <p:spPr>
          <a:xfrm>
            <a:off x="7806129" y="1342709"/>
            <a:ext cx="3671878" cy="3414117"/>
          </a:xfrm>
          <a:custGeom>
            <a:avLst/>
            <a:gdLst/>
            <a:ahLst/>
            <a:cxnLst/>
            <a:rect l="l" t="t" r="r" b="b"/>
            <a:pathLst>
              <a:path w="3568169" h="3449915" extrusionOk="0">
                <a:moveTo>
                  <a:pt x="0" y="0"/>
                </a:moveTo>
                <a:lnTo>
                  <a:pt x="3568169" y="0"/>
                </a:lnTo>
                <a:lnTo>
                  <a:pt x="3568169" y="3449915"/>
                </a:lnTo>
                <a:lnTo>
                  <a:pt x="0" y="344991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361293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214;p26">
            <a:extLst>
              <a:ext uri="{FF2B5EF4-FFF2-40B4-BE49-F238E27FC236}">
                <a16:creationId xmlns:a16="http://schemas.microsoft.com/office/drawing/2014/main" id="{8880BE1C-964C-7F85-5742-AB46BB1092AF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2">
            <a:alphaModFix/>
          </a:blip>
          <a:stretch>
            <a:fillRect/>
          </a:stretch>
        </p:blipFill>
        <p:spPr>
          <a:xfrm>
            <a:off x="993422" y="222553"/>
            <a:ext cx="10898819" cy="6687529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93F638-B8BD-2A58-11FD-45555F1DB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607" y="222553"/>
            <a:ext cx="2832015" cy="951534"/>
          </a:xfrm>
          <a:solidFill>
            <a:schemeClr val="bg1">
              <a:alpha val="70000"/>
            </a:schemeClr>
          </a:solidFill>
        </p:spPr>
        <p:txBody>
          <a:bodyPr/>
          <a:lstStyle/>
          <a:p>
            <a:r>
              <a:rPr lang="en-US" dirty="0"/>
              <a:t>Peak Shifting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F28622-D19C-F55A-419C-B84059FB9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1552A-2818-9B45-B83D-7E1DB4B1F484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3460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A94E5-D659-77BD-B0A8-28E049713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Demand Limiting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B9B167-21AE-141C-190E-65BA04C03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1552A-2818-9B45-B83D-7E1DB4B1F484}" type="slidenum">
              <a:rPr lang="en-US" smtClean="0"/>
              <a:pPr/>
              <a:t>18</a:t>
            </a:fld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E75B44D-49F4-858C-2098-807DF51557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07822" y="921162"/>
            <a:ext cx="8359121" cy="5096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5561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C41E6-227A-AD4C-D865-AF02F9374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Reduced Soft Costs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1279CB-54AD-44E8-26B7-9B510B30C1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164" y="1487277"/>
            <a:ext cx="5533505" cy="456060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Reduced Electrical Service Upgrades </a:t>
            </a:r>
          </a:p>
          <a:p>
            <a:endParaRPr lang="en-US" dirty="0"/>
          </a:p>
          <a:p>
            <a:r>
              <a:rPr lang="en-US" dirty="0"/>
              <a:t>800,000sf Campus 2008- </a:t>
            </a:r>
          </a:p>
          <a:p>
            <a:pPr lvl="1"/>
            <a:r>
              <a:rPr lang="en-US" dirty="0"/>
              <a:t>3 HVAC Technicians</a:t>
            </a:r>
          </a:p>
          <a:p>
            <a:r>
              <a:rPr lang="en-US" dirty="0"/>
              <a:t>2,200,000sf Campus 2026- </a:t>
            </a:r>
          </a:p>
          <a:p>
            <a:pPr lvl="1"/>
            <a:r>
              <a:rPr lang="en-US" dirty="0"/>
              <a:t>4 HVAC Technicians</a:t>
            </a:r>
          </a:p>
          <a:p>
            <a:endParaRPr lang="en-US" dirty="0"/>
          </a:p>
          <a:p>
            <a:r>
              <a:rPr lang="en-US" dirty="0"/>
              <a:t>Driver Buildings can limit performance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215BF5-EA19-5E8A-0E6A-FAA841523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1552A-2818-9B45-B83D-7E1DB4B1F484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FA78F1B-884A-BB8B-E970-16FF5D823E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8000" y="810123"/>
            <a:ext cx="6411646" cy="4808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1630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823D4-BAB9-08B2-2864-4BA021693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AB8F3-7C70-BD85-7E93-B41C3DF65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1552A-2818-9B45-B83D-7E1DB4B1F484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F3640DA-15D5-C6FC-2C6C-4CE4FF0424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607" y="2309972"/>
            <a:ext cx="5533505" cy="22380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Matt Garlick </a:t>
            </a:r>
            <a:r>
              <a:rPr lang="en-US" sz="1800" dirty="0"/>
              <a:t>CEM, CCP, BEMP</a:t>
            </a:r>
          </a:p>
          <a:p>
            <a:pPr marL="0" indent="0">
              <a:buNone/>
            </a:pPr>
            <a:r>
              <a:rPr lang="en-US" dirty="0"/>
              <a:t>CEO</a:t>
            </a:r>
          </a:p>
          <a:p>
            <a:pPr marL="0" indent="0">
              <a:buNone/>
            </a:pPr>
            <a:r>
              <a:rPr lang="en-US" dirty="0"/>
              <a:t>The GreyEdge Group</a:t>
            </a:r>
          </a:p>
          <a:p>
            <a:pPr marL="0" indent="0">
              <a:buNone/>
            </a:pPr>
            <a:r>
              <a:rPr lang="en-US" dirty="0"/>
              <a:t>mgarlick@greyedgegroup.com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F444A83-93DC-82F4-4904-EA21A49CD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1528" y="664453"/>
            <a:ext cx="7233800" cy="5336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1568D9F-9F0B-3ECC-8CC3-509A663F3BBB}"/>
              </a:ext>
            </a:extLst>
          </p:cNvPr>
          <p:cNvSpPr txBox="1"/>
          <p:nvPr/>
        </p:nvSpPr>
        <p:spPr>
          <a:xfrm>
            <a:off x="8278762" y="6581001"/>
            <a:ext cx="14945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Image Credit: NLR</a:t>
            </a:r>
          </a:p>
        </p:txBody>
      </p:sp>
    </p:spTree>
    <p:extLst>
      <p:ext uri="{BB962C8B-B14F-4D97-AF65-F5344CB8AC3E}">
        <p14:creationId xmlns:p14="http://schemas.microsoft.com/office/powerpoint/2010/main" val="1303213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2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4987"/>
      </a:accent1>
      <a:accent2>
        <a:srgbClr val="006647"/>
      </a:accent2>
      <a:accent3>
        <a:srgbClr val="6B1E74"/>
      </a:accent3>
      <a:accent4>
        <a:srgbClr val="FFC000"/>
      </a:accent4>
      <a:accent5>
        <a:srgbClr val="000000"/>
      </a:accent5>
      <a:accent6>
        <a:srgbClr val="FFFFFF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026 Workshop Presentation Template (Non-DoD)  -  Read-Only" id="{CCBE1F8A-643B-452A-B7C3-433420F3A7A7}" vid="{28790BDA-059D-4708-B10F-57017DE3E15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b10ce27-33c4-4ede-8105-a3cd7fc3dcd0" xsi:nil="true"/>
    <lcf76f155ced4ddcb4097134ff3c332f xmlns="f63aac96-6c22-4acb-bcd1-d671912bd8aa">
      <Terms xmlns="http://schemas.microsoft.com/office/infopath/2007/PartnerControls"/>
    </lcf76f155ced4ddcb4097134ff3c332f>
    <Date_x002d_Time xmlns="f63aac96-6c22-4acb-bcd1-d671912bd8aa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0AE5EE057BC9F43B26E08BE3C93F443" ma:contentTypeVersion="14" ma:contentTypeDescription="Create a new document." ma:contentTypeScope="" ma:versionID="4bc4c357b05fc27a2c4fd2ed5f0caf66">
  <xsd:schema xmlns:xsd="http://www.w3.org/2001/XMLSchema" xmlns:xs="http://www.w3.org/2001/XMLSchema" xmlns:p="http://schemas.microsoft.com/office/2006/metadata/properties" xmlns:ns2="f63aac96-6c22-4acb-bcd1-d671912bd8aa" xmlns:ns3="ab10ce27-33c4-4ede-8105-a3cd7fc3dcd0" targetNamespace="http://schemas.microsoft.com/office/2006/metadata/properties" ma:root="true" ma:fieldsID="39b62f2764437405437cdea7525b1e45" ns2:_="" ns3:_="">
    <xsd:import namespace="f63aac96-6c22-4acb-bcd1-d671912bd8aa"/>
    <xsd:import namespace="ab10ce27-33c4-4ede-8105-a3cd7fc3dcd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Date_x002d_Time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3aac96-6c22-4acb-bcd1-d671912bd8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5" nillable="true" ma:displayName="MediaServiceBillingMetadata" ma:hidden="true" ma:internalName="MediaServiceBillingMetadata" ma:readOnly="true">
      <xsd:simpleType>
        <xsd:restriction base="dms:Note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f13e8058-98c7-47b1-9de9-5c0c3ae81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Date_x002d_Time" ma:index="20" nillable="true" ma:displayName="Date-Time" ma:format="DateTime" ma:internalName="Date_x002d_Time">
      <xsd:simpleType>
        <xsd:restriction base="dms:DateTime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10ce27-33c4-4ede-8105-a3cd7fc3dcd0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4118888e-c2cf-453c-b2ee-45c9ded50370}" ma:internalName="TaxCatchAll" ma:showField="CatchAllData" ma:web="ab10ce27-33c4-4ede-8105-a3cd7fc3dcd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BBF6098-AE72-43BF-9C7B-86383696A836}">
  <ds:schemaRefs>
    <ds:schemaRef ds:uri="34ba5939-51c5-4ccc-a934-f6ce3fdc3dbd"/>
    <ds:schemaRef ds:uri="http://purl.org/dc/dcmitype/"/>
    <ds:schemaRef ds:uri="http://purl.org/dc/terms/"/>
    <ds:schemaRef ds:uri="http://www.w3.org/XML/1998/namespace"/>
    <ds:schemaRef ds:uri="http://purl.org/dc/elements/1.1/"/>
    <ds:schemaRef ds:uri="ef8f0426-4313-429c-93ea-5f56b643f096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82d65393-b8ef-4a76-94d4-8ba3bd7c5b33"/>
    <ds:schemaRef ds:uri="edeab25f-d465-4a7c-a375-16c001ae29df"/>
  </ds:schemaRefs>
</ds:datastoreItem>
</file>

<file path=customXml/itemProps2.xml><?xml version="1.0" encoding="utf-8"?>
<ds:datastoreItem xmlns:ds="http://schemas.openxmlformats.org/officeDocument/2006/customXml" ds:itemID="{075B832E-AF40-4C82-9263-05DB4BC9837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5AF6B8E-FB09-41A7-AAE7-49746463494A}"/>
</file>

<file path=docMetadata/LabelInfo.xml><?xml version="1.0" encoding="utf-8"?>
<clbl:labelList xmlns:clbl="http://schemas.microsoft.com/office/2020/mipLabelMetadata">
  <clbl:label id="{3ce0b61c-3e9d-4790-85f1-d44a713bf642}" enabled="0" method="" siteId="{3ce0b61c-3e9d-4790-85f1-d44a713bf64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2026_Workshop_Presentation_Template_Non-DoD_</Template>
  <TotalTime>504</TotalTime>
  <Words>491</Words>
  <Application>Microsoft Office PowerPoint</Application>
  <PresentationFormat>Widescreen</PresentationFormat>
  <Paragraphs>120</Paragraphs>
  <Slides>20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DM Sans</vt:lpstr>
      <vt:lpstr>Symbol</vt:lpstr>
      <vt:lpstr>Wingdings</vt:lpstr>
      <vt:lpstr>Office Theme</vt:lpstr>
      <vt:lpstr>A Commercial Case Study:  Colorado Mesa University</vt:lpstr>
      <vt:lpstr>Colorado Mesa University</vt:lpstr>
      <vt:lpstr>Evolution 2008</vt:lpstr>
      <vt:lpstr>Evolution 2009</vt:lpstr>
      <vt:lpstr>Evolution 2011</vt:lpstr>
      <vt:lpstr>Evolution 2017</vt:lpstr>
      <vt:lpstr>Evolution 2020</vt:lpstr>
      <vt:lpstr>Evolution Current</vt:lpstr>
      <vt:lpstr>CMU is a Hybrid System</vt:lpstr>
      <vt:lpstr>CMU is a Hybrid System</vt:lpstr>
      <vt:lpstr>Multi-Source Optimization</vt:lpstr>
      <vt:lpstr>Multi-Source Optimization</vt:lpstr>
      <vt:lpstr>Building Energy Use Intensity (kBTU/sf/yr)</vt:lpstr>
      <vt:lpstr>Overall System Efficiency</vt:lpstr>
      <vt:lpstr>Utility Savings</vt:lpstr>
      <vt:lpstr>Utility Savings</vt:lpstr>
      <vt:lpstr>Peak Shifting</vt:lpstr>
      <vt:lpstr>Demand Limiting</vt:lpstr>
      <vt:lpstr>Reduced Soft Costs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 Garlick</dc:creator>
  <cp:lastModifiedBy>Matt Garlick</cp:lastModifiedBy>
  <cp:revision>5</cp:revision>
  <dcterms:created xsi:type="dcterms:W3CDTF">2026-02-06T17:04:30Z</dcterms:created>
  <dcterms:modified xsi:type="dcterms:W3CDTF">2026-02-24T22:48:26Z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0x01010020AE5EE057BC9F43B26E08BE3C93F443</vt:lpwstr>
  </property>
  <property fmtid="{D5CDD505-2E9C-101B-9397-08002B2CF9AE}" pid="3" name="AuthorIds_UIVersion_1024">
    <vt:lpwstr>33</vt:lpwstr>
  </property>
  <property fmtid="{D5CDD505-2E9C-101B-9397-08002B2CF9AE}" pid="4" name="Order">
    <vt:r8>10900</vt:r8>
  </property>
  <property fmtid="{D5CDD505-2E9C-101B-9397-08002B2CF9AE}" pid="5" name="_ExtendedDescription">
    <vt:lpwstr/>
  </property>
  <property fmtid="{D5CDD505-2E9C-101B-9397-08002B2CF9AE}" pid="6" name="MediaServiceImageTags">
    <vt:lpwstr/>
  </property>
</Properties>
</file>